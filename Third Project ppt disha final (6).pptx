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3.xml" ContentType="application/vnd.openxmlformats-officedocument.themeOverride+xml"/>
  <Override PartName="/ppt/notesSlides/notesSlide8.xml" ContentType="application/vnd.openxmlformats-officedocument.presentationml.notesSlide+xml"/>
  <Override PartName="/ppt/theme/themeOverride4.xml" ContentType="application/vnd.openxmlformats-officedocument.themeOverride+xml"/>
  <Override PartName="/ppt/theme/themeOverride5.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handoutMasterIdLst>
    <p:handoutMasterId r:id="rId52"/>
  </p:handoutMasterIdLst>
  <p:sldIdLst>
    <p:sldId id="273" r:id="rId5"/>
    <p:sldId id="275" r:id="rId6"/>
    <p:sldId id="280" r:id="rId7"/>
    <p:sldId id="277" r:id="rId8"/>
    <p:sldId id="281" r:id="rId9"/>
    <p:sldId id="283" r:id="rId10"/>
    <p:sldId id="309" r:id="rId11"/>
    <p:sldId id="310" r:id="rId12"/>
    <p:sldId id="293" r:id="rId13"/>
    <p:sldId id="284" r:id="rId14"/>
    <p:sldId id="291" r:id="rId15"/>
    <p:sldId id="312" r:id="rId16"/>
    <p:sldId id="313" r:id="rId17"/>
    <p:sldId id="314" r:id="rId18"/>
    <p:sldId id="315" r:id="rId19"/>
    <p:sldId id="317" r:id="rId20"/>
    <p:sldId id="318" r:id="rId21"/>
    <p:sldId id="319" r:id="rId22"/>
    <p:sldId id="279" r:id="rId23"/>
    <p:sldId id="308" r:id="rId24"/>
    <p:sldId id="286" r:id="rId25"/>
    <p:sldId id="296" r:id="rId26"/>
    <p:sldId id="320" r:id="rId27"/>
    <p:sldId id="297" r:id="rId28"/>
    <p:sldId id="298" r:id="rId29"/>
    <p:sldId id="321" r:id="rId30"/>
    <p:sldId id="322" r:id="rId31"/>
    <p:sldId id="323" r:id="rId32"/>
    <p:sldId id="324" r:id="rId33"/>
    <p:sldId id="302" r:id="rId34"/>
    <p:sldId id="303" r:id="rId35"/>
    <p:sldId id="325" r:id="rId36"/>
    <p:sldId id="307" r:id="rId37"/>
    <p:sldId id="327" r:id="rId38"/>
    <p:sldId id="304" r:id="rId39"/>
    <p:sldId id="306" r:id="rId40"/>
    <p:sldId id="328" r:id="rId41"/>
    <p:sldId id="330" r:id="rId42"/>
    <p:sldId id="305" r:id="rId43"/>
    <p:sldId id="331" r:id="rId44"/>
    <p:sldId id="301" r:id="rId45"/>
    <p:sldId id="288" r:id="rId46"/>
    <p:sldId id="334" r:id="rId47"/>
    <p:sldId id="332" r:id="rId48"/>
    <p:sldId id="335" r:id="rId49"/>
    <p:sldId id="274" r:id="rId5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BEB2"/>
    <a:srgbClr val="198986"/>
    <a:srgbClr val="9A96F4"/>
    <a:srgbClr val="5E3324"/>
    <a:srgbClr val="988E0A"/>
    <a:srgbClr val="753F2D"/>
    <a:srgbClr val="8A4C34"/>
    <a:srgbClr val="815550"/>
    <a:srgbClr val="A3573E"/>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58" autoAdjust="0"/>
    <p:restoredTop sz="91463" autoAdjust="0"/>
  </p:normalViewPr>
  <p:slideViewPr>
    <p:cSldViewPr snapToGrid="0">
      <p:cViewPr varScale="1">
        <p:scale>
          <a:sx n="64" d="100"/>
          <a:sy n="64" d="100"/>
        </p:scale>
        <p:origin x="918" y="60"/>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slide" Target="slides/slide35.xml" /><Relationship Id="rId21" Type="http://schemas.openxmlformats.org/officeDocument/2006/relationships/slide" Target="slides/slide17.xml" /><Relationship Id="rId34" Type="http://schemas.openxmlformats.org/officeDocument/2006/relationships/slide" Target="slides/slide30.xml" /><Relationship Id="rId42" Type="http://schemas.openxmlformats.org/officeDocument/2006/relationships/slide" Target="slides/slide38.xml" /><Relationship Id="rId47" Type="http://schemas.openxmlformats.org/officeDocument/2006/relationships/slide" Target="slides/slide43.xml" /><Relationship Id="rId50" Type="http://schemas.openxmlformats.org/officeDocument/2006/relationships/slide" Target="slides/slide46.xml" /><Relationship Id="rId55" Type="http://schemas.openxmlformats.org/officeDocument/2006/relationships/theme" Target="theme/theme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slide" Target="slides/slide34.xml" /><Relationship Id="rId46" Type="http://schemas.openxmlformats.org/officeDocument/2006/relationships/slide" Target="slides/slide42.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slide" Target="slides/slide37.xml" /><Relationship Id="rId54"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slide" Target="slides/slide36.xml" /><Relationship Id="rId45" Type="http://schemas.openxmlformats.org/officeDocument/2006/relationships/slide" Target="slides/slide41.xml" /><Relationship Id="rId53" Type="http://schemas.openxmlformats.org/officeDocument/2006/relationships/presProps" Target="pres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49" Type="http://schemas.openxmlformats.org/officeDocument/2006/relationships/slide" Target="slides/slide45.xml" /><Relationship Id="rId57" Type="http://schemas.microsoft.com/office/2018/10/relationships/authors" Target="authors.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4" Type="http://schemas.openxmlformats.org/officeDocument/2006/relationships/slide" Target="slides/slide40.xml" /><Relationship Id="rId52" Type="http://schemas.openxmlformats.org/officeDocument/2006/relationships/handoutMaster" Target="handoutMasters/handoutMaster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 Id="rId43" Type="http://schemas.openxmlformats.org/officeDocument/2006/relationships/slide" Target="slides/slide39.xml" /><Relationship Id="rId48" Type="http://schemas.openxmlformats.org/officeDocument/2006/relationships/slide" Target="slides/slide44.xml" /><Relationship Id="rId56" Type="http://schemas.openxmlformats.org/officeDocument/2006/relationships/tableStyles" Target="tableStyles.xml" /><Relationship Id="rId8" Type="http://schemas.openxmlformats.org/officeDocument/2006/relationships/slide" Target="slides/slide4.xml" /><Relationship Id="rId51" Type="http://schemas.openxmlformats.org/officeDocument/2006/relationships/notesMaster" Target="notesMasters/notesMaster1.xml" /><Relationship Id="rId3" Type="http://schemas.openxmlformats.org/officeDocument/2006/relationships/customXml" Target="../customXml/item3.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10/16/2025</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10/16/2025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19</a:t>
            </a:fld>
            <a:endParaRPr lang="en-US" noProof="0" dirty="0"/>
          </a:p>
        </p:txBody>
      </p:sp>
    </p:spTree>
    <p:extLst>
      <p:ext uri="{BB962C8B-B14F-4D97-AF65-F5344CB8AC3E}">
        <p14:creationId xmlns:p14="http://schemas.microsoft.com/office/powerpoint/2010/main" val="963083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22</a:t>
            </a:fld>
            <a:endParaRPr lang="en-US" noProof="0" dirty="0"/>
          </a:p>
        </p:txBody>
      </p:sp>
    </p:spTree>
    <p:extLst>
      <p:ext uri="{BB962C8B-B14F-4D97-AF65-F5344CB8AC3E}">
        <p14:creationId xmlns:p14="http://schemas.microsoft.com/office/powerpoint/2010/main" val="3150146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30</a:t>
            </a:fld>
            <a:endParaRPr lang="en-US" noProof="0" dirty="0"/>
          </a:p>
        </p:txBody>
      </p:sp>
    </p:spTree>
    <p:extLst>
      <p:ext uri="{BB962C8B-B14F-4D97-AF65-F5344CB8AC3E}">
        <p14:creationId xmlns:p14="http://schemas.microsoft.com/office/powerpoint/2010/main" val="435837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31</a:t>
            </a:fld>
            <a:endParaRPr lang="en-US" noProof="0" dirty="0"/>
          </a:p>
        </p:txBody>
      </p:sp>
    </p:spTree>
    <p:extLst>
      <p:ext uri="{BB962C8B-B14F-4D97-AF65-F5344CB8AC3E}">
        <p14:creationId xmlns:p14="http://schemas.microsoft.com/office/powerpoint/2010/main" val="4094522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CDE012-9E2E-4477-8B5C-4E7D4E9BCBA6}" type="slidenum">
              <a:rPr lang="en-US" noProof="0" smtClean="0"/>
              <a:t>41</a:t>
            </a:fld>
            <a:endParaRPr lang="en-US" noProof="0" dirty="0"/>
          </a:p>
        </p:txBody>
      </p:sp>
    </p:spTree>
    <p:extLst>
      <p:ext uri="{BB962C8B-B14F-4D97-AF65-F5344CB8AC3E}">
        <p14:creationId xmlns:p14="http://schemas.microsoft.com/office/powerpoint/2010/main" val="1408904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a:t>Click to edit Master title style</a:t>
            </a:r>
            <a:endParaRPr lang="en-US" dirty="0"/>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14.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 Id="rId9" Type="http://schemas.openxmlformats.org/officeDocument/2006/relationships/image" Target="../media/image8.png" /></Relationships>
</file>

<file path=ppt/slides/_rels/slide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14.xml" /><Relationship Id="rId4" Type="http://schemas.openxmlformats.org/officeDocument/2006/relationships/hyperlink" Target="https://pixabay.com/fr/vectors/nuage-blanc-la-pens%C3%A9e-symbole-34424/" TargetMode="Externa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17.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14.xml" /></Relationships>
</file>

<file path=ppt/slides/_rels/slide18.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slideLayout" Target="../slideLayouts/slideLayout14.xml" /><Relationship Id="rId1" Type="http://schemas.openxmlformats.org/officeDocument/2006/relationships/themeOverride" Target="../theme/themeOverride1.xml" /><Relationship Id="rId4" Type="http://schemas.openxmlformats.org/officeDocument/2006/relationships/hyperlink" Target="https://appony.tistory.com/entry/2023%EB%85%84-0%EC%8B%9C-%EC%B6%95%EC%A0%9C-%EC%9D%B4%EC%83%89%EC%A0%81%EC%9D%B8-%EC%83%88%ED%95%B4-%EB%A7%9E%EC%9D%B4-%EC%B6%95%EC%A0%9C-%EA%B2%BD%ED%97%98%ED%95%98%EA%B8%B0" TargetMode="Externa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9.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slideLayout" Target="../slideLayouts/slideLayout14.xml" /><Relationship Id="rId1" Type="http://schemas.openxmlformats.org/officeDocument/2006/relationships/themeOverride" Target="../theme/themeOverride2.xml" /><Relationship Id="rId4" Type="http://schemas.openxmlformats.org/officeDocument/2006/relationships/hyperlink" Target="https://appony.tistory.com/entry/2023%EB%85%84-0%EC%8B%9C-%EC%B6%95%EC%A0%9C-%EC%9D%B4%EC%83%89%EC%A0%81%EC%9D%B8-%EC%83%88%ED%95%B4-%EB%A7%9E%EC%9D%B4-%EC%B6%95%EC%A0%9C-%EA%B2%BD%ED%97%98%ED%95%98%EA%B8%B0" TargetMode="External" /></Relationships>
</file>

<file path=ppt/slides/_rels/slide3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6.xml" /><Relationship Id="rId1" Type="http://schemas.openxmlformats.org/officeDocument/2006/relationships/slideLayout" Target="../slideLayouts/slideLayout14.xml" /><Relationship Id="rId4" Type="http://schemas.openxmlformats.org/officeDocument/2006/relationships/image" Target="../media/image14.png" /></Relationships>
</file>

<file path=ppt/slides/_rels/slide31.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7.xml" /><Relationship Id="rId1" Type="http://schemas.openxmlformats.org/officeDocument/2006/relationships/slideLayout" Target="../slideLayouts/slideLayout14.xml" /><Relationship Id="rId4" Type="http://schemas.openxmlformats.org/officeDocument/2006/relationships/image" Target="../media/image16.png"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33.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image" Target="../media/image17.png" /><Relationship Id="rId1" Type="http://schemas.openxmlformats.org/officeDocument/2006/relationships/slideLayout" Target="../slideLayouts/slideLayout14.xml" /></Relationships>
</file>

<file path=ppt/slides/_rels/slide34.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image" Target="../media/image19.png" /><Relationship Id="rId1" Type="http://schemas.openxmlformats.org/officeDocument/2006/relationships/slideLayout" Target="../slideLayouts/slideLayout14.xml" /></Relationships>
</file>

<file path=ppt/slides/_rels/slide35.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image" Target="../media/image21.png" /><Relationship Id="rId1" Type="http://schemas.openxmlformats.org/officeDocument/2006/relationships/slideLayout" Target="../slideLayouts/slideLayout14.xml" /></Relationships>
</file>

<file path=ppt/slides/_rels/slide36.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slideLayout" Target="../slideLayouts/slideLayout14.xml" /><Relationship Id="rId1" Type="http://schemas.openxmlformats.org/officeDocument/2006/relationships/themeOverride" Target="../theme/themeOverride3.xml" /><Relationship Id="rId4" Type="http://schemas.openxmlformats.org/officeDocument/2006/relationships/hyperlink" Target="https://appony.tistory.com/entry/2023%EB%85%84-0%EC%8B%9C-%EC%B6%95%EC%A0%9C-%EC%9D%B4%EC%83%89%EC%A0%81%EC%9D%B8-%EC%83%88%ED%95%B4-%EB%A7%9E%EC%9D%B4-%EC%B6%95%EC%A0%9C-%EA%B2%BD%ED%97%98%ED%95%98%EA%B8%B0" TargetMode="External" /></Relationships>
</file>

<file path=ppt/slides/_rels/slide37.xml.rels><?xml version="1.0" encoding="UTF-8" standalone="yes"?>
<Relationships xmlns="http://schemas.openxmlformats.org/package/2006/relationships"><Relationship Id="rId3" Type="http://schemas.openxmlformats.org/officeDocument/2006/relationships/image" Target="../media/image23.emf" /><Relationship Id="rId2" Type="http://schemas.openxmlformats.org/officeDocument/2006/relationships/package" Target="../embeddings/Microsoft_Word_Document.docx" /><Relationship Id="rId1" Type="http://schemas.openxmlformats.org/officeDocument/2006/relationships/slideLayout" Target="../slideLayouts/slideLayout8.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14.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43.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slideLayout" Target="../slideLayouts/slideLayout14.xml" /><Relationship Id="rId1" Type="http://schemas.openxmlformats.org/officeDocument/2006/relationships/themeOverride" Target="../theme/themeOverride4.xml" /><Relationship Id="rId4" Type="http://schemas.openxmlformats.org/officeDocument/2006/relationships/hyperlink" Target="https://appony.tistory.com/entry/2023%EB%85%84-0%EC%8B%9C-%EC%B6%95%EC%A0%9C-%EC%9D%B4%EC%83%89%EC%A0%81%EC%9D%B8-%EC%83%88%ED%95%B4-%EB%A7%9E%EC%9D%B4-%EC%B6%95%EC%A0%9C-%EA%B2%BD%ED%97%98%ED%95%98%EA%B8%B0" TargetMode="Externa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45.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slideLayout" Target="../slideLayouts/slideLayout14.xml" /><Relationship Id="rId1" Type="http://schemas.openxmlformats.org/officeDocument/2006/relationships/themeOverride" Target="../theme/themeOverride5.xml" /><Relationship Id="rId6" Type="http://schemas.openxmlformats.org/officeDocument/2006/relationships/image" Target="../media/image26.svg" /><Relationship Id="rId5" Type="http://schemas.openxmlformats.org/officeDocument/2006/relationships/image" Target="../media/image25.png" /><Relationship Id="rId4" Type="http://schemas.openxmlformats.org/officeDocument/2006/relationships/hyperlink" Target="https://appony.tistory.com/entry/2023%EB%85%84-0%EC%8B%9C-%EC%B6%95%EC%A0%9C-%EC%9D%B4%EC%83%89%EC%A0%81%EC%9D%B8-%EC%83%88%ED%95%B4-%EB%A7%9E%EC%9D%B4-%EC%B6%95%EC%A0%9C-%EA%B2%BD%ED%97%98%ED%95%98%EA%B8%B0" TargetMode="Externa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777436" y="237614"/>
            <a:ext cx="10637128" cy="2387600"/>
          </a:xfrm>
        </p:spPr>
        <p:txBody>
          <a:bodyPr>
            <a:noAutofit/>
          </a:bodyPr>
          <a:lstStyle/>
          <a:p>
            <a:pPr algn="ctr"/>
            <a:r>
              <a:rPr lang="en-US" b="1" cap="none" dirty="0">
                <a:latin typeface="Calibri" panose="020F0502020204030204" pitchFamily="34" charset="0"/>
                <a:cs typeface="Calibri" panose="020F0502020204030204" pitchFamily="34" charset="0"/>
              </a:rPr>
              <a:t>Statistical detection of deepfake videos and images</a:t>
            </a: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2637503" y="3134033"/>
            <a:ext cx="9293942" cy="1759188"/>
          </a:xfrm>
        </p:spPr>
        <p:txBody>
          <a:bodyPr/>
          <a:lstStyle/>
          <a:p>
            <a:r>
              <a:rPr lang="en-US" sz="3200" u="sng" dirty="0">
                <a:latin typeface="Calibri" panose="020F0502020204030204" pitchFamily="34" charset="0"/>
                <a:cs typeface="Calibri" panose="020F0502020204030204" pitchFamily="34" charset="0"/>
              </a:rPr>
              <a:t>Guided By</a:t>
            </a:r>
            <a:r>
              <a:rPr lang="en-US" sz="3200" dirty="0">
                <a:latin typeface="Calibri" panose="020F0502020204030204" pitchFamily="34" charset="0"/>
                <a:cs typeface="Calibri" panose="020F0502020204030204" pitchFamily="34" charset="0"/>
              </a:rPr>
              <a:t>:- Dr. Gayatri Behere Mam</a:t>
            </a:r>
          </a:p>
          <a:p>
            <a:endParaRPr lang="en-US" dirty="0"/>
          </a:p>
          <a:p>
            <a:pPr algn="ctr">
              <a:lnSpc>
                <a:spcPct val="100000"/>
              </a:lnSpc>
            </a:pPr>
            <a:r>
              <a:rPr lang="en-US" b="0" dirty="0"/>
              <a:t>    </a:t>
            </a:r>
            <a:r>
              <a:rPr lang="en-US" sz="2800" u="sng" dirty="0">
                <a:latin typeface="Calibri" panose="020F0502020204030204" pitchFamily="34" charset="0"/>
                <a:cs typeface="Calibri" panose="020F0502020204030204" pitchFamily="34" charset="0"/>
              </a:rPr>
              <a:t>Presented By</a:t>
            </a:r>
            <a:r>
              <a:rPr lang="en-US" sz="2800" dirty="0">
                <a:latin typeface="Calibri" panose="020F0502020204030204" pitchFamily="34" charset="0"/>
                <a:cs typeface="Calibri" panose="020F0502020204030204" pitchFamily="34" charset="0"/>
              </a:rPr>
              <a:t>:- </a:t>
            </a:r>
          </a:p>
          <a:p>
            <a:pPr>
              <a:lnSpc>
                <a:spcPct val="100000"/>
              </a:lnSpc>
            </a:pPr>
            <a:r>
              <a:rPr lang="en-US" sz="2800" b="0" dirty="0">
                <a:latin typeface="Calibri" panose="020F0502020204030204" pitchFamily="34" charset="0"/>
                <a:cs typeface="Calibri" panose="020F0502020204030204" pitchFamily="34" charset="0"/>
              </a:rPr>
              <a:t>                                             Miss Disha .R. Sojrani</a:t>
            </a:r>
          </a:p>
          <a:p>
            <a:r>
              <a:rPr lang="en-US" sz="2800" b="0" dirty="0">
                <a:latin typeface="Calibri" panose="020F0502020204030204" pitchFamily="34" charset="0"/>
                <a:cs typeface="Calibri" panose="020F0502020204030204" pitchFamily="34" charset="0"/>
              </a:rPr>
              <a:t>                                             </a:t>
            </a:r>
            <a:r>
              <a:rPr lang="en-US" b="0" dirty="0"/>
              <a:t>M.Sc. Sem III, </a:t>
            </a:r>
            <a:endParaRPr lang="en-US" sz="2800" b="0" dirty="0"/>
          </a:p>
          <a:p>
            <a:r>
              <a:rPr lang="en-US" b="0" dirty="0"/>
              <a:t>                                           Department of Statistics </a:t>
            </a:r>
            <a:endParaRPr lang="en-US" sz="2800" b="0" dirty="0"/>
          </a:p>
          <a:p>
            <a:r>
              <a:rPr lang="en-US" b="0" dirty="0"/>
              <a:t>                                           Institute of Science, Nagpur</a:t>
            </a:r>
            <a:endParaRPr lang="en-US" sz="2800" b="0" dirty="0">
              <a:latin typeface="Calibri" panose="020F0502020204030204" pitchFamily="34" charset="0"/>
              <a:cs typeface="Calibri" panose="020F0502020204030204" pitchFamily="34" charset="0"/>
            </a:endParaRPr>
          </a:p>
          <a:p>
            <a:r>
              <a:rPr lang="en-US" b="0" dirty="0"/>
              <a:t>                             </a:t>
            </a:r>
            <a:endParaRPr lang="en-PK" b="0" dirty="0"/>
          </a:p>
        </p:txBody>
      </p:sp>
    </p:spTree>
    <p:extLst>
      <p:ext uri="{BB962C8B-B14F-4D97-AF65-F5344CB8AC3E}">
        <p14:creationId xmlns:p14="http://schemas.microsoft.com/office/powerpoint/2010/main" val="28631039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1000"/>
                                        <p:tgtEl>
                                          <p:spTgt spid="11">
                                            <p:txEl>
                                              <p:pRg st="0" end="0"/>
                                            </p:txEl>
                                          </p:spTgt>
                                        </p:tgtEl>
                                      </p:cBhvr>
                                    </p:animEffect>
                                    <p:anim calcmode="lin" valueType="num">
                                      <p:cBhvr>
                                        <p:cTn id="14"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1000"/>
                                        <p:tgtEl>
                                          <p:spTgt spid="11">
                                            <p:txEl>
                                              <p:pRg st="2" end="2"/>
                                            </p:txEl>
                                          </p:spTgt>
                                        </p:tgtEl>
                                      </p:cBhvr>
                                    </p:animEffect>
                                    <p:anim calcmode="lin" valueType="num">
                                      <p:cBhvr>
                                        <p:cTn id="19"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1000"/>
                                        <p:tgtEl>
                                          <p:spTgt spid="11">
                                            <p:txEl>
                                              <p:pRg st="3" end="3"/>
                                            </p:txEl>
                                          </p:spTgt>
                                        </p:tgtEl>
                                      </p:cBhvr>
                                    </p:animEffect>
                                    <p:anim calcmode="lin" valueType="num">
                                      <p:cBhvr>
                                        <p:cTn id="24"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11">
                                            <p:txEl>
                                              <p:pRg st="3" end="3"/>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animEffect transition="in" filter="fade">
                                      <p:cBhvr>
                                        <p:cTn id="33" dur="1000"/>
                                        <p:tgtEl>
                                          <p:spTgt spid="11">
                                            <p:txEl>
                                              <p:pRg st="5" end="5"/>
                                            </p:txEl>
                                          </p:spTgt>
                                        </p:tgtEl>
                                      </p:cBhvr>
                                    </p:animEffect>
                                    <p:anim calcmode="lin" valueType="num">
                                      <p:cBhvr>
                                        <p:cTn id="34"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1">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1">
                                            <p:txEl>
                                              <p:pRg st="6" end="6"/>
                                            </p:txEl>
                                          </p:spTgt>
                                        </p:tgtEl>
                                        <p:attrNameLst>
                                          <p:attrName>style.visibility</p:attrName>
                                        </p:attrNameLst>
                                      </p:cBhvr>
                                      <p:to>
                                        <p:strVal val="visible"/>
                                      </p:to>
                                    </p:set>
                                    <p:animEffect transition="in" filter="fade">
                                      <p:cBhvr>
                                        <p:cTn id="38" dur="1000"/>
                                        <p:tgtEl>
                                          <p:spTgt spid="11">
                                            <p:txEl>
                                              <p:pRg st="6" end="6"/>
                                            </p:txEl>
                                          </p:spTgt>
                                        </p:tgtEl>
                                      </p:cBhvr>
                                    </p:animEffect>
                                    <p:anim calcmode="lin" valueType="num">
                                      <p:cBhvr>
                                        <p:cTn id="39"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11">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animEffect transition="in" filter="fade">
                                      <p:cBhvr>
                                        <p:cTn id="43" dur="1000"/>
                                        <p:tgtEl>
                                          <p:spTgt spid="11">
                                            <p:txEl>
                                              <p:pRg st="7" end="7"/>
                                            </p:txEl>
                                          </p:spTgt>
                                        </p:tgtEl>
                                      </p:cBhvr>
                                    </p:animEffect>
                                    <p:anim calcmode="lin" valueType="num">
                                      <p:cBhvr>
                                        <p:cTn id="44" dur="10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a:xfrm>
            <a:off x="2213663" y="1352031"/>
            <a:ext cx="7498080" cy="704088"/>
          </a:xfrm>
        </p:spPr>
        <p:txBody>
          <a:bodyPr/>
          <a:lstStyle/>
          <a:p>
            <a:pPr algn="ctr"/>
            <a:r>
              <a:rPr lang="en-US" sz="7200" b="1" dirty="0">
                <a:latin typeface="Bahnschrift" panose="020B0502040204020203" pitchFamily="34" charset="0"/>
              </a:rPr>
              <a:t>content</a:t>
            </a:r>
            <a:endParaRPr lang="en-US" b="1" dirty="0">
              <a:latin typeface="Bahnschrift" panose="020B0502040204020203" pitchFamily="34" charset="0"/>
            </a:endParaRP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idx="1"/>
          </p:nvPr>
        </p:nvSpPr>
        <p:spPr/>
        <p:txBody>
          <a:bodyPr/>
          <a:lstStyle/>
          <a:p>
            <a:endParaRPr lang="en-US" dirty="0"/>
          </a:p>
          <a:p>
            <a:endParaRPr lang="en-US" dirty="0"/>
          </a:p>
        </p:txBody>
      </p:sp>
      <p:sp>
        <p:nvSpPr>
          <p:cNvPr id="6" name="TextBox 5">
            <a:extLst>
              <a:ext uri="{FF2B5EF4-FFF2-40B4-BE49-F238E27FC236}">
                <a16:creationId xmlns:a16="http://schemas.microsoft.com/office/drawing/2014/main" id="{76FF4805-FB59-DB6D-9BF8-6701239F5336}"/>
              </a:ext>
            </a:extLst>
          </p:cNvPr>
          <p:cNvSpPr txBox="1"/>
          <p:nvPr/>
        </p:nvSpPr>
        <p:spPr>
          <a:xfrm>
            <a:off x="2398776" y="2601279"/>
            <a:ext cx="9180671" cy="4401205"/>
          </a:xfrm>
          <a:prstGeom prst="rect">
            <a:avLst/>
          </a:prstGeom>
          <a:noFill/>
        </p:spPr>
        <p:txBody>
          <a:bodyPr wrap="square" rtlCol="0">
            <a:spAutoFit/>
          </a:bodyPr>
          <a:lstStyle/>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Introduction</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Primary Goal</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Objectives</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Dataset</a:t>
            </a:r>
          </a:p>
          <a:p>
            <a:pPr marL="285750" indent="-285750">
              <a:buFont typeface="Wingdings" panose="05000000000000000000" pitchFamily="2" charset="2"/>
              <a:buChar char="v"/>
            </a:pPr>
            <a:r>
              <a:rPr lang="en-US" sz="2800" dirty="0">
                <a:latin typeface="Calibri" panose="020F0502020204030204" pitchFamily="34" charset="0"/>
                <a:ea typeface="Calibri" panose="020F0502020204030204" pitchFamily="34" charset="0"/>
                <a:cs typeface="Calibri" panose="020F0502020204030204" pitchFamily="34" charset="0"/>
              </a:rPr>
              <a:t>Algorithm Steps</a:t>
            </a:r>
          </a:p>
          <a:p>
            <a:pPr marL="285750" indent="-285750">
              <a:buFont typeface="Wingdings" panose="05000000000000000000" pitchFamily="2" charset="2"/>
              <a:buChar char="v"/>
            </a:pPr>
            <a:r>
              <a:rPr lang="en-US" sz="2800" dirty="0">
                <a:latin typeface="Calibri" panose="020F0502020204030204" pitchFamily="34" charset="0"/>
                <a:ea typeface="Calibri" panose="020F0502020204030204" pitchFamily="34" charset="0"/>
                <a:cs typeface="Calibri" panose="020F0502020204030204" pitchFamily="34" charset="0"/>
              </a:rPr>
              <a:t>Data Analysis using Statistical Tools &amp; Model Fitting</a:t>
            </a:r>
          </a:p>
          <a:p>
            <a:pPr marL="285750" indent="-285750">
              <a:buFont typeface="Wingdings" panose="05000000000000000000" pitchFamily="2" charset="2"/>
              <a:buChar char="v"/>
            </a:pPr>
            <a:r>
              <a:rPr lang="en-US" sz="2800" dirty="0">
                <a:latin typeface="Calibri" panose="020F0502020204030204" pitchFamily="34" charset="0"/>
                <a:ea typeface="Calibri" panose="020F0502020204030204" pitchFamily="34" charset="0"/>
                <a:cs typeface="Calibri" panose="020F0502020204030204" pitchFamily="34" charset="0"/>
              </a:rPr>
              <a:t>Comparison &amp; Best Fit Model </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Conclusion</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Results</a:t>
            </a:r>
          </a:p>
          <a:p>
            <a:pPr marL="285750" indent="-285750">
              <a:buFont typeface="Wingdings" panose="05000000000000000000" pitchFamily="2" charset="2"/>
              <a:buChar char="v"/>
            </a:pPr>
            <a:r>
              <a:rPr lang="en-US" sz="2800" dirty="0">
                <a:latin typeface="Calibri" panose="020F0502020204030204" pitchFamily="34" charset="0"/>
                <a:cs typeface="Calibri" panose="020F0502020204030204" pitchFamily="34" charset="0"/>
              </a:rPr>
              <a:t>References</a:t>
            </a:r>
          </a:p>
        </p:txBody>
      </p:sp>
    </p:spTree>
    <p:extLst>
      <p:ext uri="{BB962C8B-B14F-4D97-AF65-F5344CB8AC3E}">
        <p14:creationId xmlns:p14="http://schemas.microsoft.com/office/powerpoint/2010/main" val="355179346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0" y="1694724"/>
            <a:ext cx="3687097" cy="1928851"/>
          </a:xfrm>
        </p:spPr>
        <p:txBody>
          <a:bodyPr/>
          <a:lstStyle/>
          <a:p>
            <a:r>
              <a:rPr lang="en-US" sz="5400" b="1" dirty="0">
                <a:latin typeface="Bahnschrift" panose="020B0502040204020203" pitchFamily="34" charset="0"/>
              </a:rPr>
              <a:t>introduction</a:t>
            </a:r>
            <a:br>
              <a:rPr lang="en-US" sz="4000" b="1" dirty="0"/>
            </a:br>
            <a:endParaRPr lang="en-US" sz="4000" b="1" dirty="0"/>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3</a:t>
            </a:fld>
            <a:endParaRPr lang="en-US"/>
          </a:p>
        </p:txBody>
      </p:sp>
      <p:sp>
        <p:nvSpPr>
          <p:cNvPr id="8" name="Text Placeholder 7">
            <a:extLst>
              <a:ext uri="{FF2B5EF4-FFF2-40B4-BE49-F238E27FC236}">
                <a16:creationId xmlns:a16="http://schemas.microsoft.com/office/drawing/2014/main" id="{C7514340-E56D-CF28-C9CA-1C1B1B6FD7C4}"/>
              </a:ext>
            </a:extLst>
          </p:cNvPr>
          <p:cNvSpPr>
            <a:spLocks noGrp="1"/>
          </p:cNvSpPr>
          <p:nvPr>
            <p:ph type="body" sz="quarter" idx="15"/>
          </p:nvPr>
        </p:nvSpPr>
        <p:spPr>
          <a:xfrm>
            <a:off x="3492418" y="137160"/>
            <a:ext cx="8303342" cy="6419088"/>
          </a:xfrm>
        </p:spPr>
        <p:txBody>
          <a:bodyPr/>
          <a:lstStyle/>
          <a:p>
            <a:pPr>
              <a:lnSpc>
                <a:spcPct val="100000"/>
              </a:lnSpc>
              <a:spcBef>
                <a:spcPts val="400"/>
              </a:spcBef>
              <a:spcAft>
                <a:spcPts val="700"/>
              </a:spcAft>
              <a:buFont typeface="Wingdings" panose="05000000000000000000" pitchFamily="2" charset="2"/>
              <a:buChar char="q"/>
            </a:pPr>
            <a:r>
              <a:rPr lang="en-IN" dirty="0">
                <a:latin typeface="Calibri" panose="020F0502020204030204" pitchFamily="34" charset="0"/>
                <a:cs typeface="Calibri" panose="020F0502020204030204" pitchFamily="34" charset="0"/>
              </a:rPr>
              <a:t>Deepfakes — </a:t>
            </a:r>
            <a:r>
              <a:rPr lang="en-IN" b="1" dirty="0">
                <a:latin typeface="Calibri" panose="020F0502020204030204" pitchFamily="34" charset="0"/>
                <a:cs typeface="Calibri" panose="020F0502020204030204" pitchFamily="34" charset="0"/>
              </a:rPr>
              <a:t>AI-generated or AI-manipulated images</a:t>
            </a:r>
            <a:r>
              <a:rPr lang="en-IN" dirty="0">
                <a:latin typeface="Calibri" panose="020F0502020204030204" pitchFamily="34" charset="0"/>
                <a:cs typeface="Calibri" panose="020F0502020204030204" pitchFamily="34" charset="0"/>
              </a:rPr>
              <a:t> — have emerged as a significant threat to </a:t>
            </a:r>
            <a:r>
              <a:rPr lang="en-IN" b="1" dirty="0">
                <a:latin typeface="Calibri" panose="020F0502020204030204" pitchFamily="34" charset="0"/>
                <a:cs typeface="Calibri" panose="020F0502020204030204" pitchFamily="34" charset="0"/>
              </a:rPr>
              <a:t>digital authenticity and online security</a:t>
            </a:r>
            <a:r>
              <a:rPr lang="en-IN" dirty="0">
                <a:latin typeface="Calibri" panose="020F0502020204030204" pitchFamily="34" charset="0"/>
                <a:cs typeface="Calibri" panose="020F0502020204030204" pitchFamily="34" charset="0"/>
              </a:rPr>
              <a:t>. With the rapid advancement of </a:t>
            </a:r>
            <a:r>
              <a:rPr lang="en-IN" b="1" dirty="0">
                <a:latin typeface="Calibri" panose="020F0502020204030204" pitchFamily="34" charset="0"/>
                <a:cs typeface="Calibri" panose="020F0502020204030204" pitchFamily="34" charset="0"/>
              </a:rPr>
              <a:t>generative models such as GANs</a:t>
            </a:r>
            <a:r>
              <a:rPr lang="en-IN" dirty="0">
                <a:latin typeface="Calibri" panose="020F0502020204030204" pitchFamily="34" charset="0"/>
                <a:cs typeface="Calibri" panose="020F0502020204030204" pitchFamily="34" charset="0"/>
              </a:rPr>
              <a:t>, it has become increasingly difficult to distinguish between </a:t>
            </a:r>
            <a:r>
              <a:rPr lang="en-IN" b="1" dirty="0">
                <a:latin typeface="Calibri" panose="020F0502020204030204" pitchFamily="34" charset="0"/>
                <a:cs typeface="Calibri" panose="020F0502020204030204" pitchFamily="34" charset="0"/>
              </a:rPr>
              <a:t>real and synthetic images</a:t>
            </a:r>
            <a:r>
              <a:rPr lang="en-IN" dirty="0">
                <a:latin typeface="Calibri" panose="020F0502020204030204" pitchFamily="34" charset="0"/>
                <a:cs typeface="Calibri" panose="020F0502020204030204" pitchFamily="34" charset="0"/>
              </a:rPr>
              <a:t> using human observation alone.</a:t>
            </a:r>
          </a:p>
          <a:p>
            <a:pPr>
              <a:lnSpc>
                <a:spcPct val="100000"/>
              </a:lnSpc>
              <a:spcBef>
                <a:spcPts val="400"/>
              </a:spcBef>
              <a:spcAft>
                <a:spcPts val="700"/>
              </a:spcAft>
              <a:buFont typeface="Wingdings" panose="05000000000000000000" pitchFamily="2" charset="2"/>
              <a:buChar char="q"/>
            </a:pPr>
            <a:r>
              <a:rPr lang="en-IN" dirty="0">
                <a:latin typeface="Calibri" panose="020F0502020204030204" pitchFamily="34" charset="0"/>
                <a:cs typeface="Calibri" panose="020F0502020204030204" pitchFamily="34" charset="0"/>
              </a:rPr>
              <a:t>This project focuses on the </a:t>
            </a:r>
            <a:r>
              <a:rPr lang="en-IN" b="1" dirty="0">
                <a:latin typeface="Calibri" panose="020F0502020204030204" pitchFamily="34" charset="0"/>
                <a:cs typeface="Calibri" panose="020F0502020204030204" pitchFamily="34" charset="0"/>
              </a:rPr>
              <a:t>statistical and machine learning–based detection of deepfake images</a:t>
            </a:r>
            <a:r>
              <a:rPr lang="en-IN" dirty="0">
                <a:latin typeface="Calibri" panose="020F0502020204030204" pitchFamily="34" charset="0"/>
                <a:cs typeface="Calibri" panose="020F0502020204030204" pitchFamily="34" charset="0"/>
              </a:rPr>
              <a:t>, integrating </a:t>
            </a:r>
            <a:r>
              <a:rPr lang="en-IN" b="1" dirty="0">
                <a:latin typeface="Calibri" panose="020F0502020204030204" pitchFamily="34" charset="0"/>
                <a:cs typeface="Calibri" panose="020F0502020204030204" pitchFamily="34" charset="0"/>
              </a:rPr>
              <a:t>classical statistical analysis</a:t>
            </a:r>
            <a:r>
              <a:rPr lang="en-IN" dirty="0">
                <a:latin typeface="Calibri" panose="020F0502020204030204" pitchFamily="34" charset="0"/>
                <a:cs typeface="Calibri" panose="020F0502020204030204" pitchFamily="34" charset="0"/>
              </a:rPr>
              <a:t> with </a:t>
            </a:r>
            <a:r>
              <a:rPr lang="en-IN" b="1" dirty="0">
                <a:latin typeface="Calibri" panose="020F0502020204030204" pitchFamily="34" charset="0"/>
                <a:cs typeface="Calibri" panose="020F0502020204030204" pitchFamily="34" charset="0"/>
              </a:rPr>
              <a:t>modern learning algorithms</a:t>
            </a:r>
            <a:r>
              <a:rPr lang="en-IN" dirty="0">
                <a:latin typeface="Calibri" panose="020F0502020204030204" pitchFamily="34" charset="0"/>
                <a:cs typeface="Calibri" panose="020F0502020204030204" pitchFamily="34" charset="0"/>
              </a:rPr>
              <a:t> for more accurate and scalable classification.</a:t>
            </a:r>
          </a:p>
          <a:p>
            <a:pPr>
              <a:lnSpc>
                <a:spcPct val="100000"/>
              </a:lnSpc>
              <a:spcBef>
                <a:spcPts val="400"/>
              </a:spcBef>
              <a:spcAft>
                <a:spcPts val="700"/>
              </a:spcAft>
              <a:buFont typeface="Wingdings" panose="05000000000000000000" pitchFamily="2" charset="2"/>
              <a:buChar char="q"/>
            </a:pPr>
            <a:r>
              <a:rPr lang="en-IN" dirty="0">
                <a:latin typeface="Calibri" panose="020F0502020204030204" pitchFamily="34" charset="0"/>
                <a:cs typeface="Calibri" panose="020F0502020204030204" pitchFamily="34" charset="0"/>
              </a:rPr>
              <a:t>The study emphasizes how </a:t>
            </a:r>
            <a:r>
              <a:rPr lang="en-IN" b="1" dirty="0">
                <a:latin typeface="Calibri" panose="020F0502020204030204" pitchFamily="34" charset="0"/>
                <a:cs typeface="Calibri" panose="020F0502020204030204" pitchFamily="34" charset="0"/>
              </a:rPr>
              <a:t>statistical properties and visual patterns</a:t>
            </a:r>
            <a:r>
              <a:rPr lang="en-IN" dirty="0">
                <a:latin typeface="Calibri" panose="020F0502020204030204" pitchFamily="34" charset="0"/>
                <a:cs typeface="Calibri" panose="020F0502020204030204" pitchFamily="34" charset="0"/>
              </a:rPr>
              <a:t> differ between </a:t>
            </a:r>
            <a:r>
              <a:rPr lang="en-IN" i="1" dirty="0">
                <a:latin typeface="Calibri" panose="020F0502020204030204" pitchFamily="34" charset="0"/>
                <a:cs typeface="Calibri" panose="020F0502020204030204" pitchFamily="34" charset="0"/>
              </a:rPr>
              <a:t>real</a:t>
            </a:r>
            <a:r>
              <a:rPr lang="en-IN" dirty="0">
                <a:latin typeface="Calibri" panose="020F0502020204030204" pitchFamily="34" charset="0"/>
                <a:cs typeface="Calibri" panose="020F0502020204030204" pitchFamily="34" charset="0"/>
              </a:rPr>
              <a:t> and </a:t>
            </a:r>
            <a:r>
              <a:rPr lang="en-IN" i="1" dirty="0">
                <a:latin typeface="Calibri" panose="020F0502020204030204" pitchFamily="34" charset="0"/>
                <a:cs typeface="Calibri" panose="020F0502020204030204" pitchFamily="34" charset="0"/>
              </a:rPr>
              <a:t>manipulated</a:t>
            </a:r>
            <a:r>
              <a:rPr lang="en-IN" dirty="0">
                <a:latin typeface="Calibri" panose="020F0502020204030204" pitchFamily="34" charset="0"/>
                <a:cs typeface="Calibri" panose="020F0502020204030204" pitchFamily="34" charset="0"/>
              </a:rPr>
              <a:t> images. To understand these distinctions, the project applies a range of </a:t>
            </a:r>
            <a:r>
              <a:rPr lang="en-IN" b="1" dirty="0">
                <a:latin typeface="Calibri" panose="020F0502020204030204" pitchFamily="34" charset="0"/>
                <a:cs typeface="Calibri" panose="020F0502020204030204" pitchFamily="34" charset="0"/>
              </a:rPr>
              <a:t>statistical tools</a:t>
            </a:r>
            <a:r>
              <a:rPr lang="en-IN" dirty="0">
                <a:latin typeface="Calibri" panose="020F0502020204030204" pitchFamily="34" charset="0"/>
                <a:cs typeface="Calibri" panose="020F0502020204030204" pitchFamily="34" charset="0"/>
              </a:rPr>
              <a:t> to pixel-level and feature-level data, including:</a:t>
            </a:r>
          </a:p>
          <a:p>
            <a:pPr lvl="0">
              <a:lnSpc>
                <a:spcPct val="100000"/>
              </a:lnSpc>
              <a:spcBef>
                <a:spcPts val="400"/>
              </a:spcBef>
              <a:spcAft>
                <a:spcPts val="700"/>
              </a:spcAft>
            </a:pPr>
            <a:r>
              <a:rPr lang="en-IN" b="1" dirty="0">
                <a:latin typeface="Calibri" panose="020F0502020204030204" pitchFamily="34" charset="0"/>
                <a:cs typeface="Calibri" panose="020F0502020204030204" pitchFamily="34" charset="0"/>
              </a:rPr>
              <a:t>Descriptive Statistics</a:t>
            </a:r>
            <a:r>
              <a:rPr lang="en-IN" dirty="0">
                <a:latin typeface="Calibri" panose="020F0502020204030204" pitchFamily="34" charset="0"/>
                <a:cs typeface="Calibri" panose="020F0502020204030204" pitchFamily="34" charset="0"/>
              </a:rPr>
              <a:t> – Mean, Variance, Standard Deviation, Skewness, and Kurtosis to summarize image intensity patterns and identify abnormal pixel distributions.</a:t>
            </a:r>
          </a:p>
          <a:p>
            <a:pPr lvl="0">
              <a:lnSpc>
                <a:spcPct val="100000"/>
              </a:lnSpc>
              <a:spcBef>
                <a:spcPts val="400"/>
              </a:spcBef>
              <a:spcAft>
                <a:spcPts val="700"/>
              </a:spcAft>
            </a:pPr>
            <a:r>
              <a:rPr lang="en-IN" b="1" dirty="0">
                <a:latin typeface="Calibri" panose="020F0502020204030204" pitchFamily="34" charset="0"/>
                <a:cs typeface="Calibri" panose="020F0502020204030204" pitchFamily="34" charset="0"/>
              </a:rPr>
              <a:t>Hypothesis Testing</a:t>
            </a:r>
            <a:r>
              <a:rPr lang="en-IN" dirty="0">
                <a:latin typeface="Calibri" panose="020F0502020204030204" pitchFamily="34" charset="0"/>
                <a:cs typeface="Calibri" panose="020F0502020204030204" pitchFamily="34" charset="0"/>
              </a:rPr>
              <a:t> – Chi-square, Kolmogorov–Smirnov, and T-tests to evaluate whether real and fake image feature distributions differ significantly.</a:t>
            </a:r>
          </a:p>
          <a:p>
            <a:pPr lvl="0">
              <a:lnSpc>
                <a:spcPct val="100000"/>
              </a:lnSpc>
              <a:spcBef>
                <a:spcPts val="400"/>
              </a:spcBef>
              <a:spcAft>
                <a:spcPts val="700"/>
              </a:spcAft>
            </a:pPr>
            <a:r>
              <a:rPr lang="en-IN" b="1" dirty="0">
                <a:latin typeface="Calibri" panose="020F0502020204030204" pitchFamily="34" charset="0"/>
                <a:cs typeface="Calibri" panose="020F0502020204030204" pitchFamily="34" charset="0"/>
              </a:rPr>
              <a:t>Correlation &amp; Dependency Measures</a:t>
            </a:r>
            <a:r>
              <a:rPr lang="en-IN" dirty="0">
                <a:latin typeface="Calibri" panose="020F0502020204030204" pitchFamily="34" charset="0"/>
                <a:cs typeface="Calibri" panose="020F0502020204030204" pitchFamily="34" charset="0"/>
              </a:rPr>
              <a:t> – Pearson/Spearman correlation and Mutual Information to examine relationships between RGB channels and uncover inconsistencies typical of fake images.</a:t>
            </a:r>
          </a:p>
          <a:p>
            <a:pPr>
              <a:lnSpc>
                <a:spcPct val="100000"/>
              </a:lnSpc>
              <a:spcBef>
                <a:spcPts val="400"/>
              </a:spcBef>
              <a:spcAft>
                <a:spcPts val="700"/>
              </a:spcAft>
              <a:buFont typeface="Wingdings" panose="05000000000000000000" pitchFamily="2" charset="2"/>
              <a:buChar char="q"/>
            </a:pPr>
            <a:r>
              <a:rPr lang="en-IN" dirty="0">
                <a:latin typeface="Calibri" panose="020F0502020204030204" pitchFamily="34" charset="0"/>
                <a:cs typeface="Calibri" panose="020F0502020204030204" pitchFamily="34" charset="0"/>
              </a:rPr>
              <a:t>These </a:t>
            </a:r>
            <a:r>
              <a:rPr lang="en-IN" b="1" dirty="0">
                <a:latin typeface="Calibri" panose="020F0502020204030204" pitchFamily="34" charset="0"/>
                <a:cs typeface="Calibri" panose="020F0502020204030204" pitchFamily="34" charset="0"/>
              </a:rPr>
              <a:t>statistical indicators</a:t>
            </a:r>
            <a:r>
              <a:rPr lang="en-IN" dirty="0">
                <a:latin typeface="Calibri" panose="020F0502020204030204" pitchFamily="34" charset="0"/>
                <a:cs typeface="Calibri" panose="020F0502020204030204" pitchFamily="34" charset="0"/>
              </a:rPr>
              <a:t> serve as crucial inputs for </a:t>
            </a:r>
            <a:r>
              <a:rPr lang="en-IN" b="1" dirty="0">
                <a:latin typeface="Calibri" panose="020F0502020204030204" pitchFamily="34" charset="0"/>
                <a:cs typeface="Calibri" panose="020F0502020204030204" pitchFamily="34" charset="0"/>
              </a:rPr>
              <a:t>machine learning models</a:t>
            </a:r>
            <a:r>
              <a:rPr lang="en-IN" dirty="0">
                <a:latin typeface="Calibri" panose="020F0502020204030204" pitchFamily="34" charset="0"/>
                <a:cs typeface="Calibri" panose="020F0502020204030204" pitchFamily="34" charset="0"/>
              </a:rPr>
              <a:t> — including </a:t>
            </a:r>
            <a:r>
              <a:rPr lang="en-IN" b="1" dirty="0">
                <a:latin typeface="Calibri" panose="020F0502020204030204" pitchFamily="34" charset="0"/>
                <a:cs typeface="Calibri" panose="020F0502020204030204" pitchFamily="34" charset="0"/>
              </a:rPr>
              <a:t>Convolutional Neural Networks (CNNs)</a:t>
            </a:r>
            <a:r>
              <a:rPr lang="en-IN" dirty="0">
                <a:latin typeface="Calibri" panose="020F0502020204030204" pitchFamily="34" charset="0"/>
                <a:cs typeface="Calibri" panose="020F0502020204030204" pitchFamily="34" charset="0"/>
              </a:rPr>
              <a:t> for deep feature learning, </a:t>
            </a:r>
            <a:r>
              <a:rPr lang="en-IN" b="1" dirty="0">
                <a:latin typeface="Calibri" panose="020F0502020204030204" pitchFamily="34" charset="0"/>
                <a:cs typeface="Calibri" panose="020F0502020204030204" pitchFamily="34" charset="0"/>
              </a:rPr>
              <a:t>Principal Component Analysis (PCA)</a:t>
            </a:r>
            <a:r>
              <a:rPr lang="en-IN" dirty="0">
                <a:latin typeface="Calibri" panose="020F0502020204030204" pitchFamily="34" charset="0"/>
                <a:cs typeface="Calibri" panose="020F0502020204030204" pitchFamily="34" charset="0"/>
              </a:rPr>
              <a:t> for dimensionality reduction, and </a:t>
            </a:r>
            <a:r>
              <a:rPr lang="en-IN" b="1" dirty="0">
                <a:latin typeface="Calibri" panose="020F0502020204030204" pitchFamily="34" charset="0"/>
                <a:cs typeface="Calibri" panose="020F0502020204030204" pitchFamily="34" charset="0"/>
              </a:rPr>
              <a:t>Support Vector Machines (SVMs)</a:t>
            </a:r>
            <a:r>
              <a:rPr lang="en-IN" dirty="0">
                <a:latin typeface="Calibri" panose="020F0502020204030204" pitchFamily="34" charset="0"/>
                <a:cs typeface="Calibri" panose="020F0502020204030204" pitchFamily="34" charset="0"/>
              </a:rPr>
              <a:t> for classification.</a:t>
            </a:r>
          </a:p>
          <a:p>
            <a:pPr>
              <a:lnSpc>
                <a:spcPct val="100000"/>
              </a:lnSpc>
              <a:spcBef>
                <a:spcPts val="400"/>
              </a:spcBef>
              <a:spcAft>
                <a:spcPts val="700"/>
              </a:spcAft>
              <a:buFont typeface="Wingdings" panose="05000000000000000000" pitchFamily="2" charset="2"/>
              <a:buChar char="q"/>
            </a:pPr>
            <a:r>
              <a:rPr lang="en-IN" dirty="0">
                <a:latin typeface="Calibri" panose="020F0502020204030204" pitchFamily="34" charset="0"/>
                <a:cs typeface="Calibri" panose="020F0502020204030204" pitchFamily="34" charset="0"/>
              </a:rPr>
              <a:t>By combining </a:t>
            </a:r>
            <a:r>
              <a:rPr lang="en-IN" b="1" dirty="0">
                <a:latin typeface="Calibri" panose="020F0502020204030204" pitchFamily="34" charset="0"/>
                <a:cs typeface="Calibri" panose="020F0502020204030204" pitchFamily="34" charset="0"/>
              </a:rPr>
              <a:t>statistical feature analysis</a:t>
            </a:r>
            <a:r>
              <a:rPr lang="en-IN" dirty="0">
                <a:latin typeface="Calibri" panose="020F0502020204030204" pitchFamily="34" charset="0"/>
                <a:cs typeface="Calibri" panose="020F0502020204030204" pitchFamily="34" charset="0"/>
              </a:rPr>
              <a:t> with </a:t>
            </a:r>
            <a:r>
              <a:rPr lang="en-IN" b="1" dirty="0">
                <a:latin typeface="Calibri" panose="020F0502020204030204" pitchFamily="34" charset="0"/>
                <a:cs typeface="Calibri" panose="020F0502020204030204" pitchFamily="34" charset="0"/>
              </a:rPr>
              <a:t>learning-based classification</a:t>
            </a:r>
            <a:r>
              <a:rPr lang="en-IN" dirty="0">
                <a:latin typeface="Calibri" panose="020F0502020204030204" pitchFamily="34" charset="0"/>
                <a:cs typeface="Calibri" panose="020F0502020204030204" pitchFamily="34" charset="0"/>
              </a:rPr>
              <a:t>, the project aims to establish a </a:t>
            </a:r>
            <a:r>
              <a:rPr lang="en-IN" b="1" dirty="0">
                <a:latin typeface="Calibri" panose="020F0502020204030204" pitchFamily="34" charset="0"/>
                <a:cs typeface="Calibri" panose="020F0502020204030204" pitchFamily="34" charset="0"/>
              </a:rPr>
              <a:t>robust and explainable framework</a:t>
            </a:r>
            <a:r>
              <a:rPr lang="en-IN" dirty="0">
                <a:latin typeface="Calibri" panose="020F0502020204030204" pitchFamily="34" charset="0"/>
                <a:cs typeface="Calibri" panose="020F0502020204030204" pitchFamily="34" charset="0"/>
              </a:rPr>
              <a:t> for distinguishing real and deepfake images.</a:t>
            </a:r>
          </a:p>
          <a:p>
            <a:endParaRPr lang="en-IN" sz="1400" dirty="0"/>
          </a:p>
        </p:txBody>
      </p:sp>
    </p:spTree>
    <p:extLst>
      <p:ext uri="{BB962C8B-B14F-4D97-AF65-F5344CB8AC3E}">
        <p14:creationId xmlns:p14="http://schemas.microsoft.com/office/powerpoint/2010/main" val="41223962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 calcmode="lin" valueType="num">
                                      <p:cBhvr additive="base">
                                        <p:cTn id="2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 calcmode="lin" valueType="num">
                                      <p:cBhvr additive="base">
                                        <p:cTn id="3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 calcmode="lin" valueType="num">
                                      <p:cBhvr additive="base">
                                        <p:cTn id="3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anim calcmode="lin" valueType="num">
                                      <p:cBhvr additive="base">
                                        <p:cTn id="4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 calcmode="lin" valueType="num">
                                      <p:cBhvr additive="base">
                                        <p:cTn id="4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7" end="7"/>
                                            </p:txEl>
                                          </p:spTgt>
                                        </p:tgtEl>
                                        <p:attrNameLst>
                                          <p:attrName>style.visibility</p:attrName>
                                        </p:attrNameLst>
                                      </p:cBhvr>
                                      <p:to>
                                        <p:strVal val="visible"/>
                                      </p:to>
                                    </p:set>
                                    <p:anim calcmode="lin" valueType="num">
                                      <p:cBhvr additive="base">
                                        <p:cTn id="5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4</a:t>
            </a:fld>
            <a:endParaRPr lang="en-US"/>
          </a:p>
        </p:txBody>
      </p:sp>
      <p:sp>
        <p:nvSpPr>
          <p:cNvPr id="18" name="Title 17">
            <a:extLst>
              <a:ext uri="{FF2B5EF4-FFF2-40B4-BE49-F238E27FC236}">
                <a16:creationId xmlns:a16="http://schemas.microsoft.com/office/drawing/2014/main" id="{955C7EB0-5CF7-1207-FAE0-D83995EEC0EC}"/>
              </a:ext>
            </a:extLst>
          </p:cNvPr>
          <p:cNvSpPr>
            <a:spLocks noGrp="1"/>
          </p:cNvSpPr>
          <p:nvPr>
            <p:ph type="title"/>
          </p:nvPr>
        </p:nvSpPr>
        <p:spPr>
          <a:xfrm>
            <a:off x="838200" y="1431172"/>
            <a:ext cx="10515600" cy="854828"/>
          </a:xfrm>
        </p:spPr>
        <p:txBody>
          <a:bodyPr/>
          <a:lstStyle/>
          <a:p>
            <a:pPr algn="ctr"/>
            <a:r>
              <a:rPr lang="en-US" sz="6600" b="1" dirty="0">
                <a:latin typeface="Bahnschrift" panose="020B0502040204020203" pitchFamily="34" charset="0"/>
              </a:rPr>
              <a:t>Primary goals</a:t>
            </a:r>
            <a:endParaRPr lang="en-IN" sz="6600" b="1" dirty="0">
              <a:latin typeface="Bahnschrift" panose="020B0502040204020203" pitchFamily="34" charset="0"/>
            </a:endParaRPr>
          </a:p>
        </p:txBody>
      </p:sp>
      <p:sp>
        <p:nvSpPr>
          <p:cNvPr id="19" name="TextBox 18">
            <a:extLst>
              <a:ext uri="{FF2B5EF4-FFF2-40B4-BE49-F238E27FC236}">
                <a16:creationId xmlns:a16="http://schemas.microsoft.com/office/drawing/2014/main" id="{5892A450-5E45-59D9-C148-FCA0A389676B}"/>
              </a:ext>
            </a:extLst>
          </p:cNvPr>
          <p:cNvSpPr txBox="1"/>
          <p:nvPr/>
        </p:nvSpPr>
        <p:spPr>
          <a:xfrm>
            <a:off x="500462" y="2630049"/>
            <a:ext cx="11191076" cy="3477875"/>
          </a:xfrm>
          <a:prstGeom prst="rect">
            <a:avLst/>
          </a:prstGeom>
          <a:noFill/>
        </p:spPr>
        <p:txBody>
          <a:bodyPr wrap="square" rtlCol="0">
            <a:spAutoFit/>
          </a:bodyPr>
          <a:lstStyle/>
          <a:p>
            <a:pPr algn="just"/>
            <a:r>
              <a:rPr lang="en-GB" sz="2000" dirty="0">
                <a:latin typeface="Calibri" panose="020F0502020204030204" pitchFamily="34" charset="0"/>
                <a:cs typeface="Calibri" panose="020F0502020204030204" pitchFamily="34" charset="0"/>
              </a:rPr>
              <a:t>The project aims to:</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Identify patterns</a:t>
            </a:r>
            <a:r>
              <a:rPr lang="en-GB" sz="2000" dirty="0">
                <a:latin typeface="Calibri" panose="020F0502020204030204" pitchFamily="34" charset="0"/>
                <a:cs typeface="Calibri" panose="020F0502020204030204" pitchFamily="34" charset="0"/>
              </a:rPr>
              <a:t> that reliably distinguish authentic from manipulated media.</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Evaluate robustness</a:t>
            </a:r>
            <a:r>
              <a:rPr lang="en-GB" sz="2000" dirty="0">
                <a:latin typeface="Calibri" panose="020F0502020204030204" pitchFamily="34" charset="0"/>
                <a:cs typeface="Calibri" panose="020F0502020204030204" pitchFamily="34" charset="0"/>
              </a:rPr>
              <a:t> of detection models under common post-processing (compression, scaling, filtering) and across different deepfake generation methods.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Predict forgery likelihood</a:t>
            </a:r>
            <a:r>
              <a:rPr lang="en-GB" sz="2000" dirty="0">
                <a:latin typeface="Calibri" panose="020F0502020204030204" pitchFamily="34" charset="0"/>
                <a:cs typeface="Calibri" panose="020F0502020204030204" pitchFamily="34" charset="0"/>
              </a:rPr>
              <a:t> on unseen samples, ensuring practical applicability.</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Assess generalization</a:t>
            </a:r>
            <a:r>
              <a:rPr lang="en-GB" sz="2000" dirty="0">
                <a:latin typeface="Calibri" panose="020F0502020204030204" pitchFamily="34" charset="0"/>
                <a:cs typeface="Calibri" panose="020F0502020204030204" pitchFamily="34" charset="0"/>
              </a:rPr>
              <a:t> of models trained on one type of deepfake when applied to others, especially in low-quality, user-generated content.</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Compare feature families and model types</a:t>
            </a:r>
            <a:r>
              <a:rPr lang="en-GB" sz="2000" dirty="0">
                <a:latin typeface="Calibri" panose="020F0502020204030204" pitchFamily="34" charset="0"/>
                <a:cs typeface="Calibri" panose="020F0502020204030204" pitchFamily="34" charset="0"/>
              </a:rPr>
              <a:t> (statistical, spatial, temporal; ML vs. DL) for both images and videos.</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Report evaluation metrics</a:t>
            </a:r>
            <a:r>
              <a:rPr lang="en-GB" sz="2000" dirty="0">
                <a:latin typeface="Calibri" panose="020F0502020204030204" pitchFamily="34" charset="0"/>
                <a:cs typeface="Calibri" panose="020F0502020204030204" pitchFamily="34" charset="0"/>
              </a:rPr>
              <a:t> such as Accuracy, Precision, Recall, F1-score, and ROC-AUC.</a:t>
            </a:r>
          </a:p>
          <a:p>
            <a:pPr marL="342900" indent="-342900" algn="just">
              <a:buFont typeface="Arial" pitchFamily="34" charset="0"/>
              <a:buChar char="•"/>
            </a:pPr>
            <a:r>
              <a:rPr lang="en-GB" sz="2000" b="1" dirty="0">
                <a:latin typeface="Calibri" panose="020F0502020204030204" pitchFamily="34" charset="0"/>
                <a:cs typeface="Calibri" panose="020F0502020204030204" pitchFamily="34" charset="0"/>
              </a:rPr>
              <a:t>Consider practical aspects.</a:t>
            </a:r>
            <a:endParaRPr lang="en-GB" sz="2000" dirty="0"/>
          </a:p>
        </p:txBody>
      </p:sp>
    </p:spTree>
    <p:extLst>
      <p:ext uri="{BB962C8B-B14F-4D97-AF65-F5344CB8AC3E}">
        <p14:creationId xmlns:p14="http://schemas.microsoft.com/office/powerpoint/2010/main" val="397919406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circle(in)">
                                      <p:cBhvr>
                                        <p:cTn id="1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8FC4DAD-8F22-40DC-8133-22BF52217FB8}"/>
              </a:ext>
            </a:extLst>
          </p:cNvPr>
          <p:cNvSpPr>
            <a:spLocks noGrp="1"/>
          </p:cNvSpPr>
          <p:nvPr>
            <p:ph type="sldNum" sz="quarter" idx="4294967295"/>
          </p:nvPr>
        </p:nvSpPr>
        <p:spPr>
          <a:xfrm>
            <a:off x="10518775" y="301625"/>
            <a:ext cx="1673225" cy="274638"/>
          </a:xfrm>
        </p:spPr>
        <p:txBody>
          <a:bodyPr/>
          <a:lstStyle/>
          <a:p>
            <a:fld id="{5BFCF61C-3B18-4C03-8326-CC3B32D710C9}" type="slidenum">
              <a:rPr lang="en-US" smtClean="0"/>
              <a:pPr/>
              <a:t>5</a:t>
            </a:fld>
            <a:endParaRPr lang="en-US"/>
          </a:p>
        </p:txBody>
      </p:sp>
      <p:sp>
        <p:nvSpPr>
          <p:cNvPr id="14" name="TextBox 13">
            <a:extLst>
              <a:ext uri="{FF2B5EF4-FFF2-40B4-BE49-F238E27FC236}">
                <a16:creationId xmlns:a16="http://schemas.microsoft.com/office/drawing/2014/main" id="{58B02E52-8349-2451-F384-4E68A92427BB}"/>
              </a:ext>
            </a:extLst>
          </p:cNvPr>
          <p:cNvSpPr txBox="1"/>
          <p:nvPr/>
        </p:nvSpPr>
        <p:spPr>
          <a:xfrm>
            <a:off x="2697402" y="23445"/>
            <a:ext cx="6386052" cy="830997"/>
          </a:xfrm>
          <a:prstGeom prst="rect">
            <a:avLst/>
          </a:prstGeom>
          <a:noFill/>
        </p:spPr>
        <p:txBody>
          <a:bodyPr wrap="square" rtlCol="0">
            <a:spAutoFit/>
          </a:bodyPr>
          <a:lstStyle/>
          <a:p>
            <a:pPr algn="ctr"/>
            <a:r>
              <a:rPr lang="en-US" sz="4800" b="1" dirty="0">
                <a:solidFill>
                  <a:schemeClr val="accent3">
                    <a:lumMod val="20000"/>
                    <a:lumOff val="80000"/>
                  </a:schemeClr>
                </a:solidFill>
                <a:latin typeface="Bahnschrift" panose="020B0502040204020203" pitchFamily="34" charset="0"/>
              </a:rPr>
              <a:t>OBJECTIVES</a:t>
            </a:r>
            <a:endParaRPr lang="en-IN" sz="6000" b="1" dirty="0">
              <a:solidFill>
                <a:schemeClr val="accent3">
                  <a:lumMod val="20000"/>
                  <a:lumOff val="80000"/>
                </a:schemeClr>
              </a:solidFill>
              <a:latin typeface="Bahnschrift" panose="020B0502040204020203" pitchFamily="34" charset="0"/>
            </a:endParaRPr>
          </a:p>
        </p:txBody>
      </p:sp>
      <p:sp>
        <p:nvSpPr>
          <p:cNvPr id="3" name="TextBox 2">
            <a:extLst>
              <a:ext uri="{FF2B5EF4-FFF2-40B4-BE49-F238E27FC236}">
                <a16:creationId xmlns:a16="http://schemas.microsoft.com/office/drawing/2014/main" id="{A726826F-4D47-A8B8-6D3E-212B32862A4E}"/>
              </a:ext>
            </a:extLst>
          </p:cNvPr>
          <p:cNvSpPr txBox="1"/>
          <p:nvPr/>
        </p:nvSpPr>
        <p:spPr>
          <a:xfrm>
            <a:off x="693174" y="873774"/>
            <a:ext cx="11385755" cy="6409447"/>
          </a:xfrm>
          <a:prstGeom prst="rect">
            <a:avLst/>
          </a:prstGeom>
          <a:noFill/>
        </p:spPr>
        <p:txBody>
          <a:bodyPr wrap="square">
            <a:spAutoFit/>
          </a:bodyPr>
          <a:lstStyle/>
          <a:p>
            <a:pPr marL="34290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detect and classify deepfake images</a:t>
            </a:r>
            <a:r>
              <a:rPr lang="en-IN" sz="2000" dirty="0">
                <a:solidFill>
                  <a:schemeClr val="bg1"/>
                </a:solidFill>
                <a:latin typeface="Calibri" panose="020F0502020204030204" pitchFamily="34" charset="0"/>
                <a:cs typeface="Calibri" panose="020F0502020204030204" pitchFamily="34" charset="0"/>
              </a:rPr>
              <a:t> using a combination of statistical and machine learning techniques.</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extract and analyze statistical features</a:t>
            </a:r>
            <a:r>
              <a:rPr lang="en-IN" sz="2000" dirty="0">
                <a:solidFill>
                  <a:schemeClr val="bg1"/>
                </a:solidFill>
                <a:latin typeface="Calibri" panose="020F0502020204030204" pitchFamily="34" charset="0"/>
                <a:cs typeface="Calibri" panose="020F0502020204030204" pitchFamily="34" charset="0"/>
              </a:rPr>
              <a:t> such as</a:t>
            </a:r>
          </a:p>
          <a:p>
            <a:pPr marL="800100" lvl="1" indent="-342900">
              <a:spcAft>
                <a:spcPts val="600"/>
              </a:spcAft>
              <a:buFont typeface="Courier New" panose="02070309020205020404" pitchFamily="49" charset="0"/>
              <a:buChar char="o"/>
            </a:pPr>
            <a:r>
              <a:rPr lang="en-IN" sz="2000" dirty="0">
                <a:solidFill>
                  <a:schemeClr val="bg1"/>
                </a:solidFill>
                <a:latin typeface="Calibri" panose="020F0502020204030204" pitchFamily="34" charset="0"/>
                <a:cs typeface="Calibri" panose="020F0502020204030204" pitchFamily="34" charset="0"/>
              </a:rPr>
              <a:t>Mean, Variance, Standard Deviation, Skewness, Kurtosis</a:t>
            </a:r>
          </a:p>
          <a:p>
            <a:pPr marL="800100" lvl="1" indent="-342900">
              <a:spcAft>
                <a:spcPts val="600"/>
              </a:spcAft>
              <a:buFont typeface="Courier New" panose="02070309020205020404" pitchFamily="49" charset="0"/>
              <a:buChar char="o"/>
            </a:pPr>
            <a:r>
              <a:rPr lang="en-IN" sz="2000" dirty="0">
                <a:solidFill>
                  <a:schemeClr val="bg1"/>
                </a:solidFill>
                <a:latin typeface="Calibri" panose="020F0502020204030204" pitchFamily="34" charset="0"/>
                <a:cs typeface="Calibri" panose="020F0502020204030204" pitchFamily="34" charset="0"/>
              </a:rPr>
              <a:t>Pixel intensity distributions and correlations between RGB channels.</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perform statistical hypothesis testing</a:t>
            </a:r>
            <a:r>
              <a:rPr lang="en-IN" sz="2000" dirty="0">
                <a:solidFill>
                  <a:schemeClr val="bg1"/>
                </a:solidFill>
                <a:latin typeface="Calibri" panose="020F0502020204030204" pitchFamily="34" charset="0"/>
                <a:cs typeface="Calibri" panose="020F0502020204030204" pitchFamily="34" charset="0"/>
              </a:rPr>
              <a:t> (Chi-square, K–S, T-test) to identify significant differences between real and fake image feature distributions.</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implement and compare three models:</a:t>
            </a:r>
            <a:endParaRPr lang="en-IN" sz="2000" dirty="0">
              <a:solidFill>
                <a:schemeClr val="bg1"/>
              </a:solidFill>
              <a:latin typeface="Calibri" panose="020F0502020204030204" pitchFamily="34" charset="0"/>
              <a:cs typeface="Calibri" panose="020F0502020204030204" pitchFamily="34" charset="0"/>
            </a:endParaRPr>
          </a:p>
          <a:p>
            <a:pPr marL="800100" lvl="1" indent="-342900">
              <a:spcAft>
                <a:spcPts val="600"/>
              </a:spcAft>
              <a:buFont typeface="Courier New" panose="02070309020205020404" pitchFamily="49" charset="0"/>
              <a:buChar char="o"/>
            </a:pPr>
            <a:r>
              <a:rPr lang="en-IN" sz="2000" b="1" dirty="0">
                <a:solidFill>
                  <a:schemeClr val="bg1"/>
                </a:solidFill>
                <a:latin typeface="Calibri" panose="020F0502020204030204" pitchFamily="34" charset="0"/>
                <a:cs typeface="Calibri" panose="020F0502020204030204" pitchFamily="34" charset="0"/>
              </a:rPr>
              <a:t>CNN</a:t>
            </a:r>
            <a:r>
              <a:rPr lang="en-IN" sz="2000" dirty="0">
                <a:solidFill>
                  <a:schemeClr val="bg1"/>
                </a:solidFill>
                <a:latin typeface="Calibri" panose="020F0502020204030204" pitchFamily="34" charset="0"/>
                <a:cs typeface="Calibri" panose="020F0502020204030204" pitchFamily="34" charset="0"/>
              </a:rPr>
              <a:t> for deep feature extraction and learning</a:t>
            </a:r>
          </a:p>
          <a:p>
            <a:pPr marL="800100" lvl="1" indent="-342900">
              <a:spcAft>
                <a:spcPts val="600"/>
              </a:spcAft>
              <a:buFont typeface="Courier New" panose="02070309020205020404" pitchFamily="49" charset="0"/>
              <a:buChar char="o"/>
            </a:pPr>
            <a:r>
              <a:rPr lang="en-IN" sz="2000" b="1" dirty="0">
                <a:solidFill>
                  <a:schemeClr val="bg1"/>
                </a:solidFill>
                <a:latin typeface="Calibri" panose="020F0502020204030204" pitchFamily="34" charset="0"/>
                <a:cs typeface="Calibri" panose="020F0502020204030204" pitchFamily="34" charset="0"/>
              </a:rPr>
              <a:t>PCA</a:t>
            </a:r>
            <a:r>
              <a:rPr lang="en-IN" sz="2000" dirty="0">
                <a:solidFill>
                  <a:schemeClr val="bg1"/>
                </a:solidFill>
                <a:latin typeface="Calibri" panose="020F0502020204030204" pitchFamily="34" charset="0"/>
                <a:cs typeface="Calibri" panose="020F0502020204030204" pitchFamily="34" charset="0"/>
              </a:rPr>
              <a:t> for dimensionality reduction</a:t>
            </a:r>
          </a:p>
          <a:p>
            <a:pPr marL="800100" lvl="1" indent="-342900">
              <a:spcAft>
                <a:spcPts val="600"/>
              </a:spcAft>
              <a:buFont typeface="Courier New" panose="02070309020205020404" pitchFamily="49" charset="0"/>
              <a:buChar char="o"/>
            </a:pPr>
            <a:r>
              <a:rPr lang="en-IN" sz="2000" b="1" dirty="0">
                <a:solidFill>
                  <a:schemeClr val="bg1"/>
                </a:solidFill>
                <a:latin typeface="Calibri" panose="020F0502020204030204" pitchFamily="34" charset="0"/>
                <a:cs typeface="Calibri" panose="020F0502020204030204" pitchFamily="34" charset="0"/>
              </a:rPr>
              <a:t>SVM</a:t>
            </a:r>
            <a:r>
              <a:rPr lang="en-IN" sz="2000" dirty="0">
                <a:solidFill>
                  <a:schemeClr val="bg1"/>
                </a:solidFill>
                <a:latin typeface="Calibri" panose="020F0502020204030204" pitchFamily="34" charset="0"/>
                <a:cs typeface="Calibri" panose="020F0502020204030204" pitchFamily="34" charset="0"/>
              </a:rPr>
              <a:t> for classification using extracted features</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evaluate model performance</a:t>
            </a:r>
            <a:r>
              <a:rPr lang="en-IN" sz="2000" dirty="0">
                <a:solidFill>
                  <a:schemeClr val="bg1"/>
                </a:solidFill>
                <a:latin typeface="Calibri" panose="020F0502020204030204" pitchFamily="34" charset="0"/>
                <a:cs typeface="Calibri" panose="020F0502020204030204" pitchFamily="34" charset="0"/>
              </a:rPr>
              <a:t> using statistical metrics such as accuracy, precision, recall, and F1-score.</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analyze correlations and dependencies</a:t>
            </a:r>
            <a:r>
              <a:rPr lang="en-IN" sz="2000" dirty="0">
                <a:solidFill>
                  <a:schemeClr val="bg1"/>
                </a:solidFill>
                <a:latin typeface="Calibri" panose="020F0502020204030204" pitchFamily="34" charset="0"/>
                <a:cs typeface="Calibri" panose="020F0502020204030204" pitchFamily="34" charset="0"/>
              </a:rPr>
              <a:t> between pixel features and model outputs to improve interpretability.</a:t>
            </a:r>
          </a:p>
          <a:p>
            <a:pPr marL="342900" lvl="0" indent="-342900">
              <a:spcAft>
                <a:spcPts val="600"/>
              </a:spcAft>
              <a:buFont typeface="+mj-lt"/>
              <a:buAutoNum type="arabicPeriod"/>
            </a:pPr>
            <a:r>
              <a:rPr lang="en-IN" sz="2000" b="1" dirty="0">
                <a:solidFill>
                  <a:schemeClr val="bg1"/>
                </a:solidFill>
                <a:latin typeface="Calibri" panose="020F0502020204030204" pitchFamily="34" charset="0"/>
                <a:cs typeface="Calibri" panose="020F0502020204030204" pitchFamily="34" charset="0"/>
              </a:rPr>
              <a:t>To establish a robust and explainable framework</a:t>
            </a:r>
            <a:r>
              <a:rPr lang="en-IN" sz="2000" dirty="0">
                <a:solidFill>
                  <a:schemeClr val="bg1"/>
                </a:solidFill>
                <a:latin typeface="Calibri" panose="020F0502020204030204" pitchFamily="34" charset="0"/>
                <a:cs typeface="Calibri" panose="020F0502020204030204" pitchFamily="34" charset="0"/>
              </a:rPr>
              <a:t> for reliable deepfake image classification through integrated statistical and machine learning approaches.</a:t>
            </a:r>
          </a:p>
          <a:p>
            <a:pPr algn="just">
              <a:spcBef>
                <a:spcPts val="300"/>
              </a:spcBef>
              <a:spcAft>
                <a:spcPts val="600"/>
              </a:spcAft>
            </a:pPr>
            <a:endParaRPr lang="en-US" sz="28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1526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3E68DE-3756-7E72-3F5A-34338BB312B3}"/>
              </a:ext>
            </a:extLst>
          </p:cNvPr>
          <p:cNvSpPr>
            <a:spLocks noGrp="1"/>
          </p:cNvSpPr>
          <p:nvPr>
            <p:ph type="sldNum" sz="quarter" idx="12"/>
          </p:nvPr>
        </p:nvSpPr>
        <p:spPr/>
        <p:txBody>
          <a:bodyPr/>
          <a:lstStyle/>
          <a:p>
            <a:fld id="{5BFCF61C-3B18-4C03-8326-CC3B32D710C9}" type="slidenum">
              <a:rPr lang="en-US" smtClean="0"/>
              <a:t>6</a:t>
            </a:fld>
            <a:endParaRPr lang="en-US" dirty="0"/>
          </a:p>
        </p:txBody>
      </p:sp>
      <p:sp>
        <p:nvSpPr>
          <p:cNvPr id="4" name="Title 3">
            <a:extLst>
              <a:ext uri="{FF2B5EF4-FFF2-40B4-BE49-F238E27FC236}">
                <a16:creationId xmlns:a16="http://schemas.microsoft.com/office/drawing/2014/main" id="{62C85805-79DB-07ED-6BDE-11B8962D463A}"/>
              </a:ext>
            </a:extLst>
          </p:cNvPr>
          <p:cNvSpPr>
            <a:spLocks noGrp="1"/>
          </p:cNvSpPr>
          <p:nvPr>
            <p:ph type="title"/>
          </p:nvPr>
        </p:nvSpPr>
        <p:spPr/>
        <p:txBody>
          <a:bodyPr/>
          <a:lstStyle/>
          <a:p>
            <a:pPr algn="ctr"/>
            <a:r>
              <a:rPr lang="en-US" sz="5400" b="1" dirty="0">
                <a:solidFill>
                  <a:schemeClr val="tx2"/>
                </a:solidFill>
                <a:latin typeface="Bahnschrift" panose="020B0502040204020203" pitchFamily="34" charset="0"/>
                <a:cs typeface="Arial" panose="020B0604020202020204" pitchFamily="34" charset="0"/>
              </a:rPr>
              <a:t>dataset</a:t>
            </a:r>
            <a:br>
              <a:rPr lang="en-US" sz="5000" dirty="0">
                <a:solidFill>
                  <a:schemeClr val="tx2"/>
                </a:solidFill>
                <a:latin typeface="Arial" panose="020B0604020202020204" pitchFamily="34" charset="0"/>
                <a:cs typeface="Arial" panose="020B0604020202020204" pitchFamily="34" charset="0"/>
              </a:rPr>
            </a:br>
            <a:endParaRPr lang="en-US" dirty="0"/>
          </a:p>
        </p:txBody>
      </p:sp>
      <p:sp>
        <p:nvSpPr>
          <p:cNvPr id="24" name="TextBox 23">
            <a:extLst>
              <a:ext uri="{FF2B5EF4-FFF2-40B4-BE49-F238E27FC236}">
                <a16:creationId xmlns:a16="http://schemas.microsoft.com/office/drawing/2014/main" id="{6DAC4ADB-7633-B842-54D4-044593F1165E}"/>
              </a:ext>
            </a:extLst>
          </p:cNvPr>
          <p:cNvSpPr txBox="1"/>
          <p:nvPr/>
        </p:nvSpPr>
        <p:spPr>
          <a:xfrm>
            <a:off x="558079" y="3042469"/>
            <a:ext cx="10932681" cy="4443268"/>
          </a:xfrm>
          <a:prstGeom prst="rect">
            <a:avLst/>
          </a:prstGeom>
          <a:noFill/>
        </p:spPr>
        <p:txBody>
          <a:bodyPr wrap="square">
            <a:spAutoFit/>
          </a:bodyPr>
          <a:lstStyle/>
          <a:p>
            <a:pPr marL="342900" lvl="0" indent="-342900">
              <a:spcAft>
                <a:spcPts val="500"/>
              </a:spcAft>
              <a:buFont typeface="Wingdings" panose="05000000000000000000" pitchFamily="2" charset="2"/>
              <a:buChar char="q"/>
            </a:pPr>
            <a:r>
              <a:rPr lang="en-IN" sz="2000" b="1" dirty="0">
                <a:latin typeface="Calibri" panose="020F0502020204030204" pitchFamily="34" charset="0"/>
                <a:cs typeface="Calibri" panose="020F0502020204030204" pitchFamily="34" charset="0"/>
              </a:rPr>
              <a:t>Dataset Type:</a:t>
            </a:r>
            <a:endParaRPr lang="en-IN" sz="2000" dirty="0">
              <a:latin typeface="Calibri" panose="020F0502020204030204" pitchFamily="34" charset="0"/>
              <a:cs typeface="Calibri" panose="020F0502020204030204" pitchFamily="34" charset="0"/>
            </a:endParaRPr>
          </a:p>
          <a:p>
            <a:pPr marL="800100" lvl="1" indent="-342900">
              <a:spcAft>
                <a:spcPts val="500"/>
              </a:spcAft>
              <a:buFont typeface="Courier New" panose="02070309020205020404" pitchFamily="49" charset="0"/>
              <a:buChar char="o"/>
            </a:pPr>
            <a:r>
              <a:rPr lang="en-IN" dirty="0">
                <a:latin typeface="Calibri" panose="020F0502020204030204" pitchFamily="34" charset="0"/>
                <a:cs typeface="Calibri" panose="020F0502020204030204" pitchFamily="34" charset="0"/>
              </a:rPr>
              <a:t>Image dataset containing </a:t>
            </a:r>
            <a:r>
              <a:rPr lang="en-IN" b="1" dirty="0">
                <a:latin typeface="Calibri" panose="020F0502020204030204" pitchFamily="34" charset="0"/>
                <a:cs typeface="Calibri" panose="020F0502020204030204" pitchFamily="34" charset="0"/>
              </a:rPr>
              <a:t>both real and deepfake/manipulated faces</a:t>
            </a:r>
            <a:r>
              <a:rPr lang="en-IN" dirty="0">
                <a:latin typeface="Calibri" panose="020F0502020204030204" pitchFamily="34" charset="0"/>
                <a:cs typeface="Calibri" panose="020F0502020204030204" pitchFamily="34" charset="0"/>
              </a:rPr>
              <a:t>.</a:t>
            </a:r>
          </a:p>
          <a:p>
            <a:pPr marL="800100" lvl="1" indent="-342900">
              <a:spcAft>
                <a:spcPts val="500"/>
              </a:spcAft>
              <a:buFont typeface="Courier New" panose="02070309020205020404" pitchFamily="49" charset="0"/>
              <a:buChar char="o"/>
            </a:pPr>
            <a:r>
              <a:rPr lang="en-IN" dirty="0">
                <a:latin typeface="Calibri" panose="020F0502020204030204" pitchFamily="34" charset="0"/>
                <a:cs typeface="Calibri" panose="020F0502020204030204" pitchFamily="34" charset="0"/>
              </a:rPr>
              <a:t>Used for </a:t>
            </a:r>
            <a:r>
              <a:rPr lang="en-IN" b="1" dirty="0">
                <a:latin typeface="Calibri" panose="020F0502020204030204" pitchFamily="34" charset="0"/>
                <a:cs typeface="Calibri" panose="020F0502020204030204" pitchFamily="34" charset="0"/>
              </a:rPr>
              <a:t>training, validation, and testing</a:t>
            </a:r>
            <a:r>
              <a:rPr lang="en-IN" dirty="0">
                <a:latin typeface="Calibri" panose="020F0502020204030204" pitchFamily="34" charset="0"/>
                <a:cs typeface="Calibri" panose="020F0502020204030204" pitchFamily="34" charset="0"/>
              </a:rPr>
              <a:t> of CNN, PCA, and SVM models.</a:t>
            </a:r>
          </a:p>
          <a:p>
            <a:pPr marL="342900" lvl="0" indent="-342900">
              <a:spcAft>
                <a:spcPts val="500"/>
              </a:spcAft>
              <a:buFont typeface="Wingdings" panose="05000000000000000000" pitchFamily="2" charset="2"/>
              <a:buChar char="q"/>
            </a:pPr>
            <a:r>
              <a:rPr lang="en-IN" sz="2000" b="1" dirty="0">
                <a:latin typeface="Calibri" panose="020F0502020204030204" pitchFamily="34" charset="0"/>
                <a:cs typeface="Calibri" panose="020F0502020204030204" pitchFamily="34" charset="0"/>
              </a:rPr>
              <a:t>Dataset Source (Examples):</a:t>
            </a:r>
            <a:endParaRPr lang="en-IN" sz="2000" dirty="0">
              <a:latin typeface="Calibri" panose="020F0502020204030204" pitchFamily="34" charset="0"/>
              <a:cs typeface="Calibri" panose="020F0502020204030204" pitchFamily="34" charset="0"/>
            </a:endParaRPr>
          </a:p>
          <a:p>
            <a:pPr marL="742950" lvl="1" indent="-285750">
              <a:spcAft>
                <a:spcPts val="500"/>
              </a:spcAft>
              <a:buFont typeface="Courier New" panose="02070309020205020404" pitchFamily="49" charset="0"/>
              <a:buChar char="o"/>
            </a:pPr>
            <a:r>
              <a:rPr lang="en-IN" b="1" dirty="0">
                <a:latin typeface="Calibri" panose="020F0502020204030204" pitchFamily="34" charset="0"/>
                <a:cs typeface="Calibri" panose="020F0502020204030204" pitchFamily="34" charset="0"/>
              </a:rPr>
              <a:t>FaceForensics++</a:t>
            </a:r>
            <a:r>
              <a:rPr lang="en-IN" dirty="0">
                <a:latin typeface="Calibri" panose="020F0502020204030204" pitchFamily="34" charset="0"/>
                <a:cs typeface="Calibri" panose="020F0502020204030204" pitchFamily="34" charset="0"/>
              </a:rPr>
              <a:t> – Real and synthetically manipulated facial videos/images.</a:t>
            </a:r>
          </a:p>
          <a:p>
            <a:pPr marL="742950" lvl="1" indent="-285750">
              <a:spcAft>
                <a:spcPts val="500"/>
              </a:spcAft>
              <a:buFont typeface="Courier New" panose="02070309020205020404" pitchFamily="49" charset="0"/>
              <a:buChar char="o"/>
            </a:pPr>
            <a:r>
              <a:rPr lang="en-IN" b="1" dirty="0">
                <a:latin typeface="Calibri" panose="020F0502020204030204" pitchFamily="34" charset="0"/>
                <a:cs typeface="Calibri" panose="020F0502020204030204" pitchFamily="34" charset="0"/>
              </a:rPr>
              <a:t>DeepFake Detection Challenge (DFDC) Dataset</a:t>
            </a:r>
            <a:r>
              <a:rPr lang="en-IN" dirty="0">
                <a:latin typeface="Calibri" panose="020F0502020204030204" pitchFamily="34" charset="0"/>
                <a:cs typeface="Calibri" panose="020F0502020204030204" pitchFamily="34" charset="0"/>
              </a:rPr>
              <a:t> – Large-scale benchmark dataset for deepfake research.</a:t>
            </a:r>
          </a:p>
          <a:p>
            <a:pPr marL="742950" lvl="1" indent="-285750">
              <a:spcAft>
                <a:spcPts val="500"/>
              </a:spcAft>
              <a:buFont typeface="Courier New" panose="02070309020205020404" pitchFamily="49" charset="0"/>
              <a:buChar char="o"/>
            </a:pPr>
            <a:r>
              <a:rPr lang="en-IN" b="1" dirty="0">
                <a:latin typeface="Calibri" panose="020F0502020204030204" pitchFamily="34" charset="0"/>
                <a:cs typeface="Calibri" panose="020F0502020204030204" pitchFamily="34" charset="0"/>
              </a:rPr>
              <a:t>Celeb-DF</a:t>
            </a:r>
            <a:r>
              <a:rPr lang="en-IN" dirty="0">
                <a:latin typeface="Calibri" panose="020F0502020204030204" pitchFamily="34" charset="0"/>
                <a:cs typeface="Calibri" panose="020F0502020204030204" pitchFamily="34" charset="0"/>
              </a:rPr>
              <a:t> – High-quality celebrity-based real and fake video frames.</a:t>
            </a:r>
          </a:p>
          <a:p>
            <a:pPr marL="342900" lvl="0" indent="-342900">
              <a:spcAft>
                <a:spcPts val="500"/>
              </a:spcAft>
              <a:buFont typeface="Wingdings" panose="05000000000000000000" pitchFamily="2" charset="2"/>
              <a:buChar char="q"/>
            </a:pPr>
            <a:r>
              <a:rPr lang="en-IN" sz="2000" b="1" dirty="0">
                <a:latin typeface="Calibri" panose="020F0502020204030204" pitchFamily="34" charset="0"/>
                <a:cs typeface="Calibri" panose="020F0502020204030204" pitchFamily="34" charset="0"/>
              </a:rPr>
              <a:t>Data Composition:</a:t>
            </a:r>
            <a:endParaRPr lang="en-IN" sz="2000" dirty="0">
              <a:latin typeface="Calibri" panose="020F0502020204030204" pitchFamily="34" charset="0"/>
              <a:cs typeface="Calibri" panose="020F0502020204030204" pitchFamily="34" charset="0"/>
            </a:endParaRPr>
          </a:p>
          <a:p>
            <a:pPr marL="742950" lvl="1" indent="-285750">
              <a:spcAft>
                <a:spcPts val="500"/>
              </a:spcAft>
              <a:buFont typeface="Courier New" panose="02070309020205020404" pitchFamily="49" charset="0"/>
              <a:buChar char="o"/>
            </a:pPr>
            <a:r>
              <a:rPr lang="en-IN" dirty="0">
                <a:latin typeface="Calibri" panose="020F0502020204030204" pitchFamily="34" charset="0"/>
                <a:cs typeface="Calibri" panose="020F0502020204030204" pitchFamily="34" charset="0"/>
              </a:rPr>
              <a:t>Total images: ~ 500 - 1000.</a:t>
            </a:r>
          </a:p>
          <a:p>
            <a:pPr marL="742950" lvl="1" indent="-285750">
              <a:spcAft>
                <a:spcPts val="500"/>
              </a:spcAft>
              <a:buFont typeface="Courier New" panose="02070309020205020404" pitchFamily="49" charset="0"/>
              <a:buChar char="o"/>
            </a:pPr>
            <a:r>
              <a:rPr lang="en-IN" dirty="0">
                <a:latin typeface="Calibri" panose="020F0502020204030204" pitchFamily="34" charset="0"/>
                <a:cs typeface="Calibri" panose="020F0502020204030204" pitchFamily="34" charset="0"/>
              </a:rPr>
              <a:t>Classes: </a:t>
            </a:r>
            <a:r>
              <a:rPr lang="en-IN" b="1" dirty="0">
                <a:latin typeface="Calibri" panose="020F0502020204030204" pitchFamily="34" charset="0"/>
                <a:cs typeface="Calibri" panose="020F0502020204030204" pitchFamily="34" charset="0"/>
              </a:rPr>
              <a:t>2 (Real and Fake)</a:t>
            </a:r>
            <a:r>
              <a:rPr lang="en-IN" dirty="0">
                <a:latin typeface="Calibri" panose="020F0502020204030204" pitchFamily="34" charset="0"/>
                <a:cs typeface="Calibri" panose="020F0502020204030204" pitchFamily="34" charset="0"/>
              </a:rPr>
              <a:t>.</a:t>
            </a:r>
            <a:endParaRPr lang="en-IN" sz="2000" dirty="0">
              <a:latin typeface="Calibri" panose="020F0502020204030204" pitchFamily="34" charset="0"/>
              <a:cs typeface="Calibri" panose="020F0502020204030204" pitchFamily="34" charset="0"/>
            </a:endParaRPr>
          </a:p>
          <a:p>
            <a:pPr marL="742950" lvl="1" indent="-285750">
              <a:spcAft>
                <a:spcPts val="500"/>
              </a:spcAft>
              <a:buFont typeface="Courier New" panose="02070309020205020404" pitchFamily="49" charset="0"/>
              <a:buChar char="o"/>
            </a:pPr>
            <a:r>
              <a:rPr lang="en-IN" dirty="0">
                <a:latin typeface="Calibri" panose="020F0502020204030204" pitchFamily="34" charset="0"/>
                <a:cs typeface="Calibri" panose="020F0502020204030204" pitchFamily="34" charset="0"/>
              </a:rPr>
              <a:t>Balanced data distribution for unbiased model training</a:t>
            </a:r>
            <a:r>
              <a:rPr lang="en-IN" sz="2000" dirty="0">
                <a:latin typeface="Calibri" panose="020F0502020204030204" pitchFamily="34" charset="0"/>
                <a:cs typeface="Calibri" panose="020F0502020204030204" pitchFamily="34" charset="0"/>
              </a:rPr>
              <a:t>.</a:t>
            </a:r>
          </a:p>
          <a:p>
            <a:pPr marL="342900" indent="-342900">
              <a:lnSpc>
                <a:spcPct val="150000"/>
              </a:lnSpc>
              <a:spcAft>
                <a:spcPts val="500"/>
              </a:spcAft>
              <a:buFont typeface="Wingdings" panose="05000000000000000000" pitchFamily="2" charset="2"/>
              <a:buChar char="q"/>
            </a:pPr>
            <a:endParaRPr lang="en-IN" sz="20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E5B7A0B2-F3EB-0EDD-F7C3-9926C2D8486A}"/>
              </a:ext>
            </a:extLst>
          </p:cNvPr>
          <p:cNvSpPr txBox="1"/>
          <p:nvPr/>
        </p:nvSpPr>
        <p:spPr>
          <a:xfrm>
            <a:off x="3965418" y="1463040"/>
            <a:ext cx="3865830" cy="1107996"/>
          </a:xfrm>
          <a:prstGeom prst="rect">
            <a:avLst/>
          </a:prstGeom>
          <a:noFill/>
        </p:spPr>
        <p:txBody>
          <a:bodyPr wrap="square" rtlCol="0">
            <a:spAutoFit/>
          </a:bodyPr>
          <a:lstStyle/>
          <a:p>
            <a:r>
              <a:rPr lang="en-US" sz="6600" b="1" dirty="0">
                <a:solidFill>
                  <a:schemeClr val="bg1"/>
                </a:solidFill>
                <a:latin typeface="Calibri" panose="020F0502020204030204" pitchFamily="34" charset="0"/>
                <a:ea typeface="Calibri" panose="020F0502020204030204" pitchFamily="34" charset="0"/>
                <a:cs typeface="Calibri" panose="020F0502020204030204" pitchFamily="34" charset="0"/>
              </a:rPr>
              <a:t>DATASET</a:t>
            </a:r>
            <a:endParaRPr lang="en-IN"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66149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randombar(horizontal)">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ED20EE-E90A-0F57-C2F6-C4BFB7390D8C}"/>
              </a:ext>
            </a:extLst>
          </p:cNvPr>
          <p:cNvSpPr>
            <a:spLocks noGrp="1"/>
          </p:cNvSpPr>
          <p:nvPr>
            <p:ph type="sldNum" sz="quarter" idx="12"/>
          </p:nvPr>
        </p:nvSpPr>
        <p:spPr/>
        <p:txBody>
          <a:bodyPr/>
          <a:lstStyle/>
          <a:p>
            <a:fld id="{5BFCF61C-3B18-4C03-8326-CC3B32D710C9}" type="slidenum">
              <a:rPr lang="en-US" noProof="0" smtClean="0"/>
              <a:pPr/>
              <a:t>7</a:t>
            </a:fld>
            <a:endParaRPr lang="en-US" noProof="0"/>
          </a:p>
        </p:txBody>
      </p:sp>
      <p:sp>
        <p:nvSpPr>
          <p:cNvPr id="9" name="TextBox 8">
            <a:extLst>
              <a:ext uri="{FF2B5EF4-FFF2-40B4-BE49-F238E27FC236}">
                <a16:creationId xmlns:a16="http://schemas.microsoft.com/office/drawing/2014/main" id="{F5DEAEC2-CDD5-2FFC-89E9-322E36BEB1BD}"/>
              </a:ext>
            </a:extLst>
          </p:cNvPr>
          <p:cNvSpPr txBox="1"/>
          <p:nvPr/>
        </p:nvSpPr>
        <p:spPr>
          <a:xfrm>
            <a:off x="604684" y="1378663"/>
            <a:ext cx="9738950" cy="1107996"/>
          </a:xfrm>
          <a:prstGeom prst="rect">
            <a:avLst/>
          </a:prstGeom>
          <a:noFill/>
        </p:spPr>
        <p:txBody>
          <a:bodyPr wrap="square">
            <a:spAutoFit/>
          </a:bodyPr>
          <a:lstStyle/>
          <a:p>
            <a:pPr algn="ctr"/>
            <a:r>
              <a:rPr lang="en-US" sz="6600" b="1" dirty="0">
                <a:solidFill>
                  <a:schemeClr val="bg1"/>
                </a:solidFill>
                <a:latin typeface="Calibri" panose="020F0502020204030204" pitchFamily="34" charset="0"/>
                <a:ea typeface="Calibri" panose="020F0502020204030204" pitchFamily="34" charset="0"/>
                <a:cs typeface="Calibri" panose="020F0502020204030204" pitchFamily="34" charset="0"/>
              </a:rPr>
              <a:t>DATASET</a:t>
            </a:r>
            <a:endParaRPr lang="en-IN" sz="6600" dirty="0"/>
          </a:p>
        </p:txBody>
      </p:sp>
      <p:sp>
        <p:nvSpPr>
          <p:cNvPr id="11" name="TextBox 10">
            <a:extLst>
              <a:ext uri="{FF2B5EF4-FFF2-40B4-BE49-F238E27FC236}">
                <a16:creationId xmlns:a16="http://schemas.microsoft.com/office/drawing/2014/main" id="{257900BB-CD2B-2BD2-8C80-CD64931796AF}"/>
              </a:ext>
            </a:extLst>
          </p:cNvPr>
          <p:cNvSpPr txBox="1"/>
          <p:nvPr/>
        </p:nvSpPr>
        <p:spPr>
          <a:xfrm>
            <a:off x="587477" y="3013358"/>
            <a:ext cx="11017045" cy="3844642"/>
          </a:xfrm>
          <a:prstGeom prst="rect">
            <a:avLst/>
          </a:prstGeom>
          <a:noFill/>
        </p:spPr>
        <p:txBody>
          <a:bodyPr wrap="square">
            <a:spAutoFit/>
          </a:bodyPr>
          <a:lstStyle/>
          <a:p>
            <a:pPr marL="342900" lvl="0" indent="-342900">
              <a:spcAft>
                <a:spcPts val="500"/>
              </a:spcAft>
              <a:buFont typeface="Wingdings" panose="05000000000000000000" pitchFamily="2" charset="2"/>
              <a:buChar char="q"/>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Data Preprocessing Steps:</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Face detection and cropping using OpenCV or MTCNN.</a:t>
            </a: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Image resizing to fixed dimensions (e.g., 128×128 or 224×224).</a:t>
            </a: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Normalization of pixel intensity values (0–1 range).</a:t>
            </a: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Data augmentation (rotation, flipping, brightness variation) to improve generalization.</a:t>
            </a:r>
          </a:p>
          <a:p>
            <a:pPr marL="342900" lvl="0" indent="-342900">
              <a:spcAft>
                <a:spcPts val="500"/>
              </a:spcAft>
              <a:buFont typeface="Wingdings" panose="05000000000000000000" pitchFamily="2" charset="2"/>
              <a:buChar char="q"/>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Feature Extraction for Statistical Analysis:</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Pixel intensity and histogram analysis for Mean, Variance, Skewness, Kurtosis &amp; Frequency-domain features</a:t>
            </a:r>
            <a:r>
              <a:rPr lang="en-GB" sz="1600" dirty="0">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500"/>
              </a:spcAft>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Correlation between RGB channels and texture-based descriptors.</a:t>
            </a:r>
          </a:p>
          <a:p>
            <a:pPr marL="342900" lvl="0" indent="-342900">
              <a:spcAft>
                <a:spcPts val="500"/>
              </a:spcAft>
              <a:buFont typeface="Wingdings" panose="05000000000000000000" pitchFamily="2" charset="2"/>
              <a:buChar char="q"/>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Dataset Splitting:</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500"/>
              </a:spcAft>
              <a:buSzPts val="1000"/>
              <a:buFont typeface="Courier New" panose="02070309020205020404" pitchFamily="49" charset="0"/>
              <a:buChar char="o"/>
              <a:tabLst>
                <a:tab pos="914400" algn="l"/>
              </a:tabLst>
            </a:pPr>
            <a:r>
              <a:rPr lang="en-IN" sz="1600" b="1" dirty="0">
                <a:effectLst/>
                <a:latin typeface="Calibri" panose="020F0502020204030204" pitchFamily="34" charset="0"/>
                <a:ea typeface="Times New Roman" panose="02020603050405020304" pitchFamily="18" charset="0"/>
                <a:cs typeface="Calibri" panose="020F0502020204030204" pitchFamily="34" charset="0"/>
              </a:rPr>
              <a:t>Training Set:</a:t>
            </a:r>
            <a:r>
              <a:rPr lang="en-IN" sz="1600" dirty="0">
                <a:effectLst/>
                <a:latin typeface="Calibri" panose="020F0502020204030204" pitchFamily="34" charset="0"/>
                <a:ea typeface="Times New Roman" panose="02020603050405020304" pitchFamily="18" charset="0"/>
                <a:cs typeface="Calibri" panose="020F0502020204030204" pitchFamily="34" charset="0"/>
              </a:rPr>
              <a:t> 70%</a:t>
            </a:r>
          </a:p>
          <a:p>
            <a:pPr marL="742950" lvl="1" indent="-285750">
              <a:spcAft>
                <a:spcPts val="500"/>
              </a:spcAft>
              <a:buSzPts val="1000"/>
              <a:buFont typeface="Courier New" panose="02070309020205020404" pitchFamily="49" charset="0"/>
              <a:buChar char="o"/>
              <a:tabLst>
                <a:tab pos="914400" algn="l"/>
              </a:tabLst>
            </a:pPr>
            <a:r>
              <a:rPr lang="en-IN" sz="1600" b="1" dirty="0">
                <a:effectLst/>
                <a:latin typeface="Calibri" panose="020F0502020204030204" pitchFamily="34" charset="0"/>
                <a:ea typeface="Times New Roman" panose="02020603050405020304" pitchFamily="18" charset="0"/>
                <a:cs typeface="Calibri" panose="020F0502020204030204" pitchFamily="34" charset="0"/>
              </a:rPr>
              <a:t>Validation Set:</a:t>
            </a:r>
            <a:r>
              <a:rPr lang="en-IN" sz="1600" dirty="0">
                <a:effectLst/>
                <a:latin typeface="Calibri" panose="020F0502020204030204" pitchFamily="34" charset="0"/>
                <a:ea typeface="Times New Roman" panose="02020603050405020304" pitchFamily="18" charset="0"/>
                <a:cs typeface="Calibri" panose="020F0502020204030204" pitchFamily="34" charset="0"/>
              </a:rPr>
              <a:t> 15%</a:t>
            </a:r>
          </a:p>
          <a:p>
            <a:pPr marL="742950" lvl="1" indent="-285750">
              <a:spcAft>
                <a:spcPts val="500"/>
              </a:spcAft>
              <a:buSzPts val="1000"/>
              <a:buFont typeface="Courier New" panose="02070309020205020404" pitchFamily="49" charset="0"/>
              <a:buChar char="o"/>
              <a:tabLst>
                <a:tab pos="914400" algn="l"/>
              </a:tabLst>
            </a:pPr>
            <a:r>
              <a:rPr lang="en-IN" sz="1600" b="1" dirty="0">
                <a:effectLst/>
                <a:latin typeface="Calibri" panose="020F0502020204030204" pitchFamily="34" charset="0"/>
                <a:ea typeface="Times New Roman" panose="02020603050405020304" pitchFamily="18" charset="0"/>
                <a:cs typeface="Calibri" panose="020F0502020204030204" pitchFamily="34" charset="0"/>
              </a:rPr>
              <a:t>Testing Set:</a:t>
            </a:r>
            <a:r>
              <a:rPr lang="en-IN" sz="1600" dirty="0">
                <a:effectLst/>
                <a:latin typeface="Calibri" panose="020F0502020204030204" pitchFamily="34" charset="0"/>
                <a:ea typeface="Times New Roman" panose="02020603050405020304" pitchFamily="18" charset="0"/>
                <a:cs typeface="Calibri" panose="020F0502020204030204" pitchFamily="34" charset="0"/>
              </a:rPr>
              <a:t> 15%</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79548593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434375-6C86-CA9E-2BC2-BCFEDED9908B}"/>
              </a:ext>
            </a:extLst>
          </p:cNvPr>
          <p:cNvSpPr>
            <a:spLocks noGrp="1"/>
          </p:cNvSpPr>
          <p:nvPr>
            <p:ph type="sldNum" sz="quarter" idx="12"/>
          </p:nvPr>
        </p:nvSpPr>
        <p:spPr/>
        <p:txBody>
          <a:bodyPr/>
          <a:lstStyle/>
          <a:p>
            <a:fld id="{5BFCF61C-3B18-4C03-8326-CC3B32D710C9}" type="slidenum">
              <a:rPr lang="en-US" noProof="0" smtClean="0"/>
              <a:t>8</a:t>
            </a:fld>
            <a:endParaRPr lang="en-US" noProof="0"/>
          </a:p>
        </p:txBody>
      </p:sp>
      <p:pic>
        <p:nvPicPr>
          <p:cNvPr id="10" name="Picture 9">
            <a:extLst>
              <a:ext uri="{FF2B5EF4-FFF2-40B4-BE49-F238E27FC236}">
                <a16:creationId xmlns:a16="http://schemas.microsoft.com/office/drawing/2014/main" id="{D69BDEA1-B464-4F6B-3F38-DA915DFF58B3}"/>
              </a:ext>
            </a:extLst>
          </p:cNvPr>
          <p:cNvPicPr>
            <a:picLocks noChangeAspect="1"/>
          </p:cNvPicPr>
          <p:nvPr/>
        </p:nvPicPr>
        <p:blipFill>
          <a:blip r:embed="rId2"/>
          <a:stretch>
            <a:fillRect/>
          </a:stretch>
        </p:blipFill>
        <p:spPr>
          <a:xfrm>
            <a:off x="198407" y="1546493"/>
            <a:ext cx="2444708" cy="2444708"/>
          </a:xfrm>
          <a:prstGeom prst="rect">
            <a:avLst/>
          </a:prstGeom>
        </p:spPr>
      </p:pic>
      <p:pic>
        <p:nvPicPr>
          <p:cNvPr id="11" name="Picture 10">
            <a:extLst>
              <a:ext uri="{FF2B5EF4-FFF2-40B4-BE49-F238E27FC236}">
                <a16:creationId xmlns:a16="http://schemas.microsoft.com/office/drawing/2014/main" id="{139C4BB1-7B35-C417-E9E7-92DCF8E4B520}"/>
              </a:ext>
            </a:extLst>
          </p:cNvPr>
          <p:cNvPicPr>
            <a:picLocks noChangeAspect="1"/>
          </p:cNvPicPr>
          <p:nvPr/>
        </p:nvPicPr>
        <p:blipFill>
          <a:blip r:embed="rId3"/>
          <a:stretch>
            <a:fillRect/>
          </a:stretch>
        </p:blipFill>
        <p:spPr>
          <a:xfrm>
            <a:off x="9176842" y="1546492"/>
            <a:ext cx="2262717" cy="2408113"/>
          </a:xfrm>
          <a:prstGeom prst="rect">
            <a:avLst/>
          </a:prstGeom>
        </p:spPr>
      </p:pic>
      <p:pic>
        <p:nvPicPr>
          <p:cNvPr id="12" name="Picture 11">
            <a:extLst>
              <a:ext uri="{FF2B5EF4-FFF2-40B4-BE49-F238E27FC236}">
                <a16:creationId xmlns:a16="http://schemas.microsoft.com/office/drawing/2014/main" id="{A51952D1-0986-0979-A72C-9C42D8DE842F}"/>
              </a:ext>
            </a:extLst>
          </p:cNvPr>
          <p:cNvPicPr>
            <a:picLocks noChangeAspect="1"/>
          </p:cNvPicPr>
          <p:nvPr/>
        </p:nvPicPr>
        <p:blipFill>
          <a:blip r:embed="rId4"/>
          <a:stretch>
            <a:fillRect/>
          </a:stretch>
        </p:blipFill>
        <p:spPr>
          <a:xfrm>
            <a:off x="198407" y="4282644"/>
            <a:ext cx="2444708" cy="2444708"/>
          </a:xfrm>
          <a:prstGeom prst="rect">
            <a:avLst/>
          </a:prstGeom>
        </p:spPr>
      </p:pic>
      <p:pic>
        <p:nvPicPr>
          <p:cNvPr id="13" name="Picture 12">
            <a:extLst>
              <a:ext uri="{FF2B5EF4-FFF2-40B4-BE49-F238E27FC236}">
                <a16:creationId xmlns:a16="http://schemas.microsoft.com/office/drawing/2014/main" id="{D65A3FD8-D0DB-8885-9199-EE29A0A3C3A0}"/>
              </a:ext>
            </a:extLst>
          </p:cNvPr>
          <p:cNvPicPr>
            <a:picLocks noChangeAspect="1"/>
          </p:cNvPicPr>
          <p:nvPr/>
        </p:nvPicPr>
        <p:blipFill>
          <a:blip r:embed="rId5"/>
          <a:stretch>
            <a:fillRect/>
          </a:stretch>
        </p:blipFill>
        <p:spPr>
          <a:xfrm>
            <a:off x="9193259" y="4282644"/>
            <a:ext cx="2444708" cy="2444708"/>
          </a:xfrm>
          <a:prstGeom prst="rect">
            <a:avLst/>
          </a:prstGeom>
        </p:spPr>
      </p:pic>
      <p:pic>
        <p:nvPicPr>
          <p:cNvPr id="14" name="Picture 13">
            <a:extLst>
              <a:ext uri="{FF2B5EF4-FFF2-40B4-BE49-F238E27FC236}">
                <a16:creationId xmlns:a16="http://schemas.microsoft.com/office/drawing/2014/main" id="{49393DCB-C0FE-6334-5D17-3BBB7CAB528F}"/>
              </a:ext>
            </a:extLst>
          </p:cNvPr>
          <p:cNvPicPr>
            <a:picLocks noChangeAspect="1"/>
          </p:cNvPicPr>
          <p:nvPr/>
        </p:nvPicPr>
        <p:blipFill>
          <a:blip r:embed="rId6"/>
          <a:stretch>
            <a:fillRect/>
          </a:stretch>
        </p:blipFill>
        <p:spPr>
          <a:xfrm>
            <a:off x="2839644" y="1546493"/>
            <a:ext cx="2444708" cy="2444708"/>
          </a:xfrm>
          <a:prstGeom prst="rect">
            <a:avLst/>
          </a:prstGeom>
        </p:spPr>
      </p:pic>
      <p:pic>
        <p:nvPicPr>
          <p:cNvPr id="15" name="Picture 14">
            <a:extLst>
              <a:ext uri="{FF2B5EF4-FFF2-40B4-BE49-F238E27FC236}">
                <a16:creationId xmlns:a16="http://schemas.microsoft.com/office/drawing/2014/main" id="{6B77C477-1A48-55BD-0C0F-15470E6B5C20}"/>
              </a:ext>
            </a:extLst>
          </p:cNvPr>
          <p:cNvPicPr>
            <a:picLocks noChangeAspect="1"/>
          </p:cNvPicPr>
          <p:nvPr/>
        </p:nvPicPr>
        <p:blipFill>
          <a:blip r:embed="rId7"/>
          <a:stretch>
            <a:fillRect/>
          </a:stretch>
        </p:blipFill>
        <p:spPr>
          <a:xfrm>
            <a:off x="6535605" y="1512521"/>
            <a:ext cx="2444707" cy="2442085"/>
          </a:xfrm>
          <a:prstGeom prst="rect">
            <a:avLst/>
          </a:prstGeom>
        </p:spPr>
      </p:pic>
      <p:pic>
        <p:nvPicPr>
          <p:cNvPr id="16" name="Picture 15">
            <a:extLst>
              <a:ext uri="{FF2B5EF4-FFF2-40B4-BE49-F238E27FC236}">
                <a16:creationId xmlns:a16="http://schemas.microsoft.com/office/drawing/2014/main" id="{D0B26E41-58F5-6AA9-E3B1-234B50B736FC}"/>
              </a:ext>
            </a:extLst>
          </p:cNvPr>
          <p:cNvPicPr>
            <a:picLocks noChangeAspect="1"/>
          </p:cNvPicPr>
          <p:nvPr/>
        </p:nvPicPr>
        <p:blipFill>
          <a:blip r:embed="rId8"/>
          <a:stretch>
            <a:fillRect/>
          </a:stretch>
        </p:blipFill>
        <p:spPr>
          <a:xfrm>
            <a:off x="2841522" y="4282644"/>
            <a:ext cx="2444708" cy="2444708"/>
          </a:xfrm>
          <a:prstGeom prst="rect">
            <a:avLst/>
          </a:prstGeom>
        </p:spPr>
      </p:pic>
      <p:pic>
        <p:nvPicPr>
          <p:cNvPr id="17" name="Picture 16">
            <a:extLst>
              <a:ext uri="{FF2B5EF4-FFF2-40B4-BE49-F238E27FC236}">
                <a16:creationId xmlns:a16="http://schemas.microsoft.com/office/drawing/2014/main" id="{149E4DC5-DFFE-EE94-CEF4-BE7E7B4CB957}"/>
              </a:ext>
            </a:extLst>
          </p:cNvPr>
          <p:cNvPicPr>
            <a:picLocks noChangeAspect="1"/>
          </p:cNvPicPr>
          <p:nvPr/>
        </p:nvPicPr>
        <p:blipFill>
          <a:blip r:embed="rId9"/>
          <a:stretch>
            <a:fillRect/>
          </a:stretch>
        </p:blipFill>
        <p:spPr>
          <a:xfrm>
            <a:off x="6538824" y="4282644"/>
            <a:ext cx="2444708" cy="2444708"/>
          </a:xfrm>
          <a:prstGeom prst="rect">
            <a:avLst/>
          </a:prstGeom>
        </p:spPr>
      </p:pic>
      <p:sp>
        <p:nvSpPr>
          <p:cNvPr id="19" name="TextBox 18">
            <a:extLst>
              <a:ext uri="{FF2B5EF4-FFF2-40B4-BE49-F238E27FC236}">
                <a16:creationId xmlns:a16="http://schemas.microsoft.com/office/drawing/2014/main" id="{73964777-A858-BD58-B288-FAC6DF370FC8}"/>
              </a:ext>
            </a:extLst>
          </p:cNvPr>
          <p:cNvSpPr txBox="1"/>
          <p:nvPr/>
        </p:nvSpPr>
        <p:spPr>
          <a:xfrm>
            <a:off x="3730904" y="239386"/>
            <a:ext cx="5609401" cy="1015663"/>
          </a:xfrm>
          <a:prstGeom prst="rect">
            <a:avLst/>
          </a:prstGeom>
          <a:noFill/>
        </p:spPr>
        <p:txBody>
          <a:bodyPr wrap="square" rtlCol="0">
            <a:spAutoFit/>
          </a:bodyPr>
          <a:lstStyle/>
          <a:p>
            <a:r>
              <a:rPr lang="en-US" sz="6000" b="1" dirty="0">
                <a:latin typeface="Calibri" panose="020F0502020204030204" pitchFamily="34" charset="0"/>
                <a:cs typeface="Calibri" panose="020F0502020204030204" pitchFamily="34" charset="0"/>
              </a:rPr>
              <a:t>Visual Images</a:t>
            </a:r>
            <a:endParaRPr lang="en-IN" sz="6000" b="1"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873AAF95-2C4C-9AC5-9196-10D7E05EE17F}"/>
              </a:ext>
            </a:extLst>
          </p:cNvPr>
          <p:cNvSpPr txBox="1"/>
          <p:nvPr/>
        </p:nvSpPr>
        <p:spPr>
          <a:xfrm>
            <a:off x="222502" y="877552"/>
            <a:ext cx="2617142" cy="523220"/>
          </a:xfrm>
          <a:prstGeom prst="rect">
            <a:avLst/>
          </a:prstGeom>
          <a:noFill/>
        </p:spPr>
        <p:txBody>
          <a:bodyPr wrap="square" rtlCol="0">
            <a:spAutoFit/>
          </a:bodyPr>
          <a:lstStyle/>
          <a:p>
            <a:r>
              <a:rPr lang="en-US" sz="2800" b="1" i="1" dirty="0">
                <a:latin typeface="Calibri" panose="020F0502020204030204" pitchFamily="34" charset="0"/>
                <a:cs typeface="Calibri" panose="020F0502020204030204" pitchFamily="34" charset="0"/>
              </a:rPr>
              <a:t>Real Faces</a:t>
            </a:r>
            <a:endParaRPr lang="en-IN" sz="2800" b="1" i="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2CDD9565-7A07-2466-914F-CADA2C4694C6}"/>
              </a:ext>
            </a:extLst>
          </p:cNvPr>
          <p:cNvSpPr txBox="1"/>
          <p:nvPr/>
        </p:nvSpPr>
        <p:spPr>
          <a:xfrm>
            <a:off x="8980312" y="927134"/>
            <a:ext cx="3135795" cy="523220"/>
          </a:xfrm>
          <a:prstGeom prst="rect">
            <a:avLst/>
          </a:prstGeom>
          <a:noFill/>
        </p:spPr>
        <p:txBody>
          <a:bodyPr wrap="square" rtlCol="0">
            <a:spAutoFit/>
          </a:bodyPr>
          <a:lstStyle/>
          <a:p>
            <a:r>
              <a:rPr lang="en-US" sz="2800" b="1" i="1" dirty="0">
                <a:latin typeface="Calibri" panose="020F0502020204030204" pitchFamily="34" charset="0"/>
                <a:cs typeface="Calibri" panose="020F0502020204030204" pitchFamily="34" charset="0"/>
              </a:rPr>
              <a:t>Deepfake Faces</a:t>
            </a:r>
            <a:endParaRPr lang="en-IN" sz="28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24193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wipe(down)">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ppt_x"/>
                                          </p:val>
                                        </p:tav>
                                        <p:tav tm="100000">
                                          <p:val>
                                            <p:strVal val="#ppt_x"/>
                                          </p:val>
                                        </p:tav>
                                      </p:tavLst>
                                    </p:anim>
                                    <p:anim calcmode="lin" valueType="num">
                                      <p:cBhvr additive="base">
                                        <p:cTn id="1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ppt_x"/>
                                          </p:val>
                                        </p:tav>
                                        <p:tav tm="100000">
                                          <p:val>
                                            <p:strVal val="#ppt_x"/>
                                          </p:val>
                                        </p:tav>
                                      </p:tavLst>
                                    </p:anim>
                                    <p:anim calcmode="lin" valueType="num">
                                      <p:cBhvr additive="base">
                                        <p:cTn id="19"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C1C9AB-6D03-CD41-A2B4-967608869C0A}"/>
              </a:ext>
            </a:extLst>
          </p:cNvPr>
          <p:cNvPicPr>
            <a:picLocks noChangeAspect="1"/>
          </p:cNvPicPr>
          <p:nvPr/>
        </p:nvPicPr>
        <p:blipFill>
          <a:blip r:embed="rId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75F5557-E73D-4C23-5F5A-FCBB55B90BA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a:extLst>
              <a:ext uri="{FF2B5EF4-FFF2-40B4-BE49-F238E27FC236}">
                <a16:creationId xmlns:a16="http://schemas.microsoft.com/office/drawing/2014/main" id="{E718E3AF-E2C5-60C8-8FF4-6ECDB4629F8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rot="20357137">
            <a:off x="230798" y="3710175"/>
            <a:ext cx="2881018" cy="2736967"/>
          </a:xfrm>
          <a:prstGeom prst="rect">
            <a:avLst/>
          </a:prstGeom>
        </p:spPr>
      </p:pic>
      <p:sp>
        <p:nvSpPr>
          <p:cNvPr id="9" name="TextBox 8">
            <a:extLst>
              <a:ext uri="{FF2B5EF4-FFF2-40B4-BE49-F238E27FC236}">
                <a16:creationId xmlns:a16="http://schemas.microsoft.com/office/drawing/2014/main" id="{9F6FF8E7-94D1-8EB8-FCCC-671CDFE9422F}"/>
              </a:ext>
            </a:extLst>
          </p:cNvPr>
          <p:cNvSpPr txBox="1"/>
          <p:nvPr/>
        </p:nvSpPr>
        <p:spPr>
          <a:xfrm rot="20885473">
            <a:off x="351740" y="4273682"/>
            <a:ext cx="2985089" cy="830997"/>
          </a:xfrm>
          <a:prstGeom prst="rect">
            <a:avLst/>
          </a:prstGeom>
          <a:noFill/>
        </p:spPr>
        <p:txBody>
          <a:bodyPr wrap="square">
            <a:spAutoFit/>
          </a:bodyPr>
          <a:lstStyle/>
          <a:p>
            <a:r>
              <a:rPr lang="en-IN" sz="2400" b="1" dirty="0">
                <a:latin typeface="Calibri" panose="020F0502020204030204" pitchFamily="34" charset="0"/>
                <a:cs typeface="Calibri" panose="020F0502020204030204" pitchFamily="34" charset="0"/>
              </a:rPr>
              <a:t>Project Workflow</a:t>
            </a:r>
          </a:p>
          <a:p>
            <a:r>
              <a:rPr lang="en-IN" sz="2400" b="1" dirty="0">
                <a:latin typeface="Calibri" panose="020F0502020204030204" pitchFamily="34" charset="0"/>
                <a:cs typeface="Calibri" panose="020F0502020204030204" pitchFamily="34" charset="0"/>
              </a:rPr>
              <a:t>       (At a glance)</a:t>
            </a:r>
          </a:p>
        </p:txBody>
      </p:sp>
    </p:spTree>
    <p:extLst>
      <p:ext uri="{BB962C8B-B14F-4D97-AF65-F5344CB8AC3E}">
        <p14:creationId xmlns:p14="http://schemas.microsoft.com/office/powerpoint/2010/main" val="205278128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DE830D-3934-27DB-1C01-C67FB4D8CE97}"/>
              </a:ext>
            </a:extLst>
          </p:cNvPr>
          <p:cNvSpPr>
            <a:spLocks noGrp="1"/>
          </p:cNvSpPr>
          <p:nvPr>
            <p:ph type="sldNum" sz="quarter" idx="12"/>
          </p:nvPr>
        </p:nvSpPr>
        <p:spPr/>
        <p:txBody>
          <a:bodyPr/>
          <a:lstStyle/>
          <a:p>
            <a:fld id="{5BFCF61C-3B18-4C03-8326-CC3B32D710C9}" type="slidenum">
              <a:rPr lang="en-US" noProof="0" smtClean="0"/>
              <a:t>10</a:t>
            </a:fld>
            <a:endParaRPr lang="en-US" noProof="0"/>
          </a:p>
        </p:txBody>
      </p:sp>
      <p:sp>
        <p:nvSpPr>
          <p:cNvPr id="4" name="Title 3">
            <a:extLst>
              <a:ext uri="{FF2B5EF4-FFF2-40B4-BE49-F238E27FC236}">
                <a16:creationId xmlns:a16="http://schemas.microsoft.com/office/drawing/2014/main" id="{60588225-A2D2-5B7C-B6AB-A923E148D147}"/>
              </a:ext>
            </a:extLst>
          </p:cNvPr>
          <p:cNvSpPr>
            <a:spLocks noGrp="1"/>
          </p:cNvSpPr>
          <p:nvPr>
            <p:ph type="title"/>
          </p:nvPr>
        </p:nvSpPr>
        <p:spPr>
          <a:xfrm>
            <a:off x="2234395" y="1440026"/>
            <a:ext cx="7498080" cy="704088"/>
          </a:xfrm>
        </p:spPr>
        <p:txBody>
          <a:bodyPr/>
          <a:lstStyle/>
          <a:p>
            <a:r>
              <a:rPr lang="en-IN" sz="7200" b="1" dirty="0">
                <a:latin typeface="Calibri" panose="020F0502020204030204" pitchFamily="34" charset="0"/>
                <a:ea typeface="Calibri" panose="020F0502020204030204" pitchFamily="34" charset="0"/>
                <a:cs typeface="Calibri" panose="020F0502020204030204" pitchFamily="34" charset="0"/>
              </a:rPr>
              <a:t>Algorithm Steps</a:t>
            </a:r>
            <a:br>
              <a:rPr lang="en-IN" b="1" dirty="0"/>
            </a:br>
            <a:endParaRPr lang="en-IN" sz="5400" dirty="0"/>
          </a:p>
        </p:txBody>
      </p:sp>
      <p:sp>
        <p:nvSpPr>
          <p:cNvPr id="5" name="TextBox 4">
            <a:extLst>
              <a:ext uri="{FF2B5EF4-FFF2-40B4-BE49-F238E27FC236}">
                <a16:creationId xmlns:a16="http://schemas.microsoft.com/office/drawing/2014/main" id="{5A576CFF-7D7C-7309-41D3-B432FFADFCF2}"/>
              </a:ext>
            </a:extLst>
          </p:cNvPr>
          <p:cNvSpPr txBox="1"/>
          <p:nvPr/>
        </p:nvSpPr>
        <p:spPr>
          <a:xfrm>
            <a:off x="1165123" y="2750208"/>
            <a:ext cx="10127226" cy="3927357"/>
          </a:xfrm>
          <a:prstGeom prst="rect">
            <a:avLst/>
          </a:prstGeom>
          <a:noFill/>
        </p:spPr>
        <p:txBody>
          <a:bodyPr wrap="square">
            <a:spAutoFit/>
          </a:bodyPr>
          <a:lstStyle/>
          <a:p>
            <a:pPr lvl="0">
              <a:lnSpc>
                <a:spcPct val="150000"/>
              </a:lnSpc>
              <a:tabLst>
                <a:tab pos="457200" algn="l"/>
              </a:tabLst>
            </a:pPr>
            <a:r>
              <a:rPr lang="en-IN" sz="2000" b="1" dirty="0">
                <a:effectLst/>
                <a:latin typeface="Calibri" panose="020F0502020204030204" pitchFamily="34" charset="0"/>
                <a:ea typeface="Times New Roman" panose="02020603050405020304" pitchFamily="18" charset="0"/>
                <a:cs typeface="Calibri" panose="020F0502020204030204" pitchFamily="34" charset="0"/>
              </a:rPr>
              <a:t>Step-1:- Dataset Collection</a:t>
            </a:r>
            <a:endParaRPr lang="en-IN" sz="20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Gather real and deepfake image datasets (FaceForensics++, DFDC, Celeb-DF).</a:t>
            </a:r>
          </a:p>
          <a:p>
            <a:pPr lvl="0">
              <a:lnSpc>
                <a:spcPct val="150000"/>
              </a:lnSpc>
              <a:tabLst>
                <a:tab pos="457200" algn="l"/>
              </a:tabLst>
            </a:pPr>
            <a:r>
              <a:rPr lang="en-IN" sz="2000" b="1" dirty="0">
                <a:effectLst/>
                <a:latin typeface="Calibri" panose="020F0502020204030204" pitchFamily="34" charset="0"/>
                <a:ea typeface="Times New Roman" panose="02020603050405020304" pitchFamily="18" charset="0"/>
                <a:cs typeface="Calibri" panose="020F0502020204030204" pitchFamily="34" charset="0"/>
              </a:rPr>
              <a:t>Step-2:- Data Preprocessing</a:t>
            </a:r>
            <a:endParaRPr lang="en-IN" sz="20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Face detection, cropping, resizing, and normalization.</a:t>
            </a: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Apply data augmentation to improve model robustness.</a:t>
            </a:r>
          </a:p>
          <a:p>
            <a:pPr lvl="0">
              <a:lnSpc>
                <a:spcPct val="150000"/>
              </a:lnSpc>
              <a:tabLst>
                <a:tab pos="457200" algn="l"/>
              </a:tabLst>
            </a:pPr>
            <a:r>
              <a:rPr lang="en-IN" sz="2000" b="1" dirty="0">
                <a:effectLst/>
                <a:latin typeface="Calibri" panose="020F0502020204030204" pitchFamily="34" charset="0"/>
                <a:ea typeface="Times New Roman" panose="02020603050405020304" pitchFamily="18" charset="0"/>
                <a:cs typeface="Calibri" panose="020F0502020204030204" pitchFamily="34" charset="0"/>
              </a:rPr>
              <a:t>Step-3:- Feature Extraction</a:t>
            </a:r>
            <a:endParaRPr lang="en-IN" sz="20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Compute </a:t>
            </a:r>
            <a:r>
              <a:rPr lang="en-IN" b="1" dirty="0">
                <a:effectLst/>
                <a:latin typeface="Calibri" panose="020F0502020204030204" pitchFamily="34" charset="0"/>
                <a:ea typeface="Times New Roman" panose="02020603050405020304" pitchFamily="18" charset="0"/>
                <a:cs typeface="Calibri" panose="020F0502020204030204" pitchFamily="34" charset="0"/>
              </a:rPr>
              <a:t>statistical features</a:t>
            </a:r>
            <a:r>
              <a:rPr lang="en-IN" dirty="0">
                <a:effectLst/>
                <a:latin typeface="Calibri" panose="020F0502020204030204" pitchFamily="34" charset="0"/>
                <a:ea typeface="Times New Roman" panose="02020603050405020304" pitchFamily="18" charset="0"/>
                <a:cs typeface="Calibri" panose="020F0502020204030204" pitchFamily="34" charset="0"/>
              </a:rPr>
              <a:t> (Mean, Variance, Skewness, Kurtosis, Correlation).</a:t>
            </a: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Extract </a:t>
            </a:r>
            <a:r>
              <a:rPr lang="en-IN" b="1" dirty="0">
                <a:effectLst/>
                <a:latin typeface="Calibri" panose="020F0502020204030204" pitchFamily="34" charset="0"/>
                <a:ea typeface="Times New Roman" panose="02020603050405020304" pitchFamily="18" charset="0"/>
                <a:cs typeface="Calibri" panose="020F0502020204030204" pitchFamily="34" charset="0"/>
              </a:rPr>
              <a:t>deep features</a:t>
            </a:r>
            <a:r>
              <a:rPr lang="en-IN" dirty="0">
                <a:effectLst/>
                <a:latin typeface="Calibri" panose="020F0502020204030204" pitchFamily="34" charset="0"/>
                <a:ea typeface="Times New Roman" panose="02020603050405020304" pitchFamily="18" charset="0"/>
                <a:cs typeface="Calibri" panose="020F0502020204030204" pitchFamily="34" charset="0"/>
              </a:rPr>
              <a:t> using CNN layers.</a:t>
            </a:r>
          </a:p>
          <a:p>
            <a:pPr marL="742950" lvl="1" indent="-285750">
              <a:lnSpc>
                <a:spcPct val="150000"/>
              </a:lnSpc>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Reduce dimensionality using </a:t>
            </a:r>
            <a:r>
              <a:rPr lang="en-IN" b="1" dirty="0">
                <a:effectLst/>
                <a:latin typeface="Calibri" panose="020F0502020204030204" pitchFamily="34" charset="0"/>
                <a:ea typeface="Times New Roman" panose="02020603050405020304" pitchFamily="18" charset="0"/>
                <a:cs typeface="Calibri" panose="020F0502020204030204" pitchFamily="34" charset="0"/>
              </a:rPr>
              <a:t>PCA</a:t>
            </a:r>
            <a:r>
              <a:rPr lang="en-IN" dirty="0">
                <a:effectLst/>
                <a:latin typeface="Calibri" panose="020F0502020204030204" pitchFamily="34" charset="0"/>
                <a:ea typeface="Times New Roman" panose="02020603050405020304" pitchFamily="18" charset="0"/>
                <a:cs typeface="Calibri" panose="020F0502020204030204" pitchFamily="34" charset="0"/>
              </a:rPr>
              <a:t> for optimal feature selection.</a:t>
            </a:r>
          </a:p>
        </p:txBody>
      </p:sp>
    </p:spTree>
    <p:extLst>
      <p:ext uri="{BB962C8B-B14F-4D97-AF65-F5344CB8AC3E}">
        <p14:creationId xmlns:p14="http://schemas.microsoft.com/office/powerpoint/2010/main" val="35968283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ADBC69-D19A-A66A-E048-E78AB60E095B}"/>
              </a:ext>
            </a:extLst>
          </p:cNvPr>
          <p:cNvSpPr>
            <a:spLocks noGrp="1"/>
          </p:cNvSpPr>
          <p:nvPr>
            <p:ph type="sldNum" sz="quarter" idx="12"/>
          </p:nvPr>
        </p:nvSpPr>
        <p:spPr/>
        <p:txBody>
          <a:bodyPr/>
          <a:lstStyle/>
          <a:p>
            <a:fld id="{5BFCF61C-3B18-4C03-8326-CC3B32D710C9}" type="slidenum">
              <a:rPr lang="en-US" noProof="0" smtClean="0"/>
              <a:t>11</a:t>
            </a:fld>
            <a:endParaRPr lang="en-US" noProof="0"/>
          </a:p>
        </p:txBody>
      </p:sp>
      <p:sp>
        <p:nvSpPr>
          <p:cNvPr id="4" name="Title 3">
            <a:extLst>
              <a:ext uri="{FF2B5EF4-FFF2-40B4-BE49-F238E27FC236}">
                <a16:creationId xmlns:a16="http://schemas.microsoft.com/office/drawing/2014/main" id="{A5429074-7441-6D41-764C-9CDD22F715DE}"/>
              </a:ext>
            </a:extLst>
          </p:cNvPr>
          <p:cNvSpPr>
            <a:spLocks noGrp="1"/>
          </p:cNvSpPr>
          <p:nvPr>
            <p:ph type="title"/>
          </p:nvPr>
        </p:nvSpPr>
        <p:spPr>
          <a:xfrm>
            <a:off x="2419386" y="1525632"/>
            <a:ext cx="7553785" cy="728405"/>
          </a:xfrm>
        </p:spPr>
        <p:txBody>
          <a:bodyPr/>
          <a:lstStyle/>
          <a:p>
            <a:r>
              <a:rPr lang="en-IN" sz="7200" b="1" dirty="0">
                <a:latin typeface="Calibri" panose="020F0502020204030204" pitchFamily="34" charset="0"/>
                <a:ea typeface="Calibri" panose="020F0502020204030204" pitchFamily="34" charset="0"/>
                <a:cs typeface="Calibri" panose="020F0502020204030204" pitchFamily="34" charset="0"/>
              </a:rPr>
              <a:t>Algorithm Steps</a:t>
            </a:r>
            <a:endParaRPr lang="en-IN" sz="7200" dirty="0"/>
          </a:p>
        </p:txBody>
      </p:sp>
      <p:sp>
        <p:nvSpPr>
          <p:cNvPr id="10" name="TextBox 9">
            <a:extLst>
              <a:ext uri="{FF2B5EF4-FFF2-40B4-BE49-F238E27FC236}">
                <a16:creationId xmlns:a16="http://schemas.microsoft.com/office/drawing/2014/main" id="{AED9512E-796C-9585-3BB3-A4CE3D0FA140}"/>
              </a:ext>
            </a:extLst>
          </p:cNvPr>
          <p:cNvSpPr txBox="1"/>
          <p:nvPr/>
        </p:nvSpPr>
        <p:spPr>
          <a:xfrm>
            <a:off x="1355834" y="2955262"/>
            <a:ext cx="9869214" cy="728405"/>
          </a:xfrm>
          <a:prstGeom prst="rect">
            <a:avLst/>
          </a:prstGeom>
          <a:noFill/>
        </p:spPr>
        <p:txBody>
          <a:bodyPr wrap="square" rtlCol="0">
            <a:spAutoFit/>
          </a:bodyPr>
          <a:lstStyle/>
          <a:p>
            <a:pPr>
              <a:spcBef>
                <a:spcPts val="400"/>
              </a:spcBef>
              <a:spcAft>
                <a:spcPts val="400"/>
              </a:spcAft>
            </a:pPr>
            <a:endParaRPr lang="en-US" sz="2000" dirty="0">
              <a:latin typeface="Calibri" panose="020F0502020204030204" pitchFamily="34" charset="0"/>
              <a:cs typeface="Calibri" panose="020F0502020204030204" pitchFamily="34" charset="0"/>
            </a:endParaRPr>
          </a:p>
          <a:p>
            <a:endParaRPr lang="en-IN" dirty="0"/>
          </a:p>
        </p:txBody>
      </p:sp>
      <p:sp>
        <p:nvSpPr>
          <p:cNvPr id="6" name="TextBox 5">
            <a:extLst>
              <a:ext uri="{FF2B5EF4-FFF2-40B4-BE49-F238E27FC236}">
                <a16:creationId xmlns:a16="http://schemas.microsoft.com/office/drawing/2014/main" id="{BF4C7364-55E2-7905-FC01-A11D444B7F08}"/>
              </a:ext>
            </a:extLst>
          </p:cNvPr>
          <p:cNvSpPr txBox="1"/>
          <p:nvPr/>
        </p:nvSpPr>
        <p:spPr>
          <a:xfrm>
            <a:off x="825911" y="2508441"/>
            <a:ext cx="11769212" cy="4670766"/>
          </a:xfrm>
          <a:prstGeom prst="rect">
            <a:avLst/>
          </a:prstGeom>
          <a:noFill/>
        </p:spPr>
        <p:txBody>
          <a:bodyPr wrap="square">
            <a:spAutoFit/>
          </a:bodyPr>
          <a:lstStyle/>
          <a:p>
            <a:pPr lvl="0">
              <a:lnSpc>
                <a:spcPct val="150000"/>
              </a:lnSpc>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Step-4:- Model Implementation</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Train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CNN</a:t>
            </a:r>
            <a:r>
              <a:rPr lang="en-IN" sz="1600" dirty="0">
                <a:effectLst/>
                <a:latin typeface="Calibri" panose="020F0502020204030204" pitchFamily="34" charset="0"/>
                <a:ea typeface="Times New Roman" panose="02020603050405020304" pitchFamily="18" charset="0"/>
                <a:cs typeface="Calibri" panose="020F0502020204030204" pitchFamily="34" charset="0"/>
              </a:rPr>
              <a:t> for automatic classification.</a:t>
            </a: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Train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SVM</a:t>
            </a:r>
            <a:r>
              <a:rPr lang="en-IN" sz="1600" dirty="0">
                <a:effectLst/>
                <a:latin typeface="Calibri" panose="020F0502020204030204" pitchFamily="34" charset="0"/>
                <a:ea typeface="Times New Roman" panose="02020603050405020304" pitchFamily="18" charset="0"/>
                <a:cs typeface="Calibri" panose="020F0502020204030204" pitchFamily="34" charset="0"/>
              </a:rPr>
              <a:t> using PCA or statistical features.</a:t>
            </a:r>
          </a:p>
          <a:p>
            <a:pPr lvl="0">
              <a:lnSpc>
                <a:spcPct val="150000"/>
              </a:lnSpc>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Step-5:- Statistical Analysis</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Perform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Chi-square</a:t>
            </a:r>
            <a:r>
              <a:rPr lang="en-IN" sz="1600" dirty="0">
                <a:effectLst/>
                <a:latin typeface="Calibri" panose="020F0502020204030204" pitchFamily="34" charset="0"/>
                <a:ea typeface="Times New Roman" panose="02020603050405020304" pitchFamily="18" charset="0"/>
                <a:cs typeface="Calibri" panose="020F0502020204030204" pitchFamily="34" charset="0"/>
              </a:rPr>
              <a:t>,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T-test</a:t>
            </a:r>
            <a:r>
              <a:rPr lang="en-IN" sz="1600" dirty="0">
                <a:effectLst/>
                <a:latin typeface="Calibri" panose="020F0502020204030204" pitchFamily="34" charset="0"/>
                <a:ea typeface="Times New Roman" panose="02020603050405020304" pitchFamily="18" charset="0"/>
                <a:cs typeface="Calibri" panose="020F0502020204030204" pitchFamily="34" charset="0"/>
              </a:rPr>
              <a:t>, and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K–S test</a:t>
            </a:r>
            <a:r>
              <a:rPr lang="en-IN" sz="1600" dirty="0">
                <a:effectLst/>
                <a:latin typeface="Calibri" panose="020F0502020204030204" pitchFamily="34" charset="0"/>
                <a:ea typeface="Times New Roman" panose="02020603050405020304" pitchFamily="18" charset="0"/>
                <a:cs typeface="Calibri" panose="020F0502020204030204" pitchFamily="34" charset="0"/>
              </a:rPr>
              <a:t> to compare real vs fake distributions.</a:t>
            </a: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Analyze feature dependencies using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Pearson/Spearman correlation</a:t>
            </a:r>
            <a:r>
              <a:rPr lang="en-IN" sz="1600" dirty="0">
                <a:effectLst/>
                <a:latin typeface="Calibri" panose="020F0502020204030204" pitchFamily="34" charset="0"/>
                <a:ea typeface="Times New Roman" panose="02020603050405020304" pitchFamily="18" charset="0"/>
                <a:cs typeface="Calibri" panose="020F0502020204030204" pitchFamily="34" charset="0"/>
              </a:rPr>
              <a:t> and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Mutual Information</a:t>
            </a:r>
            <a:r>
              <a:rPr lang="en-IN" sz="1600" dirty="0">
                <a:effectLst/>
                <a:latin typeface="Calibri" panose="020F0502020204030204" pitchFamily="34" charset="0"/>
                <a:ea typeface="Times New Roman" panose="02020603050405020304" pitchFamily="18" charset="0"/>
                <a:cs typeface="Calibri" panose="020F0502020204030204" pitchFamily="34" charset="0"/>
              </a:rPr>
              <a:t>.</a:t>
            </a:r>
          </a:p>
          <a:p>
            <a:pPr lvl="0">
              <a:lnSpc>
                <a:spcPct val="150000"/>
              </a:lnSpc>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Step-6:- Performance Evaluation</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Evaluate models using </a:t>
            </a:r>
            <a:r>
              <a:rPr lang="en-IN" sz="1600" b="1" dirty="0">
                <a:effectLst/>
                <a:latin typeface="Calibri" panose="020F0502020204030204" pitchFamily="34" charset="0"/>
                <a:ea typeface="Times New Roman" panose="02020603050405020304" pitchFamily="18" charset="0"/>
                <a:cs typeface="Calibri" panose="020F0502020204030204" pitchFamily="34" charset="0"/>
              </a:rPr>
              <a:t>Accuracy, Precision, Recall, and F1-Score</a:t>
            </a:r>
            <a:r>
              <a:rPr lang="en-IN" sz="1600" dirty="0">
                <a:effectLst/>
                <a:latin typeface="Calibri" panose="020F0502020204030204" pitchFamily="34" charset="0"/>
                <a:ea typeface="Times New Roman" panose="02020603050405020304" pitchFamily="18" charset="0"/>
                <a:cs typeface="Calibri" panose="020F0502020204030204" pitchFamily="34" charset="0"/>
              </a:rPr>
              <a:t>.</a:t>
            </a: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Compare CNN, PCA, and SVM performance based on statistical insights.</a:t>
            </a:r>
          </a:p>
          <a:p>
            <a:pPr lvl="0">
              <a:lnSpc>
                <a:spcPct val="150000"/>
              </a:lnSpc>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Step-7:- Result Interpretation</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Identify key statistical indicators that differentiate real and fake images</a:t>
            </a:r>
            <a:r>
              <a:rPr lang="en-IN" sz="1600" dirty="0">
                <a:latin typeface="Calibri" panose="020F0502020204030204" pitchFamily="34" charset="0"/>
                <a:ea typeface="Times New Roman" panose="02020603050405020304" pitchFamily="18" charset="0"/>
                <a:cs typeface="Calibri" panose="020F0502020204030204" pitchFamily="34" charset="0"/>
              </a:rPr>
              <a:t> &amp; </a:t>
            </a:r>
            <a:r>
              <a:rPr lang="en-IN" sz="1600" dirty="0">
                <a:effectLst/>
                <a:latin typeface="Calibri" panose="020F0502020204030204" pitchFamily="34" charset="0"/>
                <a:ea typeface="Times New Roman" panose="02020603050405020304" pitchFamily="18" charset="0"/>
                <a:cs typeface="Calibri" panose="020F0502020204030204" pitchFamily="34" charset="0"/>
              </a:rPr>
              <a:t>Propose an optimized hybrid detection framework.</a:t>
            </a:r>
          </a:p>
          <a:p>
            <a:pPr>
              <a:lnSpc>
                <a:spcPct val="150000"/>
              </a:lnSpc>
              <a:buNone/>
            </a:pPr>
            <a:r>
              <a:rPr lang="en-IN" sz="1600" dirty="0">
                <a:effectLst/>
                <a:latin typeface="Calibri" panose="020F0502020204030204" pitchFamily="34" charset="0"/>
                <a:ea typeface="Times New Roman" panose="02020603050405020304" pitchFamily="18" charset="0"/>
                <a:cs typeface="Calibri" panose="020F0502020204030204" pitchFamily="34" charset="0"/>
              </a:rPr>
              <a:t> </a:t>
            </a:r>
          </a:p>
        </p:txBody>
      </p:sp>
    </p:spTree>
    <p:extLst>
      <p:ext uri="{BB962C8B-B14F-4D97-AF65-F5344CB8AC3E}">
        <p14:creationId xmlns:p14="http://schemas.microsoft.com/office/powerpoint/2010/main" val="30780003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433DCD-A632-44DB-E307-4EE77091D60E}"/>
              </a:ext>
            </a:extLst>
          </p:cNvPr>
          <p:cNvSpPr txBox="1"/>
          <p:nvPr/>
        </p:nvSpPr>
        <p:spPr>
          <a:xfrm>
            <a:off x="339214" y="-263251"/>
            <a:ext cx="9287797" cy="1003031"/>
          </a:xfrm>
          <a:prstGeom prst="rect">
            <a:avLst/>
          </a:prstGeom>
          <a:noFill/>
        </p:spPr>
        <p:txBody>
          <a:bodyPr wrap="square">
            <a:spAutoFit/>
          </a:bodyPr>
          <a:lstStyle/>
          <a:p>
            <a:pPr>
              <a:lnSpc>
                <a:spcPct val="150000"/>
              </a:lnSpc>
              <a:spcBef>
                <a:spcPts val="1000"/>
              </a:spcBef>
              <a:buNone/>
            </a:pPr>
            <a:r>
              <a:rPr lang="en-IN" sz="4400"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Data Analysis Using Statistical Tools</a:t>
            </a:r>
          </a:p>
        </p:txBody>
      </p:sp>
      <p:sp>
        <p:nvSpPr>
          <p:cNvPr id="7" name="TextBox 6">
            <a:extLst>
              <a:ext uri="{FF2B5EF4-FFF2-40B4-BE49-F238E27FC236}">
                <a16:creationId xmlns:a16="http://schemas.microsoft.com/office/drawing/2014/main" id="{A5617C24-C099-573B-3DF2-CEB1E8E33037}"/>
              </a:ext>
            </a:extLst>
          </p:cNvPr>
          <p:cNvSpPr txBox="1"/>
          <p:nvPr/>
        </p:nvSpPr>
        <p:spPr>
          <a:xfrm>
            <a:off x="103239" y="739780"/>
            <a:ext cx="10559845" cy="6481261"/>
          </a:xfrm>
          <a:prstGeom prst="rect">
            <a:avLst/>
          </a:prstGeom>
          <a:noFill/>
        </p:spPr>
        <p:txBody>
          <a:bodyPr wrap="square">
            <a:spAutoFit/>
          </a:bodyPr>
          <a:lstStyle/>
          <a:p>
            <a:pPr>
              <a:spcBef>
                <a:spcPts val="300"/>
              </a:spcBef>
              <a:spcAft>
                <a:spcPts val="800"/>
              </a:spcAft>
              <a:buNone/>
            </a:pPr>
            <a:r>
              <a:rPr lang="en-IN" sz="24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Overview</a:t>
            </a:r>
          </a:p>
          <a:p>
            <a:pPr marL="285750" indent="-285750">
              <a:spcBef>
                <a:spcPts val="300"/>
              </a:spcBef>
              <a:spcAft>
                <a:spcPts val="800"/>
              </a:spcAft>
              <a:buFont typeface="Arial" panose="020B0604020202020204" pitchFamily="34" charset="0"/>
              <a:buChar char="•"/>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Statistical analysis helps identify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hidden patterns and inconsistencies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between </a:t>
            </a:r>
            <a:r>
              <a:rPr lang="en-IN"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real</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and </a:t>
            </a:r>
            <a:r>
              <a:rPr lang="en-IN"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deepfake</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images.</a:t>
            </a:r>
          </a:p>
          <a:p>
            <a:pPr marL="285750" indent="-285750">
              <a:spcBef>
                <a:spcPts val="300"/>
              </a:spcBef>
              <a:spcAft>
                <a:spcPts val="800"/>
              </a:spcAft>
              <a:buFont typeface="Arial" panose="020B0604020202020204" pitchFamily="34" charset="0"/>
              <a:buChar char="•"/>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It supports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model validation</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feature interpretation</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and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result reliability</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through quantitative evidence.</a:t>
            </a:r>
          </a:p>
          <a:p>
            <a:pPr marL="285750" indent="-285750">
              <a:spcBef>
                <a:spcPts val="300"/>
              </a:spcBef>
              <a:spcAft>
                <a:spcPts val="800"/>
              </a:spcAft>
              <a:buFont typeface="Wingdings" panose="05000000000000000000" pitchFamily="2" charset="2"/>
              <a:buChar char="q"/>
            </a:pPr>
            <a:r>
              <a:rPr lang="en-IN"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Step 1: Data Preparation</a:t>
            </a:r>
          </a:p>
          <a:p>
            <a:pPr marL="342900" lvl="0" indent="-342900">
              <a:spcBef>
                <a:spcPts val="300"/>
              </a:spcBef>
              <a:spcAft>
                <a:spcPts val="800"/>
              </a:spcAft>
              <a:buSzPts val="1000"/>
              <a:buFont typeface="Symbol" panose="05050102010706020507" pitchFamily="18" charset="2"/>
              <a:buChar char=""/>
              <a:tabLst>
                <a:tab pos="4572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Collected both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real and fake image samples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p>
          <a:p>
            <a:pPr marL="342900" lvl="0" indent="-342900">
              <a:spcBef>
                <a:spcPts val="300"/>
              </a:spcBef>
              <a:spcAft>
                <a:spcPts val="800"/>
              </a:spcAft>
              <a:buSzPts val="1000"/>
              <a:buFont typeface="Symbol" panose="05050102010706020507" pitchFamily="18" charset="2"/>
              <a:buChar char=""/>
              <a:tabLst>
                <a:tab pos="4572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Extracted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pixel-level features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such as RGB intensity values, histograms, and frequency domain data.</a:t>
            </a:r>
          </a:p>
          <a:p>
            <a:pPr marL="342900" lvl="0" indent="-342900">
              <a:spcBef>
                <a:spcPts val="300"/>
              </a:spcBef>
              <a:spcAft>
                <a:spcPts val="800"/>
              </a:spcAft>
              <a:buSzPts val="1000"/>
              <a:buFont typeface="Symbol" panose="05050102010706020507" pitchFamily="18" charset="2"/>
              <a:buChar char=""/>
              <a:tabLst>
                <a:tab pos="4572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Converted images into numerical matrices for statistical evaluation.</a:t>
            </a:r>
          </a:p>
          <a:p>
            <a:pPr marL="285750" indent="-285750">
              <a:spcBef>
                <a:spcPts val="300"/>
              </a:spcBef>
              <a:spcAft>
                <a:spcPts val="800"/>
              </a:spcAft>
              <a:buFont typeface="Wingdings" panose="05000000000000000000" pitchFamily="2" charset="2"/>
              <a:buChar char="q"/>
            </a:pPr>
            <a:r>
              <a:rPr lang="en-IN"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Step 2: Apply Statistical Tools</a:t>
            </a:r>
          </a:p>
          <a:p>
            <a:pPr>
              <a:spcBef>
                <a:spcPts val="300"/>
              </a:spcBef>
              <a:spcAft>
                <a:spcPts val="800"/>
              </a:spcAft>
              <a:buNone/>
            </a:pPr>
            <a:r>
              <a:rPr lang="en-IN" sz="2000" dirty="0">
                <a:effectLst/>
                <a:latin typeface="Calibri" panose="020F0502020204030204" pitchFamily="34" charset="0"/>
                <a:ea typeface="Calibri" panose="020F0502020204030204" pitchFamily="34" charset="0"/>
                <a:cs typeface="Calibri" panose="020F0502020204030204" pitchFamily="34" charset="0"/>
              </a:rPr>
              <a:t> </a:t>
            </a:r>
            <a:r>
              <a:rPr lang="en-IN" sz="20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1. </a:t>
            </a:r>
            <a:r>
              <a:rPr lang="en-IN" sz="2000" b="1" i="1" u="sng"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Descriptive Statistics</a:t>
            </a:r>
          </a:p>
          <a:p>
            <a:pPr marL="285750" indent="-285750">
              <a:spcBef>
                <a:spcPts val="300"/>
              </a:spcBef>
              <a:spcAft>
                <a:spcPts val="800"/>
              </a:spcAft>
              <a:buFont typeface="Wingdings" panose="05000000000000000000" pitchFamily="2" charset="2"/>
              <a:buChar char="Ø"/>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Definition:</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Descriptive statistics summarize data characteristics such as average, spread, and shape.</a:t>
            </a:r>
          </a:p>
          <a:p>
            <a:pPr marL="285750" indent="-285750">
              <a:spcBef>
                <a:spcPts val="300"/>
              </a:spcBef>
              <a:spcAft>
                <a:spcPts val="800"/>
              </a:spcAft>
              <a:buFont typeface="Wingdings" panose="05000000000000000000" pitchFamily="2" charset="2"/>
              <a:buChar char="Ø"/>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Tools Used:</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Mean, Variance, Standard Deviation, Skewness, and Kurtosis.</a:t>
            </a:r>
          </a:p>
          <a:p>
            <a:pPr marL="285750" indent="-285750">
              <a:spcBef>
                <a:spcPts val="300"/>
              </a:spcBef>
              <a:spcAft>
                <a:spcPts val="800"/>
              </a:spcAft>
              <a:buFont typeface="Wingdings" panose="05000000000000000000" pitchFamily="2" charset="2"/>
              <a:buChar char="Ø"/>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800"/>
              </a:spcAft>
              <a:buSzPts val="1000"/>
              <a:buFont typeface="Symbol" panose="05050102010706020507" pitchFamily="18" charset="2"/>
              <a:buChar char=""/>
              <a:tabLst>
                <a:tab pos="4572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understand pixel intensity patterns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and identify abnormal variations in fake images.</a:t>
            </a:r>
          </a:p>
          <a:p>
            <a:pPr marL="342900" lvl="0" indent="-342900">
              <a:spcBef>
                <a:spcPts val="300"/>
              </a:spcBef>
              <a:spcAft>
                <a:spcPts val="500"/>
              </a:spcAft>
              <a:buSzPts val="1000"/>
              <a:buFont typeface="Symbol" panose="05050102010706020507" pitchFamily="18" charset="2"/>
              <a:buChar char=""/>
              <a:tabLst>
                <a:tab pos="4572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Real images generally have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natural intensity variation</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whereas deepfakes show </a:t>
            </a: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artificial smoothing or distortions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b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br>
            <a:r>
              <a:rPr lang="en-IN" dirty="0">
                <a:effectLst/>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0523859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500"/>
                                        <p:tgtEl>
                                          <p:spTgt spid="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500"/>
                                        <p:tgtEl>
                                          <p:spTgt spid="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500"/>
                                        <p:tgtEl>
                                          <p:spTgt spid="7">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6" end="6"/>
                                            </p:txEl>
                                          </p:spTgt>
                                        </p:tgtEl>
                                        <p:attrNameLst>
                                          <p:attrName>style.visibility</p:attrName>
                                        </p:attrNameLst>
                                      </p:cBhvr>
                                      <p:to>
                                        <p:strVal val="visible"/>
                                      </p:to>
                                    </p:set>
                                    <p:animEffect transition="in" filter="fade">
                                      <p:cBhvr>
                                        <p:cTn id="30" dur="500"/>
                                        <p:tgtEl>
                                          <p:spTgt spid="7">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animEffect transition="in" filter="fade">
                                      <p:cBhvr>
                                        <p:cTn id="33" dur="500"/>
                                        <p:tgtEl>
                                          <p:spTgt spid="7">
                                            <p:txEl>
                                              <p:pRg st="7" end="7"/>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8" end="8"/>
                                            </p:txEl>
                                          </p:spTgt>
                                        </p:tgtEl>
                                        <p:attrNameLst>
                                          <p:attrName>style.visibility</p:attrName>
                                        </p:attrNameLst>
                                      </p:cBhvr>
                                      <p:to>
                                        <p:strVal val="visible"/>
                                      </p:to>
                                    </p:set>
                                    <p:animEffect transition="in" filter="fade">
                                      <p:cBhvr>
                                        <p:cTn id="36" dur="500"/>
                                        <p:tgtEl>
                                          <p:spTgt spid="7">
                                            <p:txEl>
                                              <p:pRg st="8" end="8"/>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animEffect transition="in" filter="fade">
                                      <p:cBhvr>
                                        <p:cTn id="39" dur="500"/>
                                        <p:tgtEl>
                                          <p:spTgt spid="7">
                                            <p:txEl>
                                              <p:pRg st="9" end="9"/>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
                                            <p:txEl>
                                              <p:pRg st="10" end="10"/>
                                            </p:txEl>
                                          </p:spTgt>
                                        </p:tgtEl>
                                        <p:attrNameLst>
                                          <p:attrName>style.visibility</p:attrName>
                                        </p:attrNameLst>
                                      </p:cBhvr>
                                      <p:to>
                                        <p:strVal val="visible"/>
                                      </p:to>
                                    </p:set>
                                    <p:animEffect transition="in" filter="fade">
                                      <p:cBhvr>
                                        <p:cTn id="42" dur="500"/>
                                        <p:tgtEl>
                                          <p:spTgt spid="7">
                                            <p:txEl>
                                              <p:pRg st="10" end="1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
                                            <p:txEl>
                                              <p:pRg st="11" end="11"/>
                                            </p:txEl>
                                          </p:spTgt>
                                        </p:tgtEl>
                                        <p:attrNameLst>
                                          <p:attrName>style.visibility</p:attrName>
                                        </p:attrNameLst>
                                      </p:cBhvr>
                                      <p:to>
                                        <p:strVal val="visible"/>
                                      </p:to>
                                    </p:set>
                                    <p:animEffect transition="in" filter="fade">
                                      <p:cBhvr>
                                        <p:cTn id="45" dur="500"/>
                                        <p:tgtEl>
                                          <p:spTgt spid="7">
                                            <p:txEl>
                                              <p:pRg st="11" end="11"/>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
                                            <p:txEl>
                                              <p:pRg st="12" end="12"/>
                                            </p:txEl>
                                          </p:spTgt>
                                        </p:tgtEl>
                                        <p:attrNameLst>
                                          <p:attrName>style.visibility</p:attrName>
                                        </p:attrNameLst>
                                      </p:cBhvr>
                                      <p:to>
                                        <p:strVal val="visible"/>
                                      </p:to>
                                    </p:set>
                                    <p:animEffect transition="in" filter="fade">
                                      <p:cBhvr>
                                        <p:cTn id="48" dur="500"/>
                                        <p:tgtEl>
                                          <p:spTgt spid="7">
                                            <p:txEl>
                                              <p:pRg st="12" end="12"/>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
                                            <p:txEl>
                                              <p:pRg st="13" end="13"/>
                                            </p:txEl>
                                          </p:spTgt>
                                        </p:tgtEl>
                                        <p:attrNameLst>
                                          <p:attrName>style.visibility</p:attrName>
                                        </p:attrNameLst>
                                      </p:cBhvr>
                                      <p:to>
                                        <p:strVal val="visible"/>
                                      </p:to>
                                    </p:set>
                                    <p:animEffect transition="in" filter="fade">
                                      <p:cBhvr>
                                        <p:cTn id="51"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0D5936-E50F-5CD2-AFE8-576C46C76AE0}"/>
              </a:ext>
            </a:extLst>
          </p:cNvPr>
          <p:cNvSpPr txBox="1"/>
          <p:nvPr/>
        </p:nvSpPr>
        <p:spPr>
          <a:xfrm>
            <a:off x="162233" y="176981"/>
            <a:ext cx="9748683" cy="6924973"/>
          </a:xfrm>
          <a:prstGeom prst="rect">
            <a:avLst/>
          </a:prstGeom>
          <a:noFill/>
        </p:spPr>
        <p:txBody>
          <a:bodyPr wrap="square">
            <a:spAutoFit/>
          </a:bodyPr>
          <a:lstStyle/>
          <a:p>
            <a:pPr lvl="0">
              <a:spcBef>
                <a:spcPts val="400"/>
              </a:spcBef>
              <a:spcAft>
                <a:spcPts val="800"/>
              </a:spcAft>
              <a:buSzPts val="1000"/>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Conclusion</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endPar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lvl="0">
              <a:spcBef>
                <a:spcPts val="400"/>
              </a:spcBef>
              <a:spcAft>
                <a:spcPts val="800"/>
              </a:spcAft>
              <a:buSzPts val="1000"/>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Deepfake images often exhibit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higher variance and skewness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showing unnatural intensity distribution compared to real images.</a:t>
            </a:r>
          </a:p>
          <a:p>
            <a:pPr>
              <a:spcBef>
                <a:spcPts val="400"/>
              </a:spcBef>
              <a:spcAft>
                <a:spcPts val="800"/>
              </a:spcAft>
              <a:buNone/>
            </a:pPr>
            <a:r>
              <a:rPr lang="en-IN" sz="1600" dirty="0">
                <a:solidFill>
                  <a:srgbClr val="9A96F4"/>
                </a:solidFill>
                <a:effectLst/>
                <a:latin typeface="Calibri" panose="020F0502020204030204" pitchFamily="34" charset="0"/>
                <a:ea typeface="Calibri" panose="020F0502020204030204" pitchFamily="34" charset="0"/>
                <a:cs typeface="Calibri" panose="020F0502020204030204" pitchFamily="34" charset="0"/>
              </a:rPr>
              <a:t> </a:t>
            </a:r>
            <a:r>
              <a:rPr lang="en-IN" sz="20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2</a:t>
            </a:r>
            <a:r>
              <a:rPr lang="en-IN" sz="1600" b="0"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Histogram-Based Analysis</a:t>
            </a:r>
            <a:endParaRPr lang="en-IN" sz="16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endParaRPr>
          </a:p>
          <a:p>
            <a:pPr marL="285750" indent="-285750">
              <a:spcBef>
                <a:spcPts val="400"/>
              </a:spcBef>
              <a:spcAft>
                <a:spcPts val="8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Definition:</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 histogram displays the frequency distribution of pixel intensities in an image.</a:t>
            </a:r>
          </a:p>
          <a:p>
            <a:pPr marL="285750" indent="-285750">
              <a:spcBef>
                <a:spcPts val="400"/>
              </a:spcBef>
              <a:spcAft>
                <a:spcPts val="8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a:t>
            </a:r>
            <a:endPar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400"/>
              </a:spcBef>
              <a:spcAft>
                <a:spcPts val="800"/>
              </a:spcAft>
              <a:buSzPts val="1000"/>
              <a:buFont typeface="Symbol" panose="05050102010706020507" pitchFamily="18" charset="2"/>
              <a:buChar char=""/>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 analyze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brightness and contrast patterns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p>
          <a:p>
            <a:pPr marL="342900" lvl="0" indent="-342900">
              <a:spcBef>
                <a:spcPts val="400"/>
              </a:spcBef>
              <a:spcAft>
                <a:spcPts val="800"/>
              </a:spcAft>
              <a:buSzPts val="1000"/>
              <a:buFont typeface="Symbol" panose="05050102010706020507" pitchFamily="18" charset="2"/>
              <a:buChar char=""/>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Detects inconsistencies caused by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image blending or synthesis artifacts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p>
          <a:p>
            <a:pPr lvl="0">
              <a:spcBef>
                <a:spcPts val="400"/>
              </a:spcBef>
              <a:spcAft>
                <a:spcPts val="800"/>
              </a:spcAft>
              <a:buSzPts val="1000"/>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Conclusion</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endPar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lvl="0">
              <a:spcBef>
                <a:spcPts val="400"/>
              </a:spcBef>
              <a:spcAft>
                <a:spcPts val="800"/>
              </a:spcAft>
              <a:buSzPts val="1000"/>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Fake images show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spike patterns or uneven distributions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indicating manipulation in brightness or contrast levels.</a:t>
            </a:r>
          </a:p>
          <a:p>
            <a:pPr>
              <a:spcBef>
                <a:spcPts val="400"/>
              </a:spcBef>
              <a:spcAft>
                <a:spcPts val="800"/>
              </a:spcAft>
              <a:buNone/>
            </a:pPr>
            <a:r>
              <a:rPr lang="en-IN" sz="2000" b="1" dirty="0">
                <a:solidFill>
                  <a:srgbClr val="9A96F4"/>
                </a:solidFill>
                <a:effectLst/>
                <a:latin typeface="Calibri" panose="020F0502020204030204" pitchFamily="34" charset="0"/>
                <a:ea typeface="Calibri" panose="020F0502020204030204" pitchFamily="34" charset="0"/>
                <a:cs typeface="Calibri" panose="020F0502020204030204" pitchFamily="34" charset="0"/>
              </a:rPr>
              <a:t> </a:t>
            </a:r>
            <a:r>
              <a:rPr lang="en-IN" sz="20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3. Hypothesis Testing</a:t>
            </a:r>
          </a:p>
          <a:p>
            <a:pPr marL="285750" indent="-285750">
              <a:spcBef>
                <a:spcPts val="400"/>
              </a:spcBef>
              <a:spcAft>
                <a:spcPts val="8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Definition:</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Hypothesis testing determines whether the observed data differences between two groups (real vs fake) are statistically significant.</a:t>
            </a:r>
          </a:p>
          <a:p>
            <a:pPr marL="285750" indent="-285750">
              <a:spcBef>
                <a:spcPts val="400"/>
              </a:spcBef>
              <a:spcAft>
                <a:spcPts val="8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Tests Used:</a:t>
            </a:r>
          </a:p>
          <a:p>
            <a:pPr marL="285750" indent="-285750">
              <a:spcBef>
                <a:spcPts val="400"/>
              </a:spcBef>
              <a:spcAft>
                <a:spcPts val="800"/>
              </a:spcAft>
              <a:buFont typeface="Wingdings" panose="05000000000000000000" pitchFamily="2" charset="2"/>
              <a:buChar char="§"/>
            </a:pPr>
            <a:r>
              <a:rPr lang="en-IN" b="1" dirty="0">
                <a:solidFill>
                  <a:schemeClr val="bg1"/>
                </a:solidFill>
                <a:latin typeface="Calibri" panose="020F0502020204030204" pitchFamily="34" charset="0"/>
                <a:cs typeface="Calibri" panose="020F0502020204030204" pitchFamily="34" charset="0"/>
              </a:rPr>
              <a:t>Chi-Square Test:</a:t>
            </a:r>
            <a:r>
              <a:rPr lang="en-IN" dirty="0">
                <a:solidFill>
                  <a:schemeClr val="bg1"/>
                </a:solidFill>
                <a:latin typeface="Calibri" panose="020F0502020204030204" pitchFamily="34" charset="0"/>
                <a:cs typeface="Calibri" panose="020F0502020204030204" pitchFamily="34" charset="0"/>
              </a:rPr>
              <a:t> Compares expected vs observed pixel intensity distributions.</a:t>
            </a:r>
          </a:p>
          <a:p>
            <a:pPr>
              <a:spcBef>
                <a:spcPts val="400"/>
              </a:spcBef>
              <a:spcAft>
                <a:spcPts val="800"/>
              </a:spcAft>
            </a:pPr>
            <a:endPar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78556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E417E4-D96B-BAA4-2F11-6CFF00AF8EC2}"/>
              </a:ext>
            </a:extLst>
          </p:cNvPr>
          <p:cNvSpPr txBox="1"/>
          <p:nvPr/>
        </p:nvSpPr>
        <p:spPr>
          <a:xfrm>
            <a:off x="147484" y="212735"/>
            <a:ext cx="9940413" cy="6432530"/>
          </a:xfrm>
          <a:prstGeom prst="rect">
            <a:avLst/>
          </a:prstGeom>
          <a:noFill/>
        </p:spPr>
        <p:txBody>
          <a:bodyPr wrap="square">
            <a:spAutoFit/>
          </a:bodyPr>
          <a:lstStyle/>
          <a:p>
            <a:pPr marL="342900" lvl="0" indent="-342900">
              <a:spcBef>
                <a:spcPts val="400"/>
              </a:spcBef>
              <a:spcAft>
                <a:spcPts val="600"/>
              </a:spcAft>
              <a:buSzPts val="1000"/>
              <a:buFont typeface="Wingdings" panose="05000000000000000000" pitchFamily="2" charset="2"/>
              <a:buChar char="§"/>
              <a:tabLst>
                <a:tab pos="457200" algn="l"/>
              </a:tabLst>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Kolmogorov–Smirnov (K–S) Test:</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Checks whether real and fake image features follow different distributions.</a:t>
            </a:r>
          </a:p>
          <a:p>
            <a:pPr marL="342900" lvl="0" indent="-342900">
              <a:spcBef>
                <a:spcPts val="400"/>
              </a:spcBef>
              <a:spcAft>
                <a:spcPts val="600"/>
              </a:spcAft>
              <a:buSzPts val="1000"/>
              <a:buFont typeface="Wingdings" panose="05000000000000000000" pitchFamily="2" charset="2"/>
              <a:buChar char="§"/>
              <a:tabLst>
                <a:tab pos="457200" algn="l"/>
              </a:tabLst>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T-Test / Mann–Whitney U Test:</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Compares mean feature differences between two datasets.</a:t>
            </a:r>
          </a:p>
          <a:p>
            <a:pPr marL="342900" lvl="0" indent="-342900">
              <a:spcBef>
                <a:spcPts val="400"/>
              </a:spcBef>
              <a:spcAft>
                <a:spcPts val="600"/>
              </a:spcAft>
              <a:buSzPts val="1000"/>
              <a:buFont typeface="Wingdings" panose="05000000000000000000" pitchFamily="2" charset="2"/>
              <a:buChar char="Ø"/>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a:t>
            </a:r>
            <a:endPar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400"/>
              </a:spcBef>
              <a:spcAft>
                <a:spcPts val="600"/>
              </a:spcAft>
              <a:buSzPts val="1000"/>
              <a:buFont typeface="Symbol" panose="05050102010706020507" pitchFamily="18" charset="2"/>
              <a:buChar char=""/>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 confirm if deepfake and real images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belong to statistically distinct populations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b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br>
            <a:endPar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400"/>
              </a:spcBef>
              <a:spcAft>
                <a:spcPts val="600"/>
              </a:spcAft>
              <a:buSzPts val="1000"/>
              <a:buFont typeface="Wingdings" panose="05000000000000000000" pitchFamily="2" charset="2"/>
              <a:buChar char="Ø"/>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Conclusion</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endPar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lvl="0">
              <a:spcBef>
                <a:spcPts val="400"/>
              </a:spcBef>
              <a:spcAft>
                <a:spcPts val="600"/>
              </a:spcAft>
              <a:buSzPts val="1000"/>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Results show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significant p-values (&lt;0.05)</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confirming that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real and fake images have statistically different distributions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p>
          <a:p>
            <a:pPr lvl="0">
              <a:spcBef>
                <a:spcPts val="400"/>
              </a:spcBef>
              <a:spcAft>
                <a:spcPts val="600"/>
              </a:spcAft>
              <a:buSzPts val="1000"/>
              <a:tabLst>
                <a:tab pos="457200" algn="l"/>
              </a:tabLst>
            </a:pPr>
            <a:endParaRPr lang="en-IN"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spcBef>
                <a:spcPts val="400"/>
              </a:spcBef>
              <a:spcAft>
                <a:spcPts val="600"/>
              </a:spcAft>
              <a:buNone/>
            </a:pPr>
            <a:r>
              <a:rPr lang="en-IN" sz="2000" b="1" dirty="0">
                <a:solidFill>
                  <a:srgbClr val="9A96F4"/>
                </a:solidFill>
                <a:effectLst/>
                <a:latin typeface="Calibri" panose="020F0502020204030204" pitchFamily="34" charset="0"/>
                <a:ea typeface="Calibri" panose="020F0502020204030204" pitchFamily="34" charset="0"/>
                <a:cs typeface="Calibri" panose="020F0502020204030204" pitchFamily="34" charset="0"/>
              </a:rPr>
              <a:t> </a:t>
            </a:r>
            <a:r>
              <a:rPr lang="en-IN" sz="2000" b="1" i="1" dirty="0">
                <a:solidFill>
                  <a:srgbClr val="9A96F4"/>
                </a:solidFill>
                <a:effectLst/>
                <a:latin typeface="Calibri" panose="020F0502020204030204" pitchFamily="34" charset="0"/>
                <a:ea typeface="Times New Roman" panose="02020603050405020304" pitchFamily="18" charset="0"/>
                <a:cs typeface="Calibri" panose="020F0502020204030204" pitchFamily="34" charset="0"/>
              </a:rPr>
              <a:t>4. Correlation &amp; Dependency Measures</a:t>
            </a:r>
          </a:p>
          <a:p>
            <a:pPr marL="285750" indent="-285750">
              <a:spcBef>
                <a:spcPts val="400"/>
              </a:spcBef>
              <a:spcAft>
                <a:spcPts val="6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Definition:</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Correlation quantifies how strongly two variables are related.</a:t>
            </a:r>
          </a:p>
          <a:p>
            <a:pPr marL="285750" indent="-285750">
              <a:spcBef>
                <a:spcPts val="400"/>
              </a:spcBef>
              <a:spcAft>
                <a:spcPts val="600"/>
              </a:spcAft>
              <a:buFont typeface="Wingdings" panose="05000000000000000000" pitchFamily="2" charset="2"/>
              <a:buChar char="Ø"/>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Tools Used:</a:t>
            </a:r>
            <a:endPar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400"/>
              </a:spcBef>
              <a:spcAft>
                <a:spcPts val="600"/>
              </a:spcAft>
              <a:buSzPts val="1000"/>
              <a:buFont typeface="Symbol" panose="05050102010706020507" pitchFamily="18" charset="2"/>
              <a:buChar char=""/>
              <a:tabLst>
                <a:tab pos="457200" algn="l"/>
              </a:tabLst>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Pearson / Spearman Correlation:</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Measures relationship strength between RGB channels</a:t>
            </a:r>
            <a:r>
              <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rPr>
              <a:t> &amp; </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Evaluates dependency between pixel features.</a:t>
            </a:r>
          </a:p>
          <a:p>
            <a:pPr marL="285750" lvl="0" indent="-285750">
              <a:spcBef>
                <a:spcPts val="400"/>
              </a:spcBef>
              <a:spcAft>
                <a:spcPts val="600"/>
              </a:spcAft>
              <a:buSzPts val="1000"/>
              <a:buFont typeface="Wingdings" panose="05000000000000000000" pitchFamily="2" charset="2"/>
              <a:buChar char="Ø"/>
              <a:tabLst>
                <a:tab pos="457200" algn="l"/>
              </a:tabLst>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a:t>
            </a:r>
            <a:endPar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400"/>
              </a:spcBef>
              <a:spcAft>
                <a:spcPts val="600"/>
              </a:spcAft>
              <a:buSzPts val="1000"/>
              <a:buFont typeface="Symbol" panose="05050102010706020507" pitchFamily="18" charset="2"/>
              <a:buChar char=""/>
              <a:tabLst>
                <a:tab pos="457200" algn="l"/>
              </a:tabLst>
            </a:pP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To identify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inconsistencies between color channels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or texture relationships.</a:t>
            </a:r>
          </a:p>
        </p:txBody>
      </p:sp>
    </p:spTree>
    <p:extLst>
      <p:ext uri="{BB962C8B-B14F-4D97-AF65-F5344CB8AC3E}">
        <p14:creationId xmlns:p14="http://schemas.microsoft.com/office/powerpoint/2010/main" val="1616341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AE7913-EB42-DDE5-E263-12C555EFE3CA}"/>
              </a:ext>
            </a:extLst>
          </p:cNvPr>
          <p:cNvSpPr txBox="1"/>
          <p:nvPr/>
        </p:nvSpPr>
        <p:spPr>
          <a:xfrm>
            <a:off x="165918" y="174126"/>
            <a:ext cx="9420533" cy="6806992"/>
          </a:xfrm>
          <a:prstGeom prst="rect">
            <a:avLst/>
          </a:prstGeom>
          <a:noFill/>
        </p:spPr>
        <p:txBody>
          <a:bodyPr wrap="square">
            <a:spAutoFit/>
          </a:bodyPr>
          <a:lstStyle/>
          <a:p>
            <a:pPr marL="285750" lvl="0" indent="-285750">
              <a:spcBef>
                <a:spcPts val="400"/>
              </a:spcBef>
              <a:spcAft>
                <a:spcPts val="600"/>
              </a:spcAft>
              <a:buSzPts val="1000"/>
              <a:buFont typeface="Wingdings" panose="05000000000000000000" pitchFamily="2" charset="2"/>
              <a:buChar char="Ø"/>
              <a:tabLst>
                <a:tab pos="457200" algn="l"/>
              </a:tabLst>
            </a:pP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Conclusion:</a:t>
            </a:r>
            <a:b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b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Fake images showed </a:t>
            </a:r>
            <a:r>
              <a:rPr lang="en-IN" sz="18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weaker RGB correlations</a:t>
            </a:r>
            <a:r>
              <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revealing unnatural color blending and inconsistent feature dependencies.</a:t>
            </a:r>
          </a:p>
          <a:p>
            <a:pPr marL="285750" indent="-285750">
              <a:spcBef>
                <a:spcPts val="400"/>
              </a:spcBef>
              <a:spcAft>
                <a:spcPts val="800"/>
              </a:spcAft>
              <a:buFont typeface="Wingdings" panose="05000000000000000000" pitchFamily="2" charset="2"/>
              <a:buChar char="q"/>
            </a:pPr>
            <a:r>
              <a:rPr lang="en-IN" b="1" dirty="0">
                <a:solidFill>
                  <a:schemeClr val="bg1"/>
                </a:solidFill>
                <a:latin typeface="Calibri" panose="020F0502020204030204" pitchFamily="34" charset="0"/>
                <a:cs typeface="Calibri" panose="020F0502020204030204" pitchFamily="34" charset="0"/>
              </a:rPr>
              <a:t>Step 3: Model Integration</a:t>
            </a:r>
          </a:p>
          <a:p>
            <a:pPr marL="285750" lvl="0" indent="-285750">
              <a:spcBef>
                <a:spcPts val="400"/>
              </a:spcBef>
              <a:spcAft>
                <a:spcPts val="800"/>
              </a:spcAft>
              <a:buFont typeface="Arial" panose="020B0604020202020204" pitchFamily="34" charset="0"/>
              <a:buChar char="•"/>
            </a:pPr>
            <a:r>
              <a:rPr lang="en-IN" dirty="0">
                <a:solidFill>
                  <a:schemeClr val="bg1"/>
                </a:solidFill>
                <a:latin typeface="Calibri" panose="020F0502020204030204" pitchFamily="34" charset="0"/>
                <a:cs typeface="Calibri" panose="020F0502020204030204" pitchFamily="34" charset="0"/>
              </a:rPr>
              <a:t>The statistically significant features were integrated into </a:t>
            </a:r>
            <a:r>
              <a:rPr lang="en-IN" b="1" dirty="0">
                <a:solidFill>
                  <a:schemeClr val="bg1"/>
                </a:solidFill>
                <a:latin typeface="Calibri" panose="020F0502020204030204" pitchFamily="34" charset="0"/>
                <a:cs typeface="Calibri" panose="020F0502020204030204" pitchFamily="34" charset="0"/>
              </a:rPr>
              <a:t>PCA, SVM, and CNN</a:t>
            </a:r>
            <a:r>
              <a:rPr lang="en-IN" dirty="0">
                <a:solidFill>
                  <a:schemeClr val="bg1"/>
                </a:solidFill>
                <a:latin typeface="Calibri" panose="020F0502020204030204" pitchFamily="34" charset="0"/>
                <a:cs typeface="Calibri" panose="020F0502020204030204" pitchFamily="34" charset="0"/>
              </a:rPr>
              <a:t> pipelines.</a:t>
            </a:r>
          </a:p>
          <a:p>
            <a:pPr marL="285750" lvl="0" indent="-285750">
              <a:spcBef>
                <a:spcPts val="400"/>
              </a:spcBef>
              <a:spcAft>
                <a:spcPts val="800"/>
              </a:spcAft>
              <a:buFont typeface="Arial" panose="020B0604020202020204" pitchFamily="34" charset="0"/>
              <a:buChar char="•"/>
            </a:pPr>
            <a:r>
              <a:rPr lang="en-IN" dirty="0">
                <a:solidFill>
                  <a:schemeClr val="bg1"/>
                </a:solidFill>
                <a:latin typeface="Calibri" panose="020F0502020204030204" pitchFamily="34" charset="0"/>
                <a:cs typeface="Calibri" panose="020F0502020204030204" pitchFamily="34" charset="0"/>
              </a:rPr>
              <a:t>PCA reduced feature dimensionality while retaining key statistical variance.</a:t>
            </a:r>
          </a:p>
          <a:p>
            <a:pPr marL="285750" lvl="0" indent="-285750">
              <a:spcBef>
                <a:spcPts val="400"/>
              </a:spcBef>
              <a:spcAft>
                <a:spcPts val="800"/>
              </a:spcAft>
              <a:buFont typeface="Arial" panose="020B0604020202020204" pitchFamily="34" charset="0"/>
              <a:buChar char="•"/>
            </a:pPr>
            <a:r>
              <a:rPr lang="en-IN" dirty="0">
                <a:solidFill>
                  <a:schemeClr val="bg1"/>
                </a:solidFill>
                <a:latin typeface="Calibri" panose="020F0502020204030204" pitchFamily="34" charset="0"/>
                <a:cs typeface="Calibri" panose="020F0502020204030204" pitchFamily="34" charset="0"/>
              </a:rPr>
              <a:t>SVM and CNN use these features to enhance </a:t>
            </a:r>
            <a:r>
              <a:rPr lang="en-IN" b="1" dirty="0">
                <a:solidFill>
                  <a:schemeClr val="bg1"/>
                </a:solidFill>
                <a:latin typeface="Calibri" panose="020F0502020204030204" pitchFamily="34" charset="0"/>
                <a:cs typeface="Calibri" panose="020F0502020204030204" pitchFamily="34" charset="0"/>
              </a:rPr>
              <a:t>classification accuracy and interpretability</a:t>
            </a:r>
            <a:r>
              <a:rPr lang="en-IN" dirty="0">
                <a:solidFill>
                  <a:schemeClr val="bg1"/>
                </a:solidFill>
                <a:latin typeface="Calibri" panose="020F0502020204030204" pitchFamily="34" charset="0"/>
                <a:cs typeface="Calibri" panose="020F0502020204030204" pitchFamily="34" charset="0"/>
              </a:rPr>
              <a:t>.</a:t>
            </a:r>
          </a:p>
          <a:p>
            <a:pPr>
              <a:spcBef>
                <a:spcPts val="400"/>
              </a:spcBef>
              <a:spcAft>
                <a:spcPts val="800"/>
              </a:spcAft>
            </a:pPr>
            <a:endParaRPr lang="en-IN" sz="2000" b="1" dirty="0">
              <a:solidFill>
                <a:schemeClr val="bg1"/>
              </a:solidFill>
              <a:latin typeface="Calibri" panose="020F0502020204030204" pitchFamily="34" charset="0"/>
              <a:cs typeface="Calibri" panose="020F0502020204030204" pitchFamily="34" charset="0"/>
            </a:endParaRPr>
          </a:p>
          <a:p>
            <a:pPr>
              <a:spcBef>
                <a:spcPts val="400"/>
              </a:spcBef>
              <a:spcAft>
                <a:spcPts val="800"/>
              </a:spcAft>
            </a:pPr>
            <a:r>
              <a:rPr lang="en-IN" sz="2000" b="1" dirty="0">
                <a:solidFill>
                  <a:schemeClr val="bg1"/>
                </a:solidFill>
                <a:latin typeface="Calibri" panose="020F0502020204030204" pitchFamily="34" charset="0"/>
                <a:cs typeface="Calibri" panose="020F0502020204030204" pitchFamily="34" charset="0"/>
              </a:rPr>
              <a:t>Final Conclusions</a:t>
            </a:r>
          </a:p>
          <a:p>
            <a:pPr marL="285750" lvl="0" indent="-285750">
              <a:spcBef>
                <a:spcPts val="400"/>
              </a:spcBef>
              <a:spcAft>
                <a:spcPts val="800"/>
              </a:spcAft>
              <a:buFont typeface="Wingdings" panose="05000000000000000000" pitchFamily="2" charset="2"/>
              <a:buChar char="Ø"/>
            </a:pPr>
            <a:r>
              <a:rPr lang="en-IN" dirty="0">
                <a:solidFill>
                  <a:schemeClr val="bg1"/>
                </a:solidFill>
                <a:latin typeface="Calibri" panose="020F0502020204030204" pitchFamily="34" charset="0"/>
                <a:cs typeface="Calibri" panose="020F0502020204030204" pitchFamily="34" charset="0"/>
              </a:rPr>
              <a:t>Statistical analysis confirmed measurable differences between </a:t>
            </a:r>
            <a:r>
              <a:rPr lang="en-IN" b="1" dirty="0">
                <a:solidFill>
                  <a:schemeClr val="bg1"/>
                </a:solidFill>
                <a:latin typeface="Calibri" panose="020F0502020204030204" pitchFamily="34" charset="0"/>
                <a:cs typeface="Calibri" panose="020F0502020204030204" pitchFamily="34" charset="0"/>
              </a:rPr>
              <a:t>real and deepfake image properties</a:t>
            </a:r>
            <a:r>
              <a:rPr lang="en-IN" dirty="0">
                <a:solidFill>
                  <a:schemeClr val="bg1"/>
                </a:solidFill>
                <a:latin typeface="Calibri" panose="020F0502020204030204" pitchFamily="34" charset="0"/>
                <a:cs typeface="Calibri" panose="020F0502020204030204" pitchFamily="34" charset="0"/>
              </a:rPr>
              <a:t>.</a:t>
            </a:r>
          </a:p>
          <a:p>
            <a:pPr marL="285750" lvl="0" indent="-285750">
              <a:spcBef>
                <a:spcPts val="400"/>
              </a:spcBef>
              <a:spcAft>
                <a:spcPts val="800"/>
              </a:spcAft>
              <a:buFont typeface="Wingdings" panose="05000000000000000000" pitchFamily="2" charset="2"/>
              <a:buChar char="Ø"/>
            </a:pPr>
            <a:r>
              <a:rPr lang="en-IN" b="1" dirty="0">
                <a:solidFill>
                  <a:schemeClr val="bg1"/>
                </a:solidFill>
                <a:latin typeface="Calibri" panose="020F0502020204030204" pitchFamily="34" charset="0"/>
                <a:cs typeface="Calibri" panose="020F0502020204030204" pitchFamily="34" charset="0"/>
              </a:rPr>
              <a:t>Descriptive and hypothesis tests</a:t>
            </a:r>
            <a:r>
              <a:rPr lang="en-IN" dirty="0">
                <a:solidFill>
                  <a:schemeClr val="bg1"/>
                </a:solidFill>
                <a:latin typeface="Calibri" panose="020F0502020204030204" pitchFamily="34" charset="0"/>
                <a:cs typeface="Calibri" panose="020F0502020204030204" pitchFamily="34" charset="0"/>
              </a:rPr>
              <a:t> validated that fake images possess </a:t>
            </a:r>
            <a:r>
              <a:rPr lang="en-IN" b="1" dirty="0">
                <a:solidFill>
                  <a:schemeClr val="bg1"/>
                </a:solidFill>
                <a:latin typeface="Calibri" panose="020F0502020204030204" pitchFamily="34" charset="0"/>
                <a:cs typeface="Calibri" panose="020F0502020204030204" pitchFamily="34" charset="0"/>
              </a:rPr>
              <a:t>distinct pixel-level and color-channel patterns</a:t>
            </a:r>
            <a:r>
              <a:rPr lang="en-IN" dirty="0">
                <a:solidFill>
                  <a:schemeClr val="bg1"/>
                </a:solidFill>
                <a:latin typeface="Calibri" panose="020F0502020204030204" pitchFamily="34" charset="0"/>
                <a:cs typeface="Calibri" panose="020F0502020204030204" pitchFamily="34" charset="0"/>
              </a:rPr>
              <a:t>.</a:t>
            </a:r>
          </a:p>
          <a:p>
            <a:pPr marL="285750" lvl="0" indent="-285750">
              <a:spcBef>
                <a:spcPts val="400"/>
              </a:spcBef>
              <a:spcAft>
                <a:spcPts val="800"/>
              </a:spcAft>
              <a:buFont typeface="Wingdings" panose="05000000000000000000" pitchFamily="2" charset="2"/>
              <a:buChar char="Ø"/>
            </a:pPr>
            <a:r>
              <a:rPr lang="en-IN" dirty="0">
                <a:solidFill>
                  <a:schemeClr val="bg1"/>
                </a:solidFill>
                <a:latin typeface="Calibri" panose="020F0502020204030204" pitchFamily="34" charset="0"/>
                <a:cs typeface="Calibri" panose="020F0502020204030204" pitchFamily="34" charset="0"/>
              </a:rPr>
              <a:t>Integrating </a:t>
            </a:r>
            <a:r>
              <a:rPr lang="en-IN" b="1" dirty="0">
                <a:solidFill>
                  <a:schemeClr val="bg1"/>
                </a:solidFill>
                <a:latin typeface="Calibri" panose="020F0502020204030204" pitchFamily="34" charset="0"/>
                <a:cs typeface="Calibri" panose="020F0502020204030204" pitchFamily="34" charset="0"/>
              </a:rPr>
              <a:t>statistical insights with machine learning models</a:t>
            </a:r>
            <a:r>
              <a:rPr lang="en-IN" dirty="0">
                <a:solidFill>
                  <a:schemeClr val="bg1"/>
                </a:solidFill>
                <a:latin typeface="Calibri" panose="020F0502020204030204" pitchFamily="34" charset="0"/>
                <a:cs typeface="Calibri" panose="020F0502020204030204" pitchFamily="34" charset="0"/>
              </a:rPr>
              <a:t> (CNN, PCA, SVM) improved </a:t>
            </a:r>
            <a:r>
              <a:rPr lang="en-IN" b="1" dirty="0">
                <a:solidFill>
                  <a:schemeClr val="bg1"/>
                </a:solidFill>
                <a:latin typeface="Calibri" panose="020F0502020204030204" pitchFamily="34" charset="0"/>
                <a:cs typeface="Calibri" panose="020F0502020204030204" pitchFamily="34" charset="0"/>
              </a:rPr>
              <a:t>detection accuracy and model explainability</a:t>
            </a:r>
            <a:r>
              <a:rPr lang="en-IN" dirty="0">
                <a:solidFill>
                  <a:schemeClr val="bg1"/>
                </a:solidFill>
                <a:latin typeface="Calibri" panose="020F0502020204030204" pitchFamily="34" charset="0"/>
                <a:cs typeface="Calibri" panose="020F0502020204030204" pitchFamily="34" charset="0"/>
              </a:rPr>
              <a:t>.</a:t>
            </a:r>
          </a:p>
          <a:p>
            <a:pPr marL="285750" lvl="0" indent="-285750">
              <a:spcBef>
                <a:spcPts val="400"/>
              </a:spcBef>
              <a:spcAft>
                <a:spcPts val="800"/>
              </a:spcAft>
              <a:buFont typeface="Wingdings" panose="05000000000000000000" pitchFamily="2" charset="2"/>
              <a:buChar char="Ø"/>
            </a:pPr>
            <a:r>
              <a:rPr lang="en-IN" dirty="0">
                <a:solidFill>
                  <a:schemeClr val="bg1"/>
                </a:solidFill>
                <a:latin typeface="Calibri" panose="020F0502020204030204" pitchFamily="34" charset="0"/>
                <a:cs typeface="Calibri" panose="020F0502020204030204" pitchFamily="34" charset="0"/>
              </a:rPr>
              <a:t>The hybrid statistical–ML approach provides a </a:t>
            </a:r>
            <a:r>
              <a:rPr lang="en-IN" b="1" dirty="0">
                <a:solidFill>
                  <a:schemeClr val="bg1"/>
                </a:solidFill>
                <a:latin typeface="Calibri" panose="020F0502020204030204" pitchFamily="34" charset="0"/>
                <a:cs typeface="Calibri" panose="020F0502020204030204" pitchFamily="34" charset="0"/>
              </a:rPr>
              <a:t>reliable, scalable, and interpretable framework</a:t>
            </a:r>
            <a:r>
              <a:rPr lang="en-IN" dirty="0">
                <a:solidFill>
                  <a:schemeClr val="bg1"/>
                </a:solidFill>
                <a:latin typeface="Calibri" panose="020F0502020204030204" pitchFamily="34" charset="0"/>
                <a:cs typeface="Calibri" panose="020F0502020204030204" pitchFamily="34" charset="0"/>
              </a:rPr>
              <a:t> for deepfake detection</a:t>
            </a:r>
            <a:r>
              <a:rPr lang="en-IN" dirty="0"/>
              <a:t>.</a:t>
            </a:r>
          </a:p>
          <a:p>
            <a:pPr lvl="0">
              <a:spcBef>
                <a:spcPts val="400"/>
              </a:spcBef>
              <a:spcAft>
                <a:spcPts val="600"/>
              </a:spcAft>
              <a:buSzPts val="1000"/>
              <a:tabLst>
                <a:tab pos="457200" algn="l"/>
              </a:tabLst>
            </a:pPr>
            <a:endParaRPr lang="en-IN" sz="18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25686294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E063ED-15A5-A0E2-FA75-81C23410DAFC}"/>
              </a:ext>
            </a:extLst>
          </p:cNvPr>
          <p:cNvSpPr>
            <a:spLocks noGrp="1"/>
          </p:cNvSpPr>
          <p:nvPr>
            <p:ph type="sldNum" sz="quarter" idx="12"/>
          </p:nvPr>
        </p:nvSpPr>
        <p:spPr/>
        <p:txBody>
          <a:bodyPr/>
          <a:lstStyle/>
          <a:p>
            <a:fld id="{5BFCF61C-3B18-4C03-8326-CC3B32D710C9}" type="slidenum">
              <a:rPr lang="en-US" noProof="0" smtClean="0"/>
              <a:t>16</a:t>
            </a:fld>
            <a:endParaRPr lang="en-US" noProof="0"/>
          </a:p>
        </p:txBody>
      </p:sp>
      <p:sp>
        <p:nvSpPr>
          <p:cNvPr id="6" name="TextBox 5">
            <a:extLst>
              <a:ext uri="{FF2B5EF4-FFF2-40B4-BE49-F238E27FC236}">
                <a16:creationId xmlns:a16="http://schemas.microsoft.com/office/drawing/2014/main" id="{9A85FEC5-FC68-E3D9-1BC8-EE2111E8DA0D}"/>
              </a:ext>
            </a:extLst>
          </p:cNvPr>
          <p:cNvSpPr txBox="1"/>
          <p:nvPr/>
        </p:nvSpPr>
        <p:spPr>
          <a:xfrm>
            <a:off x="129047" y="0"/>
            <a:ext cx="12062953" cy="7171194"/>
          </a:xfrm>
          <a:prstGeom prst="rect">
            <a:avLst/>
          </a:prstGeom>
          <a:noFill/>
        </p:spPr>
        <p:txBody>
          <a:bodyPr wrap="square">
            <a:spAutoFit/>
          </a:bodyPr>
          <a:lstStyle/>
          <a:p>
            <a:pPr marL="285750" indent="-285750">
              <a:spcBef>
                <a:spcPts val="200"/>
              </a:spcBef>
              <a:spcAft>
                <a:spcPts val="600"/>
              </a:spcAft>
              <a:buFont typeface="Wingdings" panose="05000000000000000000" pitchFamily="2" charset="2"/>
              <a:buChar char="Ø"/>
            </a:pPr>
            <a:r>
              <a:rPr lang="en-IN" sz="2000" b="1" dirty="0">
                <a:latin typeface="Calibri" panose="020F0502020204030204" pitchFamily="34" charset="0"/>
                <a:cs typeface="Calibri" panose="020F0502020204030204" pitchFamily="34" charset="0"/>
              </a:rPr>
              <a:t>Results:-</a:t>
            </a:r>
          </a:p>
          <a:p>
            <a:pPr>
              <a:spcBef>
                <a:spcPts val="200"/>
              </a:spcBef>
              <a:spcAft>
                <a:spcPts val="600"/>
              </a:spcAft>
            </a:pPr>
            <a:r>
              <a:rPr lang="en-IN" b="1" i="1" dirty="0">
                <a:latin typeface="Calibri" panose="020F0502020204030204" pitchFamily="34" charset="0"/>
                <a:cs typeface="Calibri" panose="020F0502020204030204" pitchFamily="34" charset="0"/>
              </a:rPr>
              <a:t>=== Descriptive Statistics ===</a:t>
            </a:r>
          </a:p>
          <a:p>
            <a:pPr>
              <a:spcBef>
                <a:spcPts val="200"/>
              </a:spcBef>
              <a:spcAft>
                <a:spcPts val="600"/>
              </a:spcAft>
            </a:pPr>
            <a:r>
              <a:rPr lang="en-IN" dirty="0">
                <a:latin typeface="Calibri" panose="020F0502020204030204" pitchFamily="34" charset="0"/>
                <a:cs typeface="Calibri" panose="020F0502020204030204" pitchFamily="34" charset="0"/>
              </a:rPr>
              <a:t>Real Mean=117.06, Var=4307.98, Std:65.64, Skew:0.19, Kurt:-0.89</a:t>
            </a:r>
          </a:p>
          <a:p>
            <a:pPr>
              <a:spcBef>
                <a:spcPts val="200"/>
              </a:spcBef>
              <a:spcAft>
                <a:spcPts val="600"/>
              </a:spcAft>
            </a:pPr>
            <a:r>
              <a:rPr lang="en-IN" dirty="0">
                <a:latin typeface="Calibri" panose="020F0502020204030204" pitchFamily="34" charset="0"/>
                <a:cs typeface="Calibri" panose="020F0502020204030204" pitchFamily="34" charset="0"/>
              </a:rPr>
              <a:t>Fake Mean=95.47, Var=3668.68, Std:60.57, Skew:0.44, Kurt:-0.58</a:t>
            </a:r>
          </a:p>
          <a:p>
            <a:pPr>
              <a:spcBef>
                <a:spcPts val="200"/>
              </a:spcBef>
              <a:spcAft>
                <a:spcPts val="600"/>
              </a:spcAft>
            </a:pPr>
            <a:r>
              <a:rPr lang="en-IN" b="1" i="1" dirty="0">
                <a:latin typeface="Calibri" panose="020F0502020204030204" pitchFamily="34" charset="0"/>
                <a:cs typeface="Calibri" panose="020F0502020204030204" pitchFamily="34" charset="0"/>
              </a:rPr>
              <a:t>=== Hypothesis Tests ===</a:t>
            </a:r>
          </a:p>
          <a:p>
            <a:pPr>
              <a:spcBef>
                <a:spcPts val="200"/>
              </a:spcBef>
              <a:spcAft>
                <a:spcPts val="600"/>
              </a:spcAft>
            </a:pPr>
            <a:r>
              <a:rPr lang="en-IN" dirty="0">
                <a:latin typeface="Calibri" panose="020F0502020204030204" pitchFamily="34" charset="0"/>
                <a:cs typeface="Calibri" panose="020F0502020204030204" pitchFamily="34" charset="0"/>
              </a:rPr>
              <a:t>Chi-square Test: Chi2=0.18, p-value=1.0000</a:t>
            </a:r>
          </a:p>
          <a:p>
            <a:pPr>
              <a:spcBef>
                <a:spcPts val="200"/>
              </a:spcBef>
              <a:spcAft>
                <a:spcPts val="600"/>
              </a:spcAft>
            </a:pPr>
            <a:r>
              <a:rPr lang="en-IN" dirty="0">
                <a:latin typeface="Calibri" panose="020F0502020204030204" pitchFamily="34" charset="0"/>
                <a:cs typeface="Calibri" panose="020F0502020204030204" pitchFamily="34" charset="0"/>
              </a:rPr>
              <a:t>KS Test: Statistic=0.14, p-value=0.0000</a:t>
            </a:r>
          </a:p>
          <a:p>
            <a:pPr>
              <a:spcBef>
                <a:spcPts val="200"/>
              </a:spcBef>
              <a:spcAft>
                <a:spcPts val="600"/>
              </a:spcAft>
            </a:pPr>
            <a:r>
              <a:rPr lang="en-IN" dirty="0">
                <a:latin typeface="Calibri" panose="020F0502020204030204" pitchFamily="34" charset="0"/>
                <a:cs typeface="Calibri" panose="020F0502020204030204" pitchFamily="34" charset="0"/>
              </a:rPr>
              <a:t>T-Test: Statistic=256.38, p-value=0.0000</a:t>
            </a:r>
          </a:p>
          <a:p>
            <a:pPr>
              <a:spcBef>
                <a:spcPts val="200"/>
              </a:spcBef>
              <a:spcAft>
                <a:spcPts val="600"/>
              </a:spcAft>
            </a:pPr>
            <a:r>
              <a:rPr lang="en-IN" dirty="0">
                <a:latin typeface="Calibri" panose="020F0502020204030204" pitchFamily="34" charset="0"/>
                <a:cs typeface="Calibri" panose="020F0502020204030204" pitchFamily="34" charset="0"/>
              </a:rPr>
              <a:t>Mann-Whitney U: U=752317913602.50, p-value=0.0000</a:t>
            </a:r>
          </a:p>
          <a:p>
            <a:pPr>
              <a:spcBef>
                <a:spcPts val="200"/>
              </a:spcBef>
              <a:spcAft>
                <a:spcPts val="600"/>
              </a:spcAft>
            </a:pPr>
            <a:endParaRPr lang="en-IN" dirty="0">
              <a:latin typeface="Calibri" panose="020F0502020204030204" pitchFamily="34" charset="0"/>
              <a:cs typeface="Calibri" panose="020F0502020204030204" pitchFamily="34" charset="0"/>
            </a:endParaRPr>
          </a:p>
          <a:p>
            <a:pPr marL="285750" indent="-285750">
              <a:spcBef>
                <a:spcPts val="200"/>
              </a:spcBef>
              <a:spcAft>
                <a:spcPts val="600"/>
              </a:spcAft>
              <a:buFont typeface="Wingdings" panose="05000000000000000000" pitchFamily="2" charset="2"/>
              <a:buChar char="Ø"/>
            </a:pPr>
            <a:r>
              <a:rPr lang="en-IN" sz="2000" b="1" dirty="0">
                <a:latin typeface="Calibri" panose="020F0502020204030204" pitchFamily="34" charset="0"/>
                <a:cs typeface="Calibri" panose="020F0502020204030204" pitchFamily="34" charset="0"/>
              </a:rPr>
              <a:t>Interpretations:-</a:t>
            </a:r>
          </a:p>
          <a:p>
            <a:pPr marL="285750" indent="-285750">
              <a:spcBef>
                <a:spcPts val="20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There is a noticeable difference in the statistical behavior of real and fake images — real ones have higher average intensity and variability, while fake ones are more uniform and slightly more skewed.</a:t>
            </a:r>
          </a:p>
          <a:p>
            <a:pPr marL="285750" indent="-285750">
              <a:spcBef>
                <a:spcPts val="20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Except for the chi-square test, all other tests (KS, T-test, Mann–Whitney U) show </a:t>
            </a:r>
            <a:r>
              <a:rPr lang="en-US" b="1" dirty="0">
                <a:latin typeface="Calibri" panose="020F0502020204030204" pitchFamily="34" charset="0"/>
                <a:cs typeface="Calibri" panose="020F0502020204030204" pitchFamily="34" charset="0"/>
              </a:rPr>
              <a:t>p &lt; 0.05</a:t>
            </a:r>
            <a:r>
              <a:rPr lang="en-US" dirty="0">
                <a:latin typeface="Calibri" panose="020F0502020204030204" pitchFamily="34" charset="0"/>
                <a:cs typeface="Calibri" panose="020F0502020204030204" pitchFamily="34" charset="0"/>
              </a:rPr>
              <a:t>, meaning the difference between real and fake images is </a:t>
            </a:r>
            <a:r>
              <a:rPr lang="en-US" b="1" dirty="0">
                <a:latin typeface="Calibri" panose="020F0502020204030204" pitchFamily="34" charset="0"/>
                <a:cs typeface="Calibri" panose="020F0502020204030204" pitchFamily="34" charset="0"/>
              </a:rPr>
              <a:t>statistically significant</a:t>
            </a:r>
            <a:r>
              <a:rPr lang="en-US" dirty="0">
                <a:latin typeface="Calibri" panose="020F0502020204030204" pitchFamily="34" charset="0"/>
                <a:cs typeface="Calibri" panose="020F0502020204030204" pitchFamily="34" charset="0"/>
              </a:rPr>
              <a:t>.</a:t>
            </a:r>
          </a:p>
          <a:p>
            <a:pPr marL="285750" indent="-285750">
              <a:spcBef>
                <a:spcPts val="20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Hence, </a:t>
            </a:r>
            <a:r>
              <a:rPr lang="en-US" b="1" dirty="0">
                <a:latin typeface="Calibri" panose="020F0502020204030204" pitchFamily="34" charset="0"/>
                <a:cs typeface="Calibri" panose="020F0502020204030204" pitchFamily="34" charset="0"/>
              </a:rPr>
              <a:t>real and fake images have different distributions and mean characteristics</a:t>
            </a:r>
            <a:r>
              <a:rPr lang="en-US" dirty="0">
                <a:latin typeface="Calibri" panose="020F0502020204030204" pitchFamily="34" charset="0"/>
                <a:cs typeface="Calibri" panose="020F0502020204030204" pitchFamily="34" charset="0"/>
              </a:rPr>
              <a:t> — our model or statistical analysis can reliably distinguish between them.</a:t>
            </a:r>
          </a:p>
          <a:p>
            <a:pPr marL="285750" indent="-285750">
              <a:spcBef>
                <a:spcPts val="200"/>
              </a:spcBef>
              <a:spcAft>
                <a:spcPts val="600"/>
              </a:spcAft>
              <a:buFont typeface="Arial" panose="020B0604020202020204" pitchFamily="34" charset="0"/>
              <a:buChar char="•"/>
            </a:pPr>
            <a:r>
              <a:rPr lang="en-US" dirty="0">
                <a:latin typeface="Calibri" panose="020F0502020204030204" pitchFamily="34" charset="0"/>
                <a:cs typeface="Calibri" panose="020F0502020204030204" pitchFamily="34" charset="0"/>
              </a:rPr>
              <a:t>This validates that our feature extraction method (mean, variance, skewness, kurtosis, etc.) can effectively help in </a:t>
            </a:r>
            <a:r>
              <a:rPr lang="en-US" b="1" dirty="0">
                <a:latin typeface="Calibri" panose="020F0502020204030204" pitchFamily="34" charset="0"/>
                <a:cs typeface="Calibri" panose="020F0502020204030204" pitchFamily="34" charset="0"/>
              </a:rPr>
              <a:t>deepfake or fake–real image detection</a:t>
            </a:r>
            <a:r>
              <a:rPr lang="en-US" dirty="0">
                <a:latin typeface="Calibri" panose="020F0502020204030204" pitchFamily="34" charset="0"/>
                <a:cs typeface="Calibri" panose="020F0502020204030204" pitchFamily="34" charset="0"/>
              </a:rPr>
              <a:t>.</a:t>
            </a:r>
          </a:p>
          <a:p>
            <a:pPr>
              <a:spcBef>
                <a:spcPts val="200"/>
              </a:spcBef>
              <a:spcAft>
                <a:spcPts val="600"/>
              </a:spcAft>
            </a:pPr>
            <a:endParaRPr lang="en-US" dirty="0">
              <a:latin typeface="Calibri" panose="020F0502020204030204" pitchFamily="34" charset="0"/>
              <a:cs typeface="Calibri" panose="020F0502020204030204" pitchFamily="34" charset="0"/>
            </a:endParaRPr>
          </a:p>
        </p:txBody>
      </p:sp>
      <p:sp>
        <p:nvSpPr>
          <p:cNvPr id="7" name="Thought Bubble: Cloud 6">
            <a:extLst>
              <a:ext uri="{FF2B5EF4-FFF2-40B4-BE49-F238E27FC236}">
                <a16:creationId xmlns:a16="http://schemas.microsoft.com/office/drawing/2014/main" id="{8ECDFE2B-C0D0-5B29-F2AD-66E17178C18B}"/>
              </a:ext>
            </a:extLst>
          </p:cNvPr>
          <p:cNvSpPr/>
          <p:nvPr/>
        </p:nvSpPr>
        <p:spPr>
          <a:xfrm rot="1264133">
            <a:off x="7171764" y="751724"/>
            <a:ext cx="4276703" cy="2412300"/>
          </a:xfrm>
          <a:prstGeom prst="cloud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E8B593C2-327A-E039-2A40-7D409A303022}"/>
              </a:ext>
            </a:extLst>
          </p:cNvPr>
          <p:cNvSpPr txBox="1"/>
          <p:nvPr/>
        </p:nvSpPr>
        <p:spPr>
          <a:xfrm rot="1404540">
            <a:off x="7835941" y="1332886"/>
            <a:ext cx="3259393" cy="1384995"/>
          </a:xfrm>
          <a:prstGeom prst="rect">
            <a:avLst/>
          </a:prstGeom>
          <a:noFill/>
        </p:spPr>
        <p:txBody>
          <a:bodyPr wrap="square" rtlCol="0">
            <a:spAutoFit/>
          </a:bodyPr>
          <a:lstStyle/>
          <a:p>
            <a:r>
              <a:rPr lang="en-US" sz="2800" b="1" i="1" dirty="0">
                <a:latin typeface="Calibri" panose="020F0502020204030204" pitchFamily="34" charset="0"/>
                <a:cs typeface="Calibri" panose="020F0502020204030204" pitchFamily="34" charset="0"/>
              </a:rPr>
              <a:t>Descriptive Statistics &amp; Hypothesis Testing Results</a:t>
            </a:r>
            <a:endParaRPr lang="en-IN" sz="28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90382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B4B95C-F956-8EA4-0331-65B4EC63F5D6}"/>
              </a:ext>
            </a:extLst>
          </p:cNvPr>
          <p:cNvSpPr>
            <a:spLocks noGrp="1"/>
          </p:cNvSpPr>
          <p:nvPr>
            <p:ph type="sldNum" sz="quarter" idx="12"/>
          </p:nvPr>
        </p:nvSpPr>
        <p:spPr/>
        <p:txBody>
          <a:bodyPr/>
          <a:lstStyle/>
          <a:p>
            <a:fld id="{5BFCF61C-3B18-4C03-8326-CC3B32D710C9}" type="slidenum">
              <a:rPr lang="en-US" noProof="0" smtClean="0"/>
              <a:t>17</a:t>
            </a:fld>
            <a:endParaRPr lang="en-US" noProof="0"/>
          </a:p>
        </p:txBody>
      </p:sp>
      <p:pic>
        <p:nvPicPr>
          <p:cNvPr id="7" name="Picture 6">
            <a:extLst>
              <a:ext uri="{FF2B5EF4-FFF2-40B4-BE49-F238E27FC236}">
                <a16:creationId xmlns:a16="http://schemas.microsoft.com/office/drawing/2014/main" id="{1BD00183-98A2-F28B-6EE5-B5886C620BAF}"/>
              </a:ext>
            </a:extLst>
          </p:cNvPr>
          <p:cNvPicPr>
            <a:picLocks noChangeAspect="1"/>
          </p:cNvPicPr>
          <p:nvPr/>
        </p:nvPicPr>
        <p:blipFill>
          <a:blip r:embed="rId2"/>
          <a:stretch>
            <a:fillRect/>
          </a:stretch>
        </p:blipFill>
        <p:spPr>
          <a:xfrm>
            <a:off x="278049" y="1091381"/>
            <a:ext cx="6520957" cy="5610365"/>
          </a:xfrm>
          <a:prstGeom prst="rect">
            <a:avLst/>
          </a:prstGeom>
        </p:spPr>
      </p:pic>
      <p:sp>
        <p:nvSpPr>
          <p:cNvPr id="8" name="Rectangle 7">
            <a:extLst>
              <a:ext uri="{FF2B5EF4-FFF2-40B4-BE49-F238E27FC236}">
                <a16:creationId xmlns:a16="http://schemas.microsoft.com/office/drawing/2014/main" id="{7BAD2006-0F3C-895D-8F5B-994C4552A437}"/>
              </a:ext>
            </a:extLst>
          </p:cNvPr>
          <p:cNvSpPr/>
          <p:nvPr/>
        </p:nvSpPr>
        <p:spPr>
          <a:xfrm>
            <a:off x="7565923" y="296071"/>
            <a:ext cx="3701845" cy="626017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b="1" dirty="0">
                <a:latin typeface="Calibri" panose="020F0502020204030204" pitchFamily="34" charset="0"/>
                <a:cs typeface="Calibri" panose="020F0502020204030204" pitchFamily="34" charset="0"/>
              </a:rPr>
              <a:t>Interpretation</a:t>
            </a:r>
            <a:r>
              <a:rPr lang="en-US" b="1"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v"/>
            </a:pPr>
            <a:r>
              <a:rPr lang="en-US" sz="2000" dirty="0">
                <a:latin typeface="Calibri" panose="020F0502020204030204" pitchFamily="34" charset="0"/>
                <a:cs typeface="Calibri" panose="020F0502020204030204" pitchFamily="34" charset="0"/>
              </a:rPr>
              <a:t>The histogram shows that real and fake images have different pixel intensity distributions.</a:t>
            </a:r>
          </a:p>
          <a:p>
            <a:pPr marL="342900" indent="-342900">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v"/>
            </a:pPr>
            <a:r>
              <a:rPr lang="en-US" sz="2000" dirty="0">
                <a:latin typeface="Calibri" panose="020F0502020204030204" pitchFamily="34" charset="0"/>
                <a:cs typeface="Calibri" panose="020F0502020204030204" pitchFamily="34" charset="0"/>
              </a:rPr>
              <a:t>Real images (blue) are spread toward higher intensities, indicating brighter and more natural patterns, while fake images (red) are more concentrated at lower intensities, showing darker or less detailed regions.</a:t>
            </a:r>
          </a:p>
          <a:p>
            <a:pPr marL="342900" indent="-342900">
              <a:buFont typeface="Wingdings" panose="05000000000000000000" pitchFamily="2" charset="2"/>
              <a:buChar char="v"/>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v"/>
            </a:pPr>
            <a:r>
              <a:rPr lang="en-US" sz="2000" dirty="0">
                <a:latin typeface="Calibri" panose="020F0502020204030204" pitchFamily="34" charset="0"/>
                <a:cs typeface="Calibri" panose="020F0502020204030204" pitchFamily="34" charset="0"/>
              </a:rPr>
              <a:t>This visual difference confirms that real and fake images come from </a:t>
            </a:r>
            <a:r>
              <a:rPr lang="en-US" sz="2000" b="1" dirty="0">
                <a:latin typeface="Calibri" panose="020F0502020204030204" pitchFamily="34" charset="0"/>
                <a:cs typeface="Calibri" panose="020F0502020204030204" pitchFamily="34" charset="0"/>
              </a:rPr>
              <a:t>distinct statistical distributions</a:t>
            </a:r>
            <a:r>
              <a:rPr lang="en-US" sz="2000" dirty="0">
                <a:latin typeface="Calibri" panose="020F0502020204030204" pitchFamily="34" charset="0"/>
                <a:cs typeface="Calibri" panose="020F0502020204030204" pitchFamily="34" charset="0"/>
              </a:rPr>
              <a:t>.</a:t>
            </a:r>
          </a:p>
          <a:p>
            <a:pPr algn="ctr"/>
            <a:endParaRPr lang="en-IN" dirty="0"/>
          </a:p>
        </p:txBody>
      </p:sp>
      <p:sp>
        <p:nvSpPr>
          <p:cNvPr id="12" name="TextBox 11">
            <a:extLst>
              <a:ext uri="{FF2B5EF4-FFF2-40B4-BE49-F238E27FC236}">
                <a16:creationId xmlns:a16="http://schemas.microsoft.com/office/drawing/2014/main" id="{087EF6BD-1E68-5498-82A8-7DEB608293F3}"/>
              </a:ext>
            </a:extLst>
          </p:cNvPr>
          <p:cNvSpPr txBox="1"/>
          <p:nvPr/>
        </p:nvSpPr>
        <p:spPr>
          <a:xfrm>
            <a:off x="822959" y="156254"/>
            <a:ext cx="6359505" cy="707886"/>
          </a:xfrm>
          <a:prstGeom prst="rect">
            <a:avLst/>
          </a:prstGeom>
          <a:noFill/>
        </p:spPr>
        <p:txBody>
          <a:bodyPr wrap="square" rtlCol="0">
            <a:spAutoFit/>
          </a:bodyPr>
          <a:lstStyle/>
          <a:p>
            <a:r>
              <a:rPr lang="en-IN" sz="4000" b="1" i="1" dirty="0">
                <a:solidFill>
                  <a:schemeClr val="accent4">
                    <a:lumMod val="75000"/>
                  </a:schemeClr>
                </a:solidFill>
                <a:latin typeface="Calibri" panose="020F0502020204030204" pitchFamily="34" charset="0"/>
                <a:ea typeface="Times New Roman" panose="02020603050405020304" pitchFamily="18" charset="0"/>
                <a:cs typeface="Calibri" panose="020F0502020204030204" pitchFamily="34" charset="0"/>
              </a:rPr>
              <a:t>Histogram-Based Analysis</a:t>
            </a:r>
            <a:endParaRPr lang="en-IN" sz="4000" dirty="0">
              <a:solidFill>
                <a:schemeClr val="accent4">
                  <a:lumMod val="75000"/>
                </a:schemeClr>
              </a:solidFill>
            </a:endParaRPr>
          </a:p>
        </p:txBody>
      </p:sp>
    </p:spTree>
    <p:extLst>
      <p:ext uri="{BB962C8B-B14F-4D97-AF65-F5344CB8AC3E}">
        <p14:creationId xmlns:p14="http://schemas.microsoft.com/office/powerpoint/2010/main" val="21304320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26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56FD7B-62BC-BACD-FE85-15C708590181}"/>
              </a:ext>
            </a:extLst>
          </p:cNvPr>
          <p:cNvSpPr>
            <a:spLocks noGrp="1"/>
          </p:cNvSpPr>
          <p:nvPr>
            <p:ph type="sldNum" sz="quarter" idx="12"/>
          </p:nvPr>
        </p:nvSpPr>
        <p:spPr/>
        <p:txBody>
          <a:bodyPr/>
          <a:lstStyle/>
          <a:p>
            <a:fld id="{5BFCF61C-3B18-4C03-8326-CC3B32D710C9}" type="slidenum">
              <a:rPr lang="en-US" noProof="0" smtClean="0"/>
              <a:t>18</a:t>
            </a:fld>
            <a:endParaRPr lang="en-US" noProof="0"/>
          </a:p>
        </p:txBody>
      </p:sp>
      <p:sp>
        <p:nvSpPr>
          <p:cNvPr id="7" name="TextBox 6">
            <a:extLst>
              <a:ext uri="{FF2B5EF4-FFF2-40B4-BE49-F238E27FC236}">
                <a16:creationId xmlns:a16="http://schemas.microsoft.com/office/drawing/2014/main" id="{149F9CFC-27E9-D494-05B5-C1F5A6465CDD}"/>
              </a:ext>
            </a:extLst>
          </p:cNvPr>
          <p:cNvSpPr txBox="1"/>
          <p:nvPr/>
        </p:nvSpPr>
        <p:spPr>
          <a:xfrm>
            <a:off x="532001" y="1862537"/>
            <a:ext cx="11127998" cy="3416320"/>
          </a:xfrm>
          <a:prstGeom prst="rect">
            <a:avLst/>
          </a:prstGeom>
          <a:noFill/>
        </p:spPr>
        <p:txBody>
          <a:bodyPr wrap="square" rtlCol="0">
            <a:spAutoFit/>
          </a:bodyPr>
          <a:lstStyle>
            <a:defPPr>
              <a:defRPr lang="en-PK"/>
            </a:defPPr>
            <a:lvl1pPr algn="ctr">
              <a:defRPr sz="7200" b="1">
                <a:latin typeface="Calibri" panose="020F0502020204030204" pitchFamily="34" charset="0"/>
                <a:cs typeface="Calibri" panose="020F0502020204030204" pitchFamily="34" charset="0"/>
              </a:defRPr>
            </a:lvl1pPr>
          </a:lstStyle>
          <a:p>
            <a:r>
              <a:rPr lang="en-IN" dirty="0"/>
              <a:t>Model Fitting &amp; Forecasting — CNN, PCA, and SVM</a:t>
            </a:r>
          </a:p>
          <a:p>
            <a:endParaRPr lang="en-IN" dirty="0"/>
          </a:p>
        </p:txBody>
      </p:sp>
    </p:spTree>
    <p:extLst>
      <p:ext uri="{BB962C8B-B14F-4D97-AF65-F5344CB8AC3E}">
        <p14:creationId xmlns:p14="http://schemas.microsoft.com/office/powerpoint/2010/main" val="9054777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a:xfrm>
            <a:off x="0" y="1032511"/>
            <a:ext cx="3436883" cy="1726453"/>
          </a:xfrm>
        </p:spPr>
        <p:txBody>
          <a:bodyPr/>
          <a:lstStyle/>
          <a:p>
            <a:r>
              <a:rPr lang="en-US" sz="6000" b="1" dirty="0">
                <a:latin typeface="Calibri" panose="020F0502020204030204" pitchFamily="34" charset="0"/>
                <a:ea typeface="Calibri" panose="020F0502020204030204" pitchFamily="34" charset="0"/>
                <a:cs typeface="Calibri" panose="020F0502020204030204" pitchFamily="34" charset="0"/>
              </a:rPr>
              <a:t>Data analysis</a:t>
            </a:r>
            <a:br>
              <a:rPr lang="en-US" sz="6000" b="1" dirty="0">
                <a:latin typeface="Calibri" panose="020F0502020204030204" pitchFamily="34" charset="0"/>
                <a:ea typeface="Calibri" panose="020F0502020204030204" pitchFamily="34" charset="0"/>
                <a:cs typeface="Calibri" panose="020F0502020204030204" pitchFamily="34" charset="0"/>
              </a:rPr>
            </a:br>
            <a:r>
              <a:rPr lang="en-US" sz="4000" i="1" dirty="0">
                <a:latin typeface="Calibri" panose="020F0502020204030204" pitchFamily="34" charset="0"/>
                <a:ea typeface="Calibri" panose="020F0502020204030204" pitchFamily="34" charset="0"/>
                <a:cs typeface="Calibri" panose="020F0502020204030204" pitchFamily="34" charset="0"/>
              </a:rPr>
              <a:t>(common steps for all models)</a:t>
            </a:r>
            <a:endParaRPr lang="en-US" sz="6000" i="1" dirty="0">
              <a:latin typeface="Calibri" panose="020F0502020204030204" pitchFamily="34" charset="0"/>
              <a:ea typeface="Calibri" panose="020F0502020204030204" pitchFamily="34" charset="0"/>
              <a:cs typeface="Calibri" panose="020F0502020204030204" pitchFamily="34" charset="0"/>
            </a:endParaRPr>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fld id="{5BFCF61C-3B18-4C03-8326-CC3B32D710C9}" type="slidenum">
              <a:rPr lang="en-US" smtClean="0"/>
              <a:pPr/>
              <a:t>19</a:t>
            </a:fld>
            <a:endParaRPr lang="en-US"/>
          </a:p>
        </p:txBody>
      </p:sp>
      <p:sp>
        <p:nvSpPr>
          <p:cNvPr id="5" name="TextBox 4">
            <a:extLst>
              <a:ext uri="{FF2B5EF4-FFF2-40B4-BE49-F238E27FC236}">
                <a16:creationId xmlns:a16="http://schemas.microsoft.com/office/drawing/2014/main" id="{75947E04-07FB-CAFE-C6E3-DA4B0E5BAF66}"/>
              </a:ext>
            </a:extLst>
          </p:cNvPr>
          <p:cNvSpPr txBox="1"/>
          <p:nvPr/>
        </p:nvSpPr>
        <p:spPr>
          <a:xfrm>
            <a:off x="4146330" y="157655"/>
            <a:ext cx="8045670" cy="6940361"/>
          </a:xfrm>
          <a:prstGeom prst="rect">
            <a:avLst/>
          </a:prstGeom>
          <a:noFill/>
        </p:spPr>
        <p:txBody>
          <a:bodyPr wrap="square">
            <a:spAutoFit/>
          </a:bodyPr>
          <a:lstStyle/>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Data collection</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Gather labelled real and fake images (source datasets, licensing noted).</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Data cleaning</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Remove corrupted files, duplicate frames, severely occluded faces.</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Face detection &amp; alignment</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Detect face, crop and align (e.g., MTCNN / dlib) so inputs are consistent.</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Resize &amp; normalize</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Resize to model input (e.g., 128×128 or 224×224); scale pixel values (0–1).</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Split</a:t>
            </a:r>
            <a:endParaRPr lang="en-IN" sz="1600"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Train / Validation / Test (typical split: 70/15/15). Optionally use stratified sampling to keep class balance.</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Augmentation (for robust training)</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Rotations, flips, brightness, slight scaling, Gaussian noise — apply to training only.</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Feature extraction for classical pipelines</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Compute statistical features (mean, variance, skewness, kurtosis), histograms,  channel correlations, noise residuals.</a:t>
            </a:r>
          </a:p>
          <a:p>
            <a:pPr marL="342900" lvl="0" indent="-342900">
              <a:spcBef>
                <a:spcPts val="400"/>
              </a:spcBef>
              <a:spcAft>
                <a:spcPts val="600"/>
              </a:spcAft>
              <a:buFont typeface="+mj-lt"/>
              <a:buAutoNum type="arabicPeriod"/>
              <a:tabLst>
                <a:tab pos="457200" algn="l"/>
              </a:tabLst>
            </a:pPr>
            <a:r>
              <a:rPr lang="en-IN" b="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Standardize features</a:t>
            </a:r>
            <a:endParaRPr lang="en-IN"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400"/>
              </a:spcBef>
              <a:spcAft>
                <a:spcPts val="600"/>
              </a:spcAft>
              <a:buSzPts val="1000"/>
              <a:buFont typeface="Courier New" panose="02070309020205020404" pitchFamily="49" charset="0"/>
              <a:buChar char="o"/>
              <a:tabLst>
                <a:tab pos="914400" algn="l"/>
              </a:tabLst>
            </a:pPr>
            <a:r>
              <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For PCA/SVM: subtract mean, divide by standard deviation</a:t>
            </a:r>
            <a:r>
              <a:rPr lang="en-GB"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6163551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098E534-EB31-6078-7138-F84DA2FF4C61}"/>
              </a:ext>
            </a:extLst>
          </p:cNvPr>
          <p:cNvSpPr>
            <a:spLocks noGrp="1"/>
          </p:cNvSpPr>
          <p:nvPr>
            <p:ph type="sldNum" sz="quarter" idx="12"/>
          </p:nvPr>
        </p:nvSpPr>
        <p:spPr/>
        <p:txBody>
          <a:bodyPr/>
          <a:lstStyle/>
          <a:p>
            <a:fld id="{5BFCF61C-3B18-4C03-8326-CC3B32D710C9}" type="slidenum">
              <a:rPr lang="en-US" noProof="0" smtClean="0"/>
              <a:pPr/>
              <a:t>20</a:t>
            </a:fld>
            <a:endParaRPr lang="en-US" noProof="0"/>
          </a:p>
        </p:txBody>
      </p:sp>
      <p:sp>
        <p:nvSpPr>
          <p:cNvPr id="10" name="Title 9">
            <a:extLst>
              <a:ext uri="{FF2B5EF4-FFF2-40B4-BE49-F238E27FC236}">
                <a16:creationId xmlns:a16="http://schemas.microsoft.com/office/drawing/2014/main" id="{C67D474F-EB94-6B4D-BA2E-ECA07B2A23C4}"/>
              </a:ext>
            </a:extLst>
          </p:cNvPr>
          <p:cNvSpPr>
            <a:spLocks noGrp="1"/>
          </p:cNvSpPr>
          <p:nvPr>
            <p:ph type="title"/>
          </p:nvPr>
        </p:nvSpPr>
        <p:spPr/>
        <p:txBody>
          <a:bodyPr/>
          <a:lstStyle/>
          <a:p>
            <a:r>
              <a:rPr lang="en-US" sz="5400" b="1" dirty="0">
                <a:latin typeface="Calibri" panose="020F0502020204030204" pitchFamily="34" charset="0"/>
                <a:ea typeface="Calibri" panose="020F0502020204030204" pitchFamily="34" charset="0"/>
                <a:cs typeface="Calibri" panose="020F0502020204030204" pitchFamily="34" charset="0"/>
              </a:rPr>
              <a:t>CNN:-</a:t>
            </a:r>
            <a:r>
              <a:rPr lang="en-US" sz="5400" b="1" cap="none" dirty="0">
                <a:latin typeface="Calibri" panose="020F0502020204030204" pitchFamily="34" charset="0"/>
                <a:ea typeface="Calibri" panose="020F0502020204030204" pitchFamily="34" charset="0"/>
                <a:cs typeface="Calibri" panose="020F0502020204030204" pitchFamily="34" charset="0"/>
              </a:rPr>
              <a:t>Convolutional neural network</a:t>
            </a:r>
            <a:endParaRPr lang="en-IN" sz="5400" b="1"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E9CE0FD2-E6CB-EE31-16D6-F79589A08D6E}"/>
              </a:ext>
            </a:extLst>
          </p:cNvPr>
          <p:cNvSpPr txBox="1"/>
          <p:nvPr/>
        </p:nvSpPr>
        <p:spPr>
          <a:xfrm>
            <a:off x="351578" y="2631198"/>
            <a:ext cx="11943030" cy="3416320"/>
          </a:xfrm>
          <a:prstGeom prst="rect">
            <a:avLst/>
          </a:prstGeom>
          <a:noFill/>
        </p:spPr>
        <p:txBody>
          <a:bodyPr wrap="square">
            <a:spAutoFit/>
          </a:bodyPr>
          <a:lstStyle/>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What is it?</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A deep learning model designed specially for image and video analysis.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Why was it used?</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Because deepfake images contain tiny </a:t>
            </a:r>
            <a:r>
              <a:rPr lang="en-US" sz="1600" b="1" dirty="0">
                <a:latin typeface="Calibri" panose="020F0502020204030204" pitchFamily="34" charset="0"/>
                <a:ea typeface="Calibri" panose="020F0502020204030204" pitchFamily="34" charset="0"/>
                <a:cs typeface="Calibri" panose="020F0502020204030204" pitchFamily="34" charset="0"/>
              </a:rPr>
              <a:t>patterns, textures, and artifacts</a:t>
            </a:r>
            <a:r>
              <a:rPr lang="en-US" sz="1600" dirty="0">
                <a:latin typeface="Calibri" panose="020F0502020204030204" pitchFamily="34" charset="0"/>
                <a:ea typeface="Calibri" panose="020F0502020204030204" pitchFamily="34" charset="0"/>
                <a:cs typeface="Calibri" panose="020F0502020204030204" pitchFamily="34" charset="0"/>
              </a:rPr>
              <a:t> that are hard for humans to notice. CNN can automatically capture these hidden features.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Purpose in our project:</a:t>
            </a:r>
            <a:br>
              <a:rPr lang="en-US"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To distinguish between </a:t>
            </a:r>
            <a:r>
              <a:rPr lang="en-US" sz="1600" b="1" dirty="0">
                <a:latin typeface="Calibri" panose="020F0502020204030204" pitchFamily="34" charset="0"/>
                <a:ea typeface="Calibri" panose="020F0502020204030204" pitchFamily="34" charset="0"/>
                <a:cs typeface="Calibri" panose="020F0502020204030204" pitchFamily="34" charset="0"/>
              </a:rPr>
              <a:t>real and fake images</a:t>
            </a:r>
            <a:r>
              <a:rPr lang="en-US" sz="1600" dirty="0">
                <a:latin typeface="Calibri" panose="020F0502020204030204" pitchFamily="34" charset="0"/>
                <a:ea typeface="Calibri" panose="020F0502020204030204" pitchFamily="34" charset="0"/>
                <a:cs typeface="Calibri" panose="020F0502020204030204" pitchFamily="34" charset="0"/>
              </a:rPr>
              <a:t> by detecting subtle differences like noise, edges, and compression artifacts.</a:t>
            </a:r>
          </a:p>
          <a:p>
            <a:pPr>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 How it works:</a:t>
            </a:r>
            <a:endParaRPr lang="en-US" dirty="0">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Convolution layers</a:t>
            </a:r>
            <a:r>
              <a:rPr lang="en-US" sz="1600" dirty="0">
                <a:latin typeface="Calibri" panose="020F0502020204030204" pitchFamily="34" charset="0"/>
                <a:ea typeface="Calibri" panose="020F0502020204030204" pitchFamily="34" charset="0"/>
                <a:cs typeface="Calibri" panose="020F0502020204030204" pitchFamily="34" charset="0"/>
              </a:rPr>
              <a:t> → extract important features (edges, shapes, patterns).</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Pooling layers</a:t>
            </a:r>
            <a:r>
              <a:rPr lang="en-US" sz="1600" dirty="0">
                <a:latin typeface="Calibri" panose="020F0502020204030204" pitchFamily="34" charset="0"/>
                <a:ea typeface="Calibri" panose="020F0502020204030204" pitchFamily="34" charset="0"/>
                <a:cs typeface="Calibri" panose="020F0502020204030204" pitchFamily="34" charset="0"/>
              </a:rPr>
              <a:t> → reduce size while keeping key information.</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Dense layers</a:t>
            </a:r>
            <a:r>
              <a:rPr lang="en-US" sz="1600" dirty="0">
                <a:latin typeface="Calibri" panose="020F0502020204030204" pitchFamily="34" charset="0"/>
                <a:ea typeface="Calibri" panose="020F0502020204030204" pitchFamily="34" charset="0"/>
                <a:cs typeface="Calibri" panose="020F0502020204030204" pitchFamily="34" charset="0"/>
              </a:rPr>
              <a:t> → combine features to make decisions.</a:t>
            </a:r>
          </a:p>
          <a:p>
            <a:pPr marL="742950" lvl="1"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Output layer</a:t>
            </a:r>
            <a:r>
              <a:rPr lang="en-US" sz="1600" dirty="0">
                <a:latin typeface="Calibri" panose="020F0502020204030204" pitchFamily="34" charset="0"/>
                <a:ea typeface="Calibri" panose="020F0502020204030204" pitchFamily="34" charset="0"/>
                <a:cs typeface="Calibri" panose="020F0502020204030204" pitchFamily="34" charset="0"/>
              </a:rPr>
              <a:t> → gives probability: </a:t>
            </a:r>
            <a:r>
              <a:rPr lang="en-US" sz="1600" b="1" dirty="0">
                <a:latin typeface="Calibri" panose="020F0502020204030204" pitchFamily="34" charset="0"/>
                <a:ea typeface="Calibri" panose="020F0502020204030204" pitchFamily="34" charset="0"/>
                <a:cs typeface="Calibri" panose="020F0502020204030204" pitchFamily="34" charset="0"/>
              </a:rPr>
              <a:t>Fake (0)</a:t>
            </a:r>
            <a:r>
              <a:rPr lang="en-US" sz="1600" dirty="0">
                <a:latin typeface="Calibri" panose="020F0502020204030204" pitchFamily="34" charset="0"/>
                <a:ea typeface="Calibri" panose="020F0502020204030204" pitchFamily="34" charset="0"/>
                <a:cs typeface="Calibri" panose="020F0502020204030204" pitchFamily="34" charset="0"/>
              </a:rPr>
              <a:t> or </a:t>
            </a:r>
            <a:r>
              <a:rPr lang="en-US" sz="1600" b="1" dirty="0">
                <a:latin typeface="Calibri" panose="020F0502020204030204" pitchFamily="34" charset="0"/>
                <a:ea typeface="Calibri" panose="020F0502020204030204" pitchFamily="34" charset="0"/>
                <a:cs typeface="Calibri" panose="020F0502020204030204" pitchFamily="34" charset="0"/>
              </a:rPr>
              <a:t>Real (1)</a:t>
            </a:r>
            <a:r>
              <a:rPr lang="en-US" sz="1600" dirty="0">
                <a:latin typeface="Calibri" panose="020F0502020204030204" pitchFamily="34" charset="0"/>
                <a:ea typeface="Calibri" panose="020F0502020204030204" pitchFamily="34" charset="0"/>
                <a:cs typeface="Calibri" panose="020F0502020204030204" pitchFamily="34" charset="0"/>
              </a:rPr>
              <a:t>.</a:t>
            </a:r>
          </a:p>
          <a:p>
            <a:pPr>
              <a:buNone/>
            </a:pPr>
            <a:r>
              <a:rPr lang="en-US" sz="1600" dirty="0">
                <a:latin typeface="Calibri" panose="020F0502020204030204" pitchFamily="34" charset="0"/>
                <a:ea typeface="Calibri" panose="020F0502020204030204" pitchFamily="34" charset="0"/>
                <a:cs typeface="Calibri" panose="020F0502020204030204" pitchFamily="34" charset="0"/>
              </a:rPr>
              <a:t>“CNN is an image-focused neural network that automatically detects hidden artifacts in deepfakes, which makes it ideal for our project.”</a:t>
            </a:r>
          </a:p>
        </p:txBody>
      </p:sp>
    </p:spTree>
    <p:extLst>
      <p:ext uri="{BB962C8B-B14F-4D97-AF65-F5344CB8AC3E}">
        <p14:creationId xmlns:p14="http://schemas.microsoft.com/office/powerpoint/2010/main" val="28263572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081A9E-6EF0-2488-8033-438E224A8258}"/>
              </a:ext>
            </a:extLst>
          </p:cNvPr>
          <p:cNvSpPr txBox="1"/>
          <p:nvPr/>
        </p:nvSpPr>
        <p:spPr>
          <a:xfrm>
            <a:off x="281641" y="207605"/>
            <a:ext cx="12600168" cy="6442789"/>
          </a:xfrm>
          <a:prstGeom prst="rect">
            <a:avLst/>
          </a:prstGeom>
          <a:noFill/>
        </p:spPr>
        <p:txBody>
          <a:bodyPr wrap="square">
            <a:spAutoFit/>
          </a:bodyPr>
          <a:lstStyle/>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Choose architecture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Simple custom CNN or transfer learning (e.g., ResNet, MobileNet) depending on data size and compute.</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Conv2D(32, (3,3), activation='relu', input_shape=input_shape),MaxPooling2D((2,2)),</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Conv2D(64, (3,3), activation='relu’), MaxPooling2D((2,2)),</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Prepare input pipeline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Efficient data loader with on-the-fly augmentation, batching, and shuffling.</a:t>
            </a:r>
          </a:p>
          <a:p>
            <a:pPr marL="800100" lvl="1" indent="-34290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cs typeface="Calibri" panose="020F0502020204030204" pitchFamily="34" charset="0"/>
              </a:rPr>
              <a:t>Flatten → Dense(128, relu) → Dropout(0.5) → Dense(1, sigmoid)</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Define loss &amp; optimizer</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Binary cross-entropy (for 2 classes) or categorical cross-entropy</a:t>
            </a:r>
            <a:r>
              <a:rPr lang="en-GB" dirty="0">
                <a:solidFill>
                  <a:schemeClr val="bg1"/>
                </a:solidFill>
                <a:latin typeface="Calibri" panose="020F0502020204030204" pitchFamily="34" charset="0"/>
                <a:ea typeface="Times New Roman" panose="02020603050405020304" pitchFamily="18" charset="0"/>
                <a:cs typeface="Calibri" panose="020F0502020204030204" pitchFamily="34" charset="0"/>
              </a:rPr>
              <a:t>.</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cs typeface="Calibri" panose="020F0502020204030204" pitchFamily="34" charset="0"/>
              </a:rPr>
              <a:t>optimizer=Adam(1e-4), loss = binary_crossentropy, metrics = ['accuracy'].</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Set hyperparameters</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Learning rate, batch size, epochs, weight decay, dropout rates.</a:t>
            </a: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Train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Monitor training &amp; validation loss/accuracy each epoch; use early stopping and model checkpointing.</a:t>
            </a:r>
          </a:p>
          <a:p>
            <a:pPr marL="742950" lvl="1" indent="-285750">
              <a:spcBef>
                <a:spcPts val="300"/>
              </a:spcBef>
              <a:spcAft>
                <a:spcPts val="500"/>
              </a:spcAft>
              <a:buFont typeface="Arial" panose="020B0604020202020204" pitchFamily="34" charset="0"/>
              <a:buChar char="•"/>
            </a:pPr>
            <a:r>
              <a:rPr lang="en-IN" dirty="0">
                <a:solidFill>
                  <a:schemeClr val="accent1">
                    <a:lumMod val="20000"/>
                    <a:lumOff val="80000"/>
                  </a:schemeClr>
                </a:solidFill>
                <a:latin typeface="Calibri" panose="020F0502020204030204" pitchFamily="34" charset="0"/>
                <a:cs typeface="Calibri" panose="020F0502020204030204" pitchFamily="34" charset="0"/>
              </a:rPr>
              <a:t>history = cnn_model.fit(X_train_scaled, y_train, epochs=10,  validation_data=(X_val_scaled, y_val), batch_size=32)</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Regularization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Dropout, L2 weight decay, data augmentation to prevent overfitting.</a:t>
            </a:r>
          </a:p>
        </p:txBody>
      </p:sp>
      <p:sp>
        <p:nvSpPr>
          <p:cNvPr id="5" name="Thought Bubble: Cloud 4">
            <a:extLst>
              <a:ext uri="{FF2B5EF4-FFF2-40B4-BE49-F238E27FC236}">
                <a16:creationId xmlns:a16="http://schemas.microsoft.com/office/drawing/2014/main" id="{C21A1543-60FF-C5B1-7632-F7A99678A817}"/>
              </a:ext>
            </a:extLst>
          </p:cNvPr>
          <p:cNvSpPr/>
          <p:nvPr/>
        </p:nvSpPr>
        <p:spPr>
          <a:xfrm rot="1504316">
            <a:off x="9596328" y="1125492"/>
            <a:ext cx="2522540" cy="1499481"/>
          </a:xfrm>
          <a:prstGeom prst="cloudCallout">
            <a:avLst/>
          </a:prstGeom>
          <a:solidFill>
            <a:schemeClr val="accent3"/>
          </a:solidFill>
          <a:ln>
            <a:solidFill>
              <a:schemeClr val="tx2"/>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1E168C24-6C82-0EBF-A9BB-56E4A11CDD91}"/>
              </a:ext>
            </a:extLst>
          </p:cNvPr>
          <p:cNvSpPr txBox="1"/>
          <p:nvPr/>
        </p:nvSpPr>
        <p:spPr>
          <a:xfrm rot="1355713">
            <a:off x="9973322" y="1537681"/>
            <a:ext cx="2057312" cy="584775"/>
          </a:xfrm>
          <a:prstGeom prst="rect">
            <a:avLst/>
          </a:prstGeom>
          <a:noFill/>
        </p:spPr>
        <p:txBody>
          <a:bodyPr wrap="square" rtlCol="0">
            <a:spAutoFit/>
          </a:bodyPr>
          <a:lstStyle/>
          <a:p>
            <a:r>
              <a:rPr lang="en-US" sz="3200" b="1" dirty="0">
                <a:latin typeface="Calibri" panose="020F0502020204030204" pitchFamily="34" charset="0"/>
                <a:cs typeface="Calibri" panose="020F0502020204030204" pitchFamily="34" charset="0"/>
              </a:rPr>
              <a:t>Procedure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139013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603272-5DFA-963F-6DCF-CC703904BB81}"/>
              </a:ext>
            </a:extLst>
          </p:cNvPr>
          <p:cNvSpPr txBox="1"/>
          <p:nvPr/>
        </p:nvSpPr>
        <p:spPr>
          <a:xfrm>
            <a:off x="250464" y="0"/>
            <a:ext cx="11691072" cy="7371249"/>
          </a:xfrm>
          <a:prstGeom prst="rect">
            <a:avLst/>
          </a:prstGeom>
          <a:noFill/>
        </p:spPr>
        <p:txBody>
          <a:bodyPr wrap="square">
            <a:spAutoFit/>
          </a:bodyPr>
          <a:lstStyle/>
          <a:p>
            <a:pPr lvl="0">
              <a:spcBef>
                <a:spcPts val="200"/>
              </a:spcBef>
              <a:spcAft>
                <a:spcPts val="400"/>
              </a:spcAft>
              <a:tabLst>
                <a:tab pos="457200" algn="l"/>
              </a:tabLst>
            </a:pPr>
            <a:r>
              <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rPr>
              <a:t>7. Evaluate</a:t>
            </a:r>
            <a:endPar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200"/>
              </a:spcBef>
              <a:spcAft>
                <a:spcPts val="400"/>
              </a:spcAft>
              <a:buSzPts val="1000"/>
              <a:buFont typeface="Courier New" panose="02070309020205020404" pitchFamily="49" charset="0"/>
              <a:buChar char="o"/>
              <a:tabLst>
                <a:tab pos="914400" algn="l"/>
              </a:tabLst>
            </a:pPr>
            <a:r>
              <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rPr>
              <a:t>On test set: accuracy, precision, recall, F1, AUC-ROC; plot confusion matrix.</a:t>
            </a:r>
          </a:p>
          <a:p>
            <a:pPr lvl="0">
              <a:spcBef>
                <a:spcPts val="200"/>
              </a:spcBef>
              <a:spcAft>
                <a:spcPts val="400"/>
              </a:spcAft>
              <a:tabLst>
                <a:tab pos="457200" algn="l"/>
              </a:tabLst>
            </a:pPr>
            <a:r>
              <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rPr>
              <a:t>8. Calibration &amp; uncertainty</a:t>
            </a:r>
            <a:endPar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200"/>
              </a:spcBef>
              <a:spcAft>
                <a:spcPts val="400"/>
              </a:spcAft>
              <a:buSzPts val="1000"/>
              <a:buFont typeface="Courier New" panose="02070309020205020404" pitchFamily="49" charset="0"/>
              <a:buChar char="o"/>
              <a:tabLst>
                <a:tab pos="914400" algn="l"/>
              </a:tabLst>
            </a:pPr>
            <a:r>
              <a:rPr lang="en-IN" dirty="0">
                <a:solidFill>
                  <a:schemeClr val="bg1"/>
                </a:solidFill>
                <a:latin typeface="Calibri" panose="020F0502020204030204" pitchFamily="34" charset="0"/>
                <a:ea typeface="Times New Roman" panose="02020603050405020304" pitchFamily="18" charset="0"/>
                <a:cs typeface="Calibri" panose="020F0502020204030204" pitchFamily="34" charset="0"/>
              </a:rPr>
              <a:t>Consider temperature scaling or compute confidence distribution; analyze misclassified samples.</a:t>
            </a:r>
            <a:endParaRPr lang="en-IN" b="1" dirty="0">
              <a:solidFill>
                <a:schemeClr val="bg1"/>
              </a:solidFill>
              <a:latin typeface="Calibri" panose="020F0502020204030204" pitchFamily="34" charset="0"/>
              <a:cs typeface="Calibri" panose="020F0502020204030204" pitchFamily="34" charset="0"/>
            </a:endParaRPr>
          </a:p>
          <a:p>
            <a:pPr lvl="0">
              <a:spcBef>
                <a:spcPts val="200"/>
              </a:spcBef>
              <a:spcAft>
                <a:spcPts val="400"/>
              </a:spcAft>
            </a:pPr>
            <a:r>
              <a:rPr lang="en-IN" b="1" dirty="0">
                <a:solidFill>
                  <a:schemeClr val="bg1"/>
                </a:solidFill>
                <a:latin typeface="Calibri" panose="020F0502020204030204" pitchFamily="34" charset="0"/>
                <a:cs typeface="Calibri" panose="020F0502020204030204" pitchFamily="34" charset="0"/>
              </a:rPr>
              <a:t>9</a:t>
            </a:r>
            <a:r>
              <a:rPr lang="en-IN" b="1" dirty="0">
                <a:latin typeface="Calibri" panose="020F0502020204030204" pitchFamily="34" charset="0"/>
                <a:cs typeface="Calibri" panose="020F0502020204030204" pitchFamily="34" charset="0"/>
              </a:rPr>
              <a:t>. </a:t>
            </a:r>
            <a:r>
              <a:rPr lang="en-IN" b="1" dirty="0">
                <a:solidFill>
                  <a:schemeClr val="bg1"/>
                </a:solidFill>
                <a:latin typeface="Calibri" panose="020F0502020204030204" pitchFamily="34" charset="0"/>
                <a:cs typeface="Calibri" panose="020F0502020204030204" pitchFamily="34" charset="0"/>
              </a:rPr>
              <a:t>Interpretability</a:t>
            </a:r>
            <a:endParaRPr lang="en-IN" dirty="0">
              <a:solidFill>
                <a:schemeClr val="bg1"/>
              </a:solidFill>
              <a:latin typeface="Calibri" panose="020F0502020204030204" pitchFamily="34" charset="0"/>
              <a:cs typeface="Calibri" panose="020F0502020204030204" pitchFamily="34" charset="0"/>
            </a:endParaRPr>
          </a:p>
          <a:p>
            <a:pPr marL="742950" lvl="1" indent="-285750">
              <a:spcBef>
                <a:spcPts val="200"/>
              </a:spcBef>
              <a:spcAft>
                <a:spcPts val="400"/>
              </a:spcAft>
              <a:buFont typeface="Courier New" panose="02070309020205020404" pitchFamily="49" charset="0"/>
              <a:buChar char="o"/>
            </a:pPr>
            <a:r>
              <a:rPr lang="en-IN" dirty="0">
                <a:solidFill>
                  <a:schemeClr val="bg1"/>
                </a:solidFill>
                <a:latin typeface="Calibri" panose="020F0502020204030204" pitchFamily="34" charset="0"/>
                <a:cs typeface="Calibri" panose="020F0502020204030204" pitchFamily="34" charset="0"/>
              </a:rPr>
              <a:t>Use Grad-CAM / saliency maps to visualize regions driving predictions.</a:t>
            </a:r>
          </a:p>
          <a:p>
            <a:pPr lvl="0">
              <a:spcBef>
                <a:spcPts val="200"/>
              </a:spcBef>
              <a:spcAft>
                <a:spcPts val="400"/>
              </a:spcAft>
            </a:pPr>
            <a:r>
              <a:rPr lang="en-IN" b="1" dirty="0">
                <a:solidFill>
                  <a:schemeClr val="bg1"/>
                </a:solidFill>
                <a:latin typeface="Calibri" panose="020F0502020204030204" pitchFamily="34" charset="0"/>
                <a:cs typeface="Calibri" panose="020F0502020204030204" pitchFamily="34" charset="0"/>
              </a:rPr>
              <a:t>10. Forecasting (prediction)</a:t>
            </a:r>
            <a:endParaRPr lang="en-IN" dirty="0">
              <a:solidFill>
                <a:schemeClr val="bg1"/>
              </a:solidFill>
              <a:latin typeface="Calibri" panose="020F0502020204030204" pitchFamily="34" charset="0"/>
              <a:cs typeface="Calibri" panose="020F0502020204030204" pitchFamily="34" charset="0"/>
            </a:endParaRPr>
          </a:p>
          <a:p>
            <a:pPr marL="742950" lvl="1" indent="-285750">
              <a:spcBef>
                <a:spcPts val="200"/>
              </a:spcBef>
              <a:spcAft>
                <a:spcPts val="400"/>
              </a:spcAft>
              <a:buFont typeface="Courier New" panose="02070309020205020404" pitchFamily="49" charset="0"/>
              <a:buChar char="o"/>
            </a:pPr>
            <a:r>
              <a:rPr lang="en-IN" dirty="0">
                <a:solidFill>
                  <a:schemeClr val="bg1"/>
                </a:solidFill>
                <a:latin typeface="Calibri" panose="020F0502020204030204" pitchFamily="34" charset="0"/>
                <a:cs typeface="Calibri" panose="020F0502020204030204" pitchFamily="34" charset="0"/>
              </a:rPr>
              <a:t>Run trained model on unseen frames; smooth predictions across frames for video (majority vote or temporal filter)</a:t>
            </a:r>
            <a:r>
              <a:rPr lang="en-IN" b="1" dirty="0">
                <a:solidFill>
                  <a:schemeClr val="bg1"/>
                </a:solidFill>
                <a:latin typeface="Calibri" panose="020F0502020204030204" pitchFamily="34" charset="0"/>
                <a:cs typeface="Calibri" panose="020F0502020204030204" pitchFamily="34" charset="0"/>
              </a:rPr>
              <a:t>.</a:t>
            </a:r>
            <a:endParaRPr lang="en-IN" b="1"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endPar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Analysis &amp; interpretation</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Learning curves: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diverging train/val → overfitting; both high loss → underfitting.</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Class imbalance:</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inspect precision/recall per class; use class weights or resampling if needed.</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Feature insights: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saliency maps reveal whether model focuses on facial regions or artifacts.</a:t>
            </a:r>
          </a:p>
          <a:p>
            <a:pPr lvl="0">
              <a:spcBef>
                <a:spcPts val="200"/>
              </a:spcBef>
              <a:spcAft>
                <a:spcPts val="400"/>
              </a:spcAft>
              <a:buSzPts val="1000"/>
              <a:tabLst>
                <a:tab pos="457200" algn="l"/>
              </a:tabLst>
            </a:pP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Common problems &amp; remedies</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Overfitting:</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use more augmentation, dropout, early stopping.</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Vanishing gradients (deep nets):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use batch norm, residual connections, appropriate activations.</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Dataset bias / leakage:</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ensure no frame overlap between train/test</a:t>
            </a:r>
            <a:r>
              <a:rPr lang="en-GB" dirty="0">
                <a:solidFill>
                  <a:schemeClr val="bg1"/>
                </a:solidFill>
                <a:latin typeface="Calibri" panose="020F0502020204030204" pitchFamily="34" charset="0"/>
                <a:ea typeface="Times New Roman" panose="02020603050405020304" pitchFamily="18" charset="0"/>
                <a:cs typeface="Calibri" panose="020F0502020204030204" pitchFamily="34" charset="0"/>
              </a:rPr>
              <a:t>.</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lvl="0">
              <a:spcBef>
                <a:spcPts val="200"/>
              </a:spcBef>
              <a:spcAft>
                <a:spcPts val="400"/>
              </a:spcAft>
              <a:buSzPts val="1000"/>
              <a:tabLst>
                <a:tab pos="457200" algn="l"/>
              </a:tabLst>
            </a:pP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r>
              <a:rPr lang="en-IN"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824748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AF91DC8-A429-393B-D8CB-14EAAFAC9CF6}"/>
              </a:ext>
            </a:extLst>
          </p:cNvPr>
          <p:cNvSpPr>
            <a:spLocks noGrp="1"/>
          </p:cNvSpPr>
          <p:nvPr>
            <p:ph type="sldNum" sz="quarter" idx="12"/>
          </p:nvPr>
        </p:nvSpPr>
        <p:spPr/>
        <p:txBody>
          <a:bodyPr/>
          <a:lstStyle/>
          <a:p>
            <a:fld id="{5BFCF61C-3B18-4C03-8326-CC3B32D710C9}" type="slidenum">
              <a:rPr lang="en-US" noProof="0" smtClean="0"/>
              <a:pPr/>
              <a:t>23</a:t>
            </a:fld>
            <a:endParaRPr lang="en-US" noProof="0"/>
          </a:p>
        </p:txBody>
      </p:sp>
      <p:sp>
        <p:nvSpPr>
          <p:cNvPr id="10" name="TextBox 9">
            <a:extLst>
              <a:ext uri="{FF2B5EF4-FFF2-40B4-BE49-F238E27FC236}">
                <a16:creationId xmlns:a16="http://schemas.microsoft.com/office/drawing/2014/main" id="{551F23DC-3F37-6606-07DB-B7D3DBAB221F}"/>
              </a:ext>
            </a:extLst>
          </p:cNvPr>
          <p:cNvSpPr txBox="1"/>
          <p:nvPr/>
        </p:nvSpPr>
        <p:spPr>
          <a:xfrm>
            <a:off x="753201" y="1282800"/>
            <a:ext cx="10205883" cy="1015663"/>
          </a:xfrm>
          <a:prstGeom prst="rect">
            <a:avLst/>
          </a:prstGeom>
          <a:noFill/>
        </p:spPr>
        <p:txBody>
          <a:bodyPr wrap="square">
            <a:spAutoFit/>
          </a:bodyPr>
          <a:lstStyle/>
          <a:p>
            <a:pPr>
              <a:buNone/>
            </a:pPr>
            <a:r>
              <a:rPr lang="en-IN" sz="6000" b="1" dirty="0">
                <a:solidFill>
                  <a:schemeClr val="tx2"/>
                </a:solidFill>
                <a:latin typeface="Calibri" panose="020F0502020204030204" pitchFamily="34" charset="0"/>
                <a:cs typeface="Calibri" panose="020F0502020204030204" pitchFamily="34" charset="0"/>
              </a:rPr>
              <a:t>PCA + Logistic Regression</a:t>
            </a:r>
          </a:p>
        </p:txBody>
      </p:sp>
      <p:sp>
        <p:nvSpPr>
          <p:cNvPr id="12" name="TextBox 11">
            <a:extLst>
              <a:ext uri="{FF2B5EF4-FFF2-40B4-BE49-F238E27FC236}">
                <a16:creationId xmlns:a16="http://schemas.microsoft.com/office/drawing/2014/main" id="{1224FCDC-F6C1-2CC6-0FF7-B89F6A853B46}"/>
              </a:ext>
            </a:extLst>
          </p:cNvPr>
          <p:cNvSpPr txBox="1"/>
          <p:nvPr/>
        </p:nvSpPr>
        <p:spPr>
          <a:xfrm>
            <a:off x="353961" y="2558990"/>
            <a:ext cx="11970775" cy="3662541"/>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What is it?</a:t>
            </a:r>
          </a:p>
          <a:p>
            <a:r>
              <a:rPr lang="en-US" sz="1600" dirty="0">
                <a:latin typeface="Calibri" panose="020F0502020204030204" pitchFamily="34" charset="0"/>
                <a:cs typeface="Calibri" panose="020F0502020204030204" pitchFamily="34" charset="0"/>
              </a:rPr>
              <a:t>A combination of dimensionality reduction (PCA) and a classification algorithm (Logistic Regression) designed to process and analyze images.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Why was it used?</a:t>
            </a:r>
          </a:p>
          <a:p>
            <a:r>
              <a:rPr lang="en-US" sz="1600" dirty="0">
                <a:latin typeface="Calibri" panose="020F0502020204030204" pitchFamily="34" charset="0"/>
                <a:cs typeface="Calibri" panose="020F0502020204030204" pitchFamily="34" charset="0"/>
              </a:rPr>
              <a:t>Because deepfake images contain subtle patterns and features that may be hidden in high-dimensional pixel data. PCA reduces the dimensionality by keeping the most important features, and Logistic Regression uses these features to classify images.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Purpose in our project:</a:t>
            </a:r>
          </a:p>
          <a:p>
            <a:r>
              <a:rPr lang="en-US" sz="1600" dirty="0">
                <a:latin typeface="Calibri" panose="020F0502020204030204" pitchFamily="34" charset="0"/>
                <a:cs typeface="Calibri" panose="020F0502020204030204" pitchFamily="34" charset="0"/>
              </a:rPr>
              <a:t>To distinguish between real and fake images by transforming image data into key components and using them to predict whether an image is Fake (0) or Real (1).</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How it works:</a:t>
            </a:r>
            <a:endParaRPr lang="en-US" dirty="0">
              <a:latin typeface="Calibri" panose="020F0502020204030204" pitchFamily="34" charset="0"/>
              <a:cs typeface="Calibri" panose="020F0502020204030204" pitchFamily="34" charset="0"/>
            </a:endParaRP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PCA (Principal Component Analysis)</a:t>
            </a:r>
            <a:r>
              <a:rPr lang="en-US" sz="1600" dirty="0">
                <a:latin typeface="Calibri" panose="020F0502020204030204" pitchFamily="34" charset="0"/>
                <a:cs typeface="Calibri" panose="020F0502020204030204" pitchFamily="34" charset="0"/>
              </a:rPr>
              <a:t> → extracts the most important features while reducing noise and redundancy.</a:t>
            </a: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Logistic Regression</a:t>
            </a:r>
            <a:r>
              <a:rPr lang="en-US" sz="1600" dirty="0">
                <a:latin typeface="Calibri" panose="020F0502020204030204" pitchFamily="34" charset="0"/>
                <a:cs typeface="Calibri" panose="020F0502020204030204" pitchFamily="34" charset="0"/>
              </a:rPr>
              <a:t> → uses the reduced features to learn the relationship between image patterns and the target labels.</a:t>
            </a: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Output layer</a:t>
            </a:r>
            <a:r>
              <a:rPr lang="en-US" sz="1600" dirty="0">
                <a:latin typeface="Calibri" panose="020F0502020204030204" pitchFamily="34" charset="0"/>
                <a:cs typeface="Calibri" panose="020F0502020204030204" pitchFamily="34" charset="0"/>
              </a:rPr>
              <a:t> → gives probability: Fake (0) or Real (1).</a:t>
            </a:r>
          </a:p>
          <a:p>
            <a:r>
              <a:rPr lang="en-US" sz="1600" i="1" dirty="0">
                <a:latin typeface="Calibri" panose="020F0502020204030204" pitchFamily="34" charset="0"/>
                <a:cs typeface="Calibri" panose="020F0502020204030204" pitchFamily="34" charset="0"/>
              </a:rPr>
              <a:t>"PCA  is a feature-focused model that simplifies complex image data and classifies hidden patterns in deepfakes, making it suitable for our project."</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42532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DD995A-3C41-3631-DAC3-B54219CF2A8E}"/>
              </a:ext>
            </a:extLst>
          </p:cNvPr>
          <p:cNvSpPr txBox="1"/>
          <p:nvPr/>
        </p:nvSpPr>
        <p:spPr>
          <a:xfrm>
            <a:off x="134353" y="174216"/>
            <a:ext cx="12057647" cy="6812121"/>
          </a:xfrm>
          <a:prstGeom prst="rect">
            <a:avLst/>
          </a:prstGeom>
          <a:noFill/>
        </p:spPr>
        <p:txBody>
          <a:bodyPr wrap="square">
            <a:spAutoFit/>
          </a:bodyPr>
          <a:lstStyle/>
          <a:p>
            <a:pPr>
              <a:spcBef>
                <a:spcPts val="300"/>
              </a:spcBef>
              <a:spcAft>
                <a:spcPts val="500"/>
              </a:spcAft>
              <a:buNone/>
            </a:pPr>
            <a:r>
              <a:rPr lang="en-IN" sz="2400" b="1" i="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Stepwise procedure </a:t>
            </a: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Collect feature matrix</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 statistical features, or flattened CNN intermediate features per image.</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X_train_flat = X_train_scaled.reshape(len(X_train_scaled), -1)</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X_val_flat = X_val_scaled.reshape(len(X_val_scaled), -1)</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Standardize features</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Zero mean, unit variance (fit on training set).</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scaler = StandardScaler()</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X_train_flat_scaled = scaler.fit_transform(X_train_flat)</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X_val_flat_scaled = scaler.transform(X_val_flat)</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Fit PCA on training data</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Compute eigenvectors and explained variance; decide number of components by cumulative explained variance (e.g., 90–95%).</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pca = PCA(n_components=50, random_state=random_seed)</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X_train_pca = pca.fit_transform(X_train_flat_scaled)</a:t>
            </a:r>
          </a:p>
          <a:p>
            <a:pPr marL="742950" lvl="1" indent="-285750">
              <a:spcBef>
                <a:spcPts val="300"/>
              </a:spcBef>
              <a:spcAft>
                <a:spcPts val="5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X_val_pca = pca.transform(X_val_flat_scaled)</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Bef>
                <a:spcPts val="300"/>
              </a:spcBef>
              <a:spcAft>
                <a:spcPts val="500"/>
              </a:spcAft>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Transform datasets</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300"/>
              </a:spcBef>
              <a:spcAft>
                <a:spcPts val="5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Project train/val/test features into PCA space..</a:t>
            </a:r>
          </a:p>
        </p:txBody>
      </p:sp>
    </p:spTree>
    <p:extLst>
      <p:ext uri="{BB962C8B-B14F-4D97-AF65-F5344CB8AC3E}">
        <p14:creationId xmlns:p14="http://schemas.microsoft.com/office/powerpoint/2010/main" val="81286806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73FE9FF-896A-A86E-1EB2-4B399CEE10B4}"/>
              </a:ext>
            </a:extLst>
          </p:cNvPr>
          <p:cNvSpPr txBox="1"/>
          <p:nvPr/>
        </p:nvSpPr>
        <p:spPr>
          <a:xfrm>
            <a:off x="188494" y="0"/>
            <a:ext cx="12003506" cy="6971139"/>
          </a:xfrm>
          <a:prstGeom prst="rect">
            <a:avLst/>
          </a:prstGeom>
          <a:noFill/>
        </p:spPr>
        <p:txBody>
          <a:bodyPr wrap="square">
            <a:spAutoFit/>
          </a:bodyPr>
          <a:lstStyle/>
          <a:p>
            <a:pPr marL="342900" lvl="0" indent="-342900">
              <a:spcAft>
                <a:spcPts val="300"/>
              </a:spcAft>
              <a:buNone/>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5. Analyze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3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Visualize first 2–3 PCs (scatter) to inspect class separability; look at component loadings to interpret which original features dominate.</a:t>
            </a:r>
          </a:p>
          <a:p>
            <a:pPr marL="342900" lvl="0" indent="-342900">
              <a:spcAft>
                <a:spcPts val="300"/>
              </a:spcAft>
              <a:buNone/>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6. Use in pipeline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3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Feed PCA components into SVM or simple classifier (logistic regression).</a:t>
            </a:r>
          </a:p>
          <a:p>
            <a:pPr marL="742950" lvl="1" indent="-285750">
              <a:spcAft>
                <a:spcPts val="3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logreg = LogisticRegression(max_iter=500)</a:t>
            </a:r>
          </a:p>
          <a:p>
            <a:pPr marL="742950" lvl="1" indent="-285750">
              <a:spcAft>
                <a:spcPts val="3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start = time.time()</a:t>
            </a:r>
          </a:p>
          <a:p>
            <a:pPr marL="742950" lvl="1" indent="-285750">
              <a:spcAft>
                <a:spcPts val="3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logreg.fit(X_train_pca, y_train)</a:t>
            </a:r>
          </a:p>
          <a:p>
            <a:pPr marL="742950" lvl="1" indent="-285750">
              <a:spcAft>
                <a:spcPts val="300"/>
              </a:spcAft>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pca_time = time.time() - start</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spcAft>
                <a:spcPts val="300"/>
              </a:spcAft>
              <a:buNone/>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7. Forecasting (prediction)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3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Transform new images’ features with the same PCA transform, then classify using downstream model.</a:t>
            </a:r>
          </a:p>
          <a:p>
            <a:pPr>
              <a:spcAft>
                <a:spcPts val="300"/>
              </a:spcAft>
              <a:buNone/>
            </a:pPr>
            <a:endPar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Aft>
                <a:spcPts val="3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Analysis &amp; interpretation</a:t>
            </a:r>
          </a:p>
          <a:p>
            <a:pPr marL="342900" lvl="0" indent="-342900">
              <a:spcAft>
                <a:spcPts val="3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Explained variance curve (scree plot):</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choose components where variance gain saturates.</a:t>
            </a:r>
          </a:p>
          <a:p>
            <a:pPr marL="342900" lvl="0" indent="-342900">
              <a:spcAft>
                <a:spcPts val="3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PC scatter plots: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clustering separation indicates PCA is capturing discriminative structure.</a:t>
            </a:r>
          </a:p>
          <a:p>
            <a:pPr marL="342900" lvl="0" indent="-342900">
              <a:spcAft>
                <a:spcPts val="3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Loadings: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show which original features (e.g., DCT bands, skewness) carry most variance.</a:t>
            </a:r>
          </a:p>
          <a:p>
            <a:pPr>
              <a:spcAft>
                <a:spcPts val="300"/>
              </a:spcAft>
              <a:buNone/>
            </a:pPr>
            <a:endPar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Aft>
                <a:spcPts val="3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Problems &amp; remedies</a:t>
            </a:r>
          </a:p>
          <a:p>
            <a:pPr marL="342900" lvl="0" indent="-342900">
              <a:spcAft>
                <a:spcPts val="3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Linear assumption:</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PCA only captures linear structure; nonlinear manifolds won’t be captured. .</a:t>
            </a:r>
          </a:p>
          <a:p>
            <a:pPr marL="342900" lvl="0" indent="-342900">
              <a:spcAft>
                <a:spcPts val="3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Loss of discriminative info:</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PCA optimizes variance not class separation — may drop subtle class signals. Combine PCA with supervised methods (LDA) or tune component count.</a:t>
            </a:r>
          </a:p>
        </p:txBody>
      </p:sp>
    </p:spTree>
    <p:extLst>
      <p:ext uri="{BB962C8B-B14F-4D97-AF65-F5344CB8AC3E}">
        <p14:creationId xmlns:p14="http://schemas.microsoft.com/office/powerpoint/2010/main" val="30058963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675EBB-5787-F2B0-D28B-44E87868D3D0}"/>
              </a:ext>
            </a:extLst>
          </p:cNvPr>
          <p:cNvSpPr>
            <a:spLocks noGrp="1"/>
          </p:cNvSpPr>
          <p:nvPr>
            <p:ph type="sldNum" sz="quarter" idx="12"/>
          </p:nvPr>
        </p:nvSpPr>
        <p:spPr/>
        <p:txBody>
          <a:bodyPr/>
          <a:lstStyle/>
          <a:p>
            <a:fld id="{5BFCF61C-3B18-4C03-8326-CC3B32D710C9}" type="slidenum">
              <a:rPr lang="en-US" noProof="0" smtClean="0"/>
              <a:pPr/>
              <a:t>26</a:t>
            </a:fld>
            <a:endParaRPr lang="en-US" noProof="0"/>
          </a:p>
        </p:txBody>
      </p:sp>
      <p:sp>
        <p:nvSpPr>
          <p:cNvPr id="10" name="TextBox 9">
            <a:extLst>
              <a:ext uri="{FF2B5EF4-FFF2-40B4-BE49-F238E27FC236}">
                <a16:creationId xmlns:a16="http://schemas.microsoft.com/office/drawing/2014/main" id="{158D58DB-A07A-F85B-A033-7B47FA4CFB68}"/>
              </a:ext>
            </a:extLst>
          </p:cNvPr>
          <p:cNvSpPr txBox="1"/>
          <p:nvPr/>
        </p:nvSpPr>
        <p:spPr>
          <a:xfrm>
            <a:off x="867204" y="1135314"/>
            <a:ext cx="10928556" cy="1015663"/>
          </a:xfrm>
          <a:prstGeom prst="rect">
            <a:avLst/>
          </a:prstGeom>
          <a:noFill/>
        </p:spPr>
        <p:txBody>
          <a:bodyPr wrap="square">
            <a:spAutoFit/>
          </a:bodyPr>
          <a:lstStyle/>
          <a:p>
            <a:pPr>
              <a:buNone/>
            </a:pPr>
            <a:r>
              <a:rPr lang="en-IN" sz="6000" b="1" dirty="0">
                <a:solidFill>
                  <a:schemeClr val="tx2"/>
                </a:solidFill>
                <a:latin typeface="Calibri" panose="020F0502020204030204" pitchFamily="34" charset="0"/>
                <a:cs typeface="Calibri" panose="020F0502020204030204" pitchFamily="34" charset="0"/>
              </a:rPr>
              <a:t>Support Vector Machine (SVM)</a:t>
            </a:r>
          </a:p>
        </p:txBody>
      </p:sp>
      <p:sp>
        <p:nvSpPr>
          <p:cNvPr id="12" name="TextBox 11">
            <a:extLst>
              <a:ext uri="{FF2B5EF4-FFF2-40B4-BE49-F238E27FC236}">
                <a16:creationId xmlns:a16="http://schemas.microsoft.com/office/drawing/2014/main" id="{E93F9639-91DC-316B-651F-F65D5305D4A4}"/>
              </a:ext>
            </a:extLst>
          </p:cNvPr>
          <p:cNvSpPr txBox="1"/>
          <p:nvPr/>
        </p:nvSpPr>
        <p:spPr>
          <a:xfrm>
            <a:off x="410989" y="2592350"/>
            <a:ext cx="11781011" cy="3662541"/>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What is it?</a:t>
            </a:r>
          </a:p>
          <a:p>
            <a:r>
              <a:rPr lang="en-US" sz="1600" dirty="0">
                <a:latin typeface="Calibri" panose="020F0502020204030204" pitchFamily="34" charset="0"/>
                <a:cs typeface="Calibri" panose="020F0502020204030204" pitchFamily="34" charset="0"/>
              </a:rPr>
              <a:t>A supervised learning algorithm designed for classification tasks, particularly effective for high-dimensional data like images.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Why was it used?</a:t>
            </a:r>
          </a:p>
          <a:p>
            <a:r>
              <a:rPr lang="en-US" sz="1600" dirty="0">
                <a:latin typeface="Calibri" panose="020F0502020204030204" pitchFamily="34" charset="0"/>
                <a:cs typeface="Calibri" panose="020F0502020204030204" pitchFamily="34" charset="0"/>
              </a:rPr>
              <a:t>Because deepfake images have subtle differences in textures and patterns that can be separated using an optimal decision boundary. SVM finds the hyperplane that best separates Fake and Real images.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Purpose in our project:</a:t>
            </a:r>
          </a:p>
          <a:p>
            <a:r>
              <a:rPr lang="en-US" sz="1600" dirty="0">
                <a:latin typeface="Calibri" panose="020F0502020204030204" pitchFamily="34" charset="0"/>
                <a:cs typeface="Calibri" panose="020F0502020204030204" pitchFamily="34" charset="0"/>
              </a:rPr>
              <a:t>To distinguish between real and fake images by identifying the hyperplane that separates the subtle features of fake images from real ones.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How it works:</a:t>
            </a:r>
            <a:endParaRPr lang="en-US" dirty="0">
              <a:latin typeface="Calibri" panose="020F0502020204030204" pitchFamily="34" charset="0"/>
              <a:cs typeface="Calibri" panose="020F0502020204030204" pitchFamily="34" charset="0"/>
            </a:endParaRP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Feature extraction</a:t>
            </a:r>
            <a:r>
              <a:rPr lang="en-US" sz="1600" dirty="0">
                <a:latin typeface="Calibri" panose="020F0502020204030204" pitchFamily="34" charset="0"/>
                <a:cs typeface="Calibri" panose="020F0502020204030204" pitchFamily="34" charset="0"/>
              </a:rPr>
              <a:t> → images are converted into numerical feature vectors.</a:t>
            </a: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SVM algorithm</a:t>
            </a:r>
            <a:r>
              <a:rPr lang="en-US" sz="1600" dirty="0">
                <a:latin typeface="Calibri" panose="020F0502020204030204" pitchFamily="34" charset="0"/>
                <a:cs typeface="Calibri" panose="020F0502020204030204" pitchFamily="34" charset="0"/>
              </a:rPr>
              <a:t> → finds the optimal hyperplane that maximizes the margin between Fake and Real classes.</a:t>
            </a: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Kernel trick (if used)</a:t>
            </a:r>
            <a:r>
              <a:rPr lang="en-US" sz="1600" dirty="0">
                <a:latin typeface="Calibri" panose="020F0502020204030204" pitchFamily="34" charset="0"/>
                <a:cs typeface="Calibri" panose="020F0502020204030204" pitchFamily="34" charset="0"/>
              </a:rPr>
              <a:t> → maps data into higher dimensions to handle non-linear patterns.</a:t>
            </a:r>
          </a:p>
          <a:p>
            <a:pPr marL="742950" lvl="1" indent="-285750">
              <a:buFont typeface="Wingdings" panose="05000000000000000000" pitchFamily="2" charset="2"/>
              <a:buChar char="§"/>
            </a:pPr>
            <a:r>
              <a:rPr lang="en-US" sz="1600" b="1" dirty="0">
                <a:latin typeface="Calibri" panose="020F0502020204030204" pitchFamily="34" charset="0"/>
                <a:cs typeface="Calibri" panose="020F0502020204030204" pitchFamily="34" charset="0"/>
              </a:rPr>
              <a:t>Output</a:t>
            </a:r>
            <a:r>
              <a:rPr lang="en-US" sz="1600" dirty="0">
                <a:latin typeface="Calibri" panose="020F0502020204030204" pitchFamily="34" charset="0"/>
                <a:cs typeface="Calibri" panose="020F0502020204030204" pitchFamily="34" charset="0"/>
              </a:rPr>
              <a:t> → gives prediction: Fake (0) or Real (1).</a:t>
            </a:r>
          </a:p>
          <a:p>
            <a:pPr>
              <a:buNone/>
            </a:pPr>
            <a:r>
              <a:rPr lang="en-US" sz="1600" i="1" dirty="0">
                <a:latin typeface="Calibri" panose="020F0502020204030204" pitchFamily="34" charset="0"/>
                <a:cs typeface="Calibri" panose="020F0502020204030204" pitchFamily="34" charset="0"/>
              </a:rPr>
              <a:t>"SVM is a classification-focused model that separates subtle deepfake patterns using a decision boundary, making it effective for our project."</a:t>
            </a:r>
            <a:endParaRPr lang="en-US" sz="1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12538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heel(1)">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802279-D58F-C3C0-4729-D6287C452F2C}"/>
              </a:ext>
            </a:extLst>
          </p:cNvPr>
          <p:cNvSpPr txBox="1"/>
          <p:nvPr/>
        </p:nvSpPr>
        <p:spPr>
          <a:xfrm>
            <a:off x="230605" y="0"/>
            <a:ext cx="11730790" cy="6420347"/>
          </a:xfrm>
          <a:prstGeom prst="rect">
            <a:avLst/>
          </a:prstGeom>
          <a:noFill/>
        </p:spPr>
        <p:txBody>
          <a:bodyPr wrap="square">
            <a:spAutoFit/>
          </a:bodyPr>
          <a:lstStyle/>
          <a:p>
            <a:pPr>
              <a:lnSpc>
                <a:spcPct val="150000"/>
              </a:lnSpc>
              <a:buNone/>
            </a:pPr>
            <a:r>
              <a:rPr lang="en-IN" sz="2400" b="1" i="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rPr>
              <a:t>Stepwise fitting procedure</a:t>
            </a:r>
            <a:endParaRPr lang="en-IN" b="1" i="1" dirty="0">
              <a:solidFill>
                <a:srgbClr val="D8BEB2"/>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nSpc>
                <a:spcPct val="150000"/>
              </a:lnSpc>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Feature selection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Use statistical features and/or PCA components (recommended: PCA → SVM). Standardize features.</a:t>
            </a:r>
          </a:p>
          <a:p>
            <a:pPr marL="342900" lvl="0" indent="-342900">
              <a:lnSpc>
                <a:spcPct val="150000"/>
              </a:lnSpc>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Choose kernel</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Linear (fast) or RBF / polynomial for nonlinearity. Start with linear if PCA already applied.</a:t>
            </a:r>
          </a:p>
          <a:p>
            <a:pPr marL="742950" lvl="1" indent="-285750">
              <a:lnSpc>
                <a:spcPct val="150000"/>
              </a:lnSpc>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svm = SVC(kernel='</a:t>
            </a:r>
            <a:r>
              <a:rPr lang="en-IN" dirty="0" err="1">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rbf</a:t>
            </a: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 probability=True, random_state=random_seed)</a:t>
            </a:r>
          </a:p>
          <a:p>
            <a:pPr marL="742950" lvl="1" indent="-285750">
              <a:lnSpc>
                <a:spcPct val="150000"/>
              </a:lnSpc>
              <a:buSzPts val="1000"/>
              <a:buFont typeface="Arial" panose="020B0604020202020204" pitchFamily="34" charset="0"/>
              <a:buChar char="•"/>
              <a:tabLst>
                <a:tab pos="914400" algn="l"/>
              </a:tabLst>
            </a:pPr>
            <a:r>
              <a:rPr lang="en-IN"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start = time.time()</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nSpc>
                <a:spcPct val="150000"/>
              </a:lnSpc>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Hyperparameter tuning</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Grid or randomized search for C (regularization) and gamma (RBF). Use cross-validation on training set.</a:t>
            </a:r>
          </a:p>
          <a:p>
            <a:pPr marL="342900" lvl="0" indent="-342900">
              <a:lnSpc>
                <a:spcPct val="150000"/>
              </a:lnSpc>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Train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Fit SVM on training data using chosen hyperparameters.</a:t>
            </a:r>
          </a:p>
          <a:p>
            <a:pPr marL="742950" lvl="1" indent="-285750">
              <a:lnSpc>
                <a:spcPct val="150000"/>
              </a:lnSpc>
              <a:buSzPts val="1000"/>
              <a:buFont typeface="Arial" panose="020B0604020202020204" pitchFamily="34" charset="0"/>
              <a:buChar char="•"/>
              <a:tabLst>
                <a:tab pos="914400" algn="l"/>
              </a:tabLst>
            </a:pPr>
            <a:r>
              <a:rPr lang="en-US"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svm.fit(X_train_flat_scaled, y_train)</a:t>
            </a:r>
          </a:p>
          <a:p>
            <a:pPr marL="742950" lvl="1" indent="-285750">
              <a:lnSpc>
                <a:spcPct val="150000"/>
              </a:lnSpc>
              <a:buSzPts val="1000"/>
              <a:buFont typeface="Arial" panose="020B0604020202020204" pitchFamily="34" charset="0"/>
              <a:buChar char="•"/>
              <a:tabLst>
                <a:tab pos="914400" algn="l"/>
              </a:tabLst>
            </a:pPr>
            <a:r>
              <a:rPr lang="en-US" dirty="0">
                <a:solidFill>
                  <a:schemeClr val="accent1">
                    <a:lumMod val="20000"/>
                    <a:lumOff val="80000"/>
                  </a:schemeClr>
                </a:solidFill>
                <a:latin typeface="Calibri" panose="020F0502020204030204" pitchFamily="34" charset="0"/>
                <a:ea typeface="Times New Roman" panose="02020603050405020304" pitchFamily="18" charset="0"/>
                <a:cs typeface="Calibri" panose="020F0502020204030204" pitchFamily="34" charset="0"/>
              </a:rPr>
              <a:t>svm_time = time.time() - start</a:t>
            </a:r>
            <a:endParaRPr lang="en-IN" dirty="0">
              <a:solidFill>
                <a:schemeClr val="accent1">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nSpc>
                <a:spcPct val="150000"/>
              </a:lnSpc>
              <a:buFont typeface="+mj-lt"/>
              <a:buAutoNum type="arabicPeriod"/>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Model validation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nSpc>
                <a:spcPct val="150000"/>
              </a:lnSpc>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Cross-validation performance metrics: mean accuracy, variance across folds.</a:t>
            </a:r>
          </a:p>
        </p:txBody>
      </p:sp>
    </p:spTree>
    <p:extLst>
      <p:ext uri="{BB962C8B-B14F-4D97-AF65-F5344CB8AC3E}">
        <p14:creationId xmlns:p14="http://schemas.microsoft.com/office/powerpoint/2010/main" val="23333212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AD835E-707E-4BF8-1496-4F8D8DBFE015}"/>
              </a:ext>
            </a:extLst>
          </p:cNvPr>
          <p:cNvSpPr txBox="1"/>
          <p:nvPr/>
        </p:nvSpPr>
        <p:spPr>
          <a:xfrm>
            <a:off x="332874" y="305068"/>
            <a:ext cx="10992852" cy="6247864"/>
          </a:xfrm>
          <a:prstGeom prst="rect">
            <a:avLst/>
          </a:prstGeom>
          <a:noFill/>
        </p:spPr>
        <p:txBody>
          <a:bodyPr wrap="square">
            <a:spAutoFit/>
          </a:bodyPr>
          <a:lstStyle/>
          <a:p>
            <a:pPr marL="342900" lvl="0" indent="-342900">
              <a:spcBef>
                <a:spcPts val="200"/>
              </a:spcBef>
              <a:spcAft>
                <a:spcPts val="400"/>
              </a:spcAft>
              <a:buNone/>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6. Evaluate</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200"/>
              </a:spcBef>
              <a:spcAft>
                <a:spcPts val="4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On test set: accuracy, precision, recall, F1, confusion matrix; compute ROC/AUC for probabilistic outputs.</a:t>
            </a:r>
          </a:p>
          <a:p>
            <a:pPr marL="342900" lvl="0" indent="-342900">
              <a:spcBef>
                <a:spcPts val="200"/>
              </a:spcBef>
              <a:spcAft>
                <a:spcPts val="400"/>
              </a:spcAft>
              <a:buNone/>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7. Forecasting (prediction)</a:t>
            </a:r>
            <a:endPar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spcBef>
                <a:spcPts val="200"/>
              </a:spcBef>
              <a:spcAft>
                <a:spcPts val="400"/>
              </a:spcAft>
              <a:buSzPts val="1000"/>
              <a:buFont typeface="Courier New" panose="02070309020205020404" pitchFamily="49" charset="0"/>
              <a:buChar char="o"/>
              <a:tabLst>
                <a:tab pos="914400" algn="l"/>
              </a:tabLst>
            </a:pP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Apply the same preprocessing and PCA transforms, then predict labels for new images.</a:t>
            </a:r>
          </a:p>
          <a:p>
            <a:pPr>
              <a:spcBef>
                <a:spcPts val="200"/>
              </a:spcBef>
              <a:spcAft>
                <a:spcPts val="400"/>
              </a:spcAft>
              <a:buNone/>
            </a:pPr>
            <a:endPar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Analysis &amp; interpretation</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Support vectors: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inspect the number and nature — many support vectors may indicate complex boundary or noisy data.</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Decision boundary:</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visualize in PCA-reduced 2D to understand separation.</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Feature importance:</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for linear SVM, weights indicate feature influence.</a:t>
            </a:r>
          </a:p>
          <a:p>
            <a:pPr>
              <a:spcBef>
                <a:spcPts val="200"/>
              </a:spcBef>
              <a:spcAft>
                <a:spcPts val="400"/>
              </a:spcAft>
              <a:buNone/>
            </a:pPr>
            <a:endPar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a:spcBef>
                <a:spcPts val="200"/>
              </a:spcBef>
              <a:spcAft>
                <a:spcPts val="400"/>
              </a:spcAft>
              <a:buNone/>
            </a:pPr>
            <a:r>
              <a:rPr lang="en-IN" sz="2400" b="1"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Problems &amp; remedies</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Scalability:</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SVMs with non-linear kernels scale poorly to large datasets — consider linear SVM or approximate methods.</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Sensitive to feature scaling:</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always standardize.</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Hard-to-choose kernel/hyperparams:</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use systematic cross-validation  for unbiased selection.</a:t>
            </a:r>
          </a:p>
          <a:p>
            <a:pPr marL="342900" lvl="0" indent="-342900">
              <a:spcBef>
                <a:spcPts val="200"/>
              </a:spcBef>
              <a:spcAft>
                <a:spcPts val="400"/>
              </a:spcAft>
              <a:buSzPts val="1000"/>
              <a:buFont typeface="Symbol" panose="05050102010706020507" pitchFamily="18" charset="2"/>
              <a:buChar char=""/>
              <a:tabLst>
                <a:tab pos="457200" algn="l"/>
              </a:tabLst>
            </a:pPr>
            <a:r>
              <a:rPr lang="en-IN"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Non-probabilistic by default:</a:t>
            </a:r>
            <a:r>
              <a:rPr lang="en-IN"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needs calibration for probability scores.</a:t>
            </a:r>
          </a:p>
        </p:txBody>
      </p:sp>
    </p:spTree>
    <p:extLst>
      <p:ext uri="{BB962C8B-B14F-4D97-AF65-F5344CB8AC3E}">
        <p14:creationId xmlns:p14="http://schemas.microsoft.com/office/powerpoint/2010/main" val="901901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6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C8FEBE-8050-D68D-4118-A071B84497FA}"/>
              </a:ext>
            </a:extLst>
          </p:cNvPr>
          <p:cNvSpPr>
            <a:spLocks noGrp="1"/>
          </p:cNvSpPr>
          <p:nvPr>
            <p:ph type="sldNum" sz="quarter" idx="12"/>
          </p:nvPr>
        </p:nvSpPr>
        <p:spPr/>
        <p:txBody>
          <a:bodyPr/>
          <a:lstStyle/>
          <a:p>
            <a:fld id="{5BFCF61C-3B18-4C03-8326-CC3B32D710C9}" type="slidenum">
              <a:rPr lang="en-US" noProof="0" smtClean="0"/>
              <a:t>29</a:t>
            </a:fld>
            <a:endParaRPr lang="en-US" noProof="0"/>
          </a:p>
        </p:txBody>
      </p:sp>
      <p:sp>
        <p:nvSpPr>
          <p:cNvPr id="5" name="TextBox 4">
            <a:extLst>
              <a:ext uri="{FF2B5EF4-FFF2-40B4-BE49-F238E27FC236}">
                <a16:creationId xmlns:a16="http://schemas.microsoft.com/office/drawing/2014/main" id="{92EC3739-AA9A-5848-3FC7-84C68CE47616}"/>
              </a:ext>
            </a:extLst>
          </p:cNvPr>
          <p:cNvSpPr txBox="1"/>
          <p:nvPr/>
        </p:nvSpPr>
        <p:spPr>
          <a:xfrm>
            <a:off x="1777092" y="1992085"/>
            <a:ext cx="9865179" cy="2308324"/>
          </a:xfrm>
          <a:prstGeom prst="rect">
            <a:avLst/>
          </a:prstGeom>
          <a:noFill/>
        </p:spPr>
        <p:txBody>
          <a:bodyPr wrap="square" rtlCol="0">
            <a:spAutoFit/>
          </a:bodyPr>
          <a:lstStyle/>
          <a:p>
            <a:r>
              <a:rPr lang="en-US" sz="7200" b="1" i="1" dirty="0">
                <a:latin typeface="Calibri" panose="020F0502020204030204" pitchFamily="34" charset="0"/>
                <a:cs typeface="Calibri" panose="020F0502020204030204" pitchFamily="34" charset="0"/>
              </a:rPr>
              <a:t>Outputs/Plots of CNN, PCA, and SVM</a:t>
            </a:r>
            <a:endParaRPr lang="en-IN" sz="72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8368599"/>
      </p:ext>
    </p:extLst>
  </p:cSld>
  <p:clrMapOvr>
    <a:overrideClrMapping bg1="lt1" tx1="dk1" bg2="lt2" tx2="dk2" accent1="accent1" accent2="accent2" accent3="accent3" accent4="accent4" accent5="accent5" accent6="accent6" hlink="hlink" folHlink="folHlink"/>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DE3E12-ABC4-DD2A-1C7E-C372AA128B0C}"/>
              </a:ext>
            </a:extLst>
          </p:cNvPr>
          <p:cNvSpPr/>
          <p:nvPr/>
        </p:nvSpPr>
        <p:spPr>
          <a:xfrm>
            <a:off x="197938" y="5714999"/>
            <a:ext cx="6137548" cy="94480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Calibri" panose="020F0502020204030204" pitchFamily="34" charset="0"/>
                <a:cs typeface="Calibri" panose="020F0502020204030204" pitchFamily="34" charset="0"/>
              </a:rPr>
              <a:t>The curves suggest that the model is performing extremely well with both training and validation data, showing fast convergence, high accuracy, and low loss.</a:t>
            </a:r>
            <a:endParaRPr lang="en-IN" sz="2000" dirty="0"/>
          </a:p>
        </p:txBody>
      </p:sp>
      <p:pic>
        <p:nvPicPr>
          <p:cNvPr id="3" name="Picture 2">
            <a:extLst>
              <a:ext uri="{FF2B5EF4-FFF2-40B4-BE49-F238E27FC236}">
                <a16:creationId xmlns:a16="http://schemas.microsoft.com/office/drawing/2014/main" id="{9EB8B125-DB06-193D-9B07-232BAAF2DBB7}"/>
              </a:ext>
            </a:extLst>
          </p:cNvPr>
          <p:cNvPicPr>
            <a:picLocks noChangeAspect="1"/>
          </p:cNvPicPr>
          <p:nvPr/>
        </p:nvPicPr>
        <p:blipFill>
          <a:blip r:embed="rId3"/>
          <a:stretch>
            <a:fillRect/>
          </a:stretch>
        </p:blipFill>
        <p:spPr>
          <a:xfrm>
            <a:off x="197938" y="2203770"/>
            <a:ext cx="6137548" cy="33800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84259B18-DBF4-A21D-AE10-139AA9409C81}"/>
              </a:ext>
            </a:extLst>
          </p:cNvPr>
          <p:cNvSpPr txBox="1"/>
          <p:nvPr/>
        </p:nvSpPr>
        <p:spPr>
          <a:xfrm>
            <a:off x="197938" y="-12221"/>
            <a:ext cx="6627405" cy="2215991"/>
          </a:xfrm>
          <a:prstGeom prst="rect">
            <a:avLst/>
          </a:prstGeom>
          <a:noFill/>
        </p:spPr>
        <p:txBody>
          <a:bodyPr wrap="square" rtlCol="0">
            <a:spAutoFit/>
          </a:bodyPr>
          <a:lstStyle/>
          <a:p>
            <a:pPr lvl="1">
              <a:lnSpc>
                <a:spcPct val="150000"/>
              </a:lnSpc>
            </a:pPr>
            <a:r>
              <a:rPr lang="en-US" sz="2000" b="1" i="1" dirty="0">
                <a:latin typeface="Calibri" panose="020F0502020204030204" pitchFamily="34" charset="0"/>
                <a:cs typeface="Calibri" panose="020F0502020204030204" pitchFamily="34" charset="0"/>
              </a:rPr>
              <a:t>##CNN Accuracy and Loss Curves##</a:t>
            </a:r>
          </a:p>
          <a:p>
            <a:r>
              <a:rPr lang="en-US" dirty="0">
                <a:latin typeface="Calibri" panose="020F0502020204030204" pitchFamily="34" charset="0"/>
                <a:cs typeface="Calibri" panose="020F0502020204030204" pitchFamily="34" charset="0"/>
              </a:rPr>
              <a:t>plt.plot(history.history['accuracy'], label='Train’), plt.plot(history.history['val_accuracy'], label='Val')</a:t>
            </a:r>
          </a:p>
          <a:p>
            <a:r>
              <a:rPr lang="en-US" dirty="0">
                <a:latin typeface="Calibri" panose="020F0502020204030204" pitchFamily="34" charset="0"/>
                <a:cs typeface="Calibri" panose="020F0502020204030204" pitchFamily="34" charset="0"/>
              </a:rPr>
              <a:t>plt.plot(history.history['loss'], label='Train’)</a:t>
            </a:r>
          </a:p>
          <a:p>
            <a:r>
              <a:rPr lang="en-US" dirty="0">
                <a:latin typeface="Calibri" panose="020F0502020204030204" pitchFamily="34" charset="0"/>
                <a:cs typeface="Calibri" panose="020F0502020204030204" pitchFamily="34" charset="0"/>
              </a:rPr>
              <a:t>plt.plot(history.history['val_loss'], label='Val')</a:t>
            </a:r>
          </a:p>
          <a:p>
            <a:r>
              <a:rPr lang="en-US" dirty="0">
                <a:latin typeface="Calibri" panose="020F0502020204030204" pitchFamily="34" charset="0"/>
                <a:cs typeface="Calibri" panose="020F0502020204030204" pitchFamily="34" charset="0"/>
              </a:rPr>
              <a:t>save_plot(fig, "cnn_training.png", subtitle="CNN Training Performance")</a:t>
            </a:r>
            <a:endParaRPr lang="en-IN"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981BE193-49F5-9C93-F05D-7B77BB82DC40}"/>
              </a:ext>
            </a:extLst>
          </p:cNvPr>
          <p:cNvPicPr>
            <a:picLocks noChangeAspect="1"/>
          </p:cNvPicPr>
          <p:nvPr/>
        </p:nvPicPr>
        <p:blipFill>
          <a:blip r:embed="rId4"/>
          <a:stretch>
            <a:fillRect/>
          </a:stretch>
        </p:blipFill>
        <p:spPr>
          <a:xfrm>
            <a:off x="6694712" y="2138456"/>
            <a:ext cx="5358493" cy="3576542"/>
          </a:xfrm>
          <a:prstGeom prst="rect">
            <a:avLst/>
          </a:prstGeom>
        </p:spPr>
      </p:pic>
      <p:sp>
        <p:nvSpPr>
          <p:cNvPr id="11" name="Rectangle 10">
            <a:extLst>
              <a:ext uri="{FF2B5EF4-FFF2-40B4-BE49-F238E27FC236}">
                <a16:creationId xmlns:a16="http://schemas.microsoft.com/office/drawing/2014/main" id="{5F89F3B1-E114-6385-84DD-8DE0979BBE0D}"/>
              </a:ext>
            </a:extLst>
          </p:cNvPr>
          <p:cNvSpPr/>
          <p:nvPr/>
        </p:nvSpPr>
        <p:spPr>
          <a:xfrm>
            <a:off x="6635569" y="5714998"/>
            <a:ext cx="5358493" cy="9448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Calibri" panose="020F0502020204030204" pitchFamily="34" charset="0"/>
                <a:cs typeface="Calibri" panose="020F0502020204030204" pitchFamily="34" charset="0"/>
              </a:rPr>
              <a:t>The model performs equally well on both classes (Fake and Real).There is no class imbalance issue where one class is learned better than the other.</a:t>
            </a:r>
            <a:endParaRPr lang="en-IN" sz="2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61E74E9-E1BD-EF3C-1706-3B9B53680D44}"/>
              </a:ext>
            </a:extLst>
          </p:cNvPr>
          <p:cNvSpPr txBox="1"/>
          <p:nvPr/>
        </p:nvSpPr>
        <p:spPr>
          <a:xfrm>
            <a:off x="6825342" y="0"/>
            <a:ext cx="5551714" cy="1938992"/>
          </a:xfrm>
          <a:prstGeom prst="rect">
            <a:avLst/>
          </a:prstGeom>
          <a:noFill/>
        </p:spPr>
        <p:txBody>
          <a:bodyPr wrap="square" rtlCol="0">
            <a:spAutoFit/>
          </a:bodyPr>
          <a:lstStyle/>
          <a:p>
            <a:pPr lvl="2">
              <a:lnSpc>
                <a:spcPct val="150000"/>
              </a:lnSpc>
            </a:pPr>
            <a:r>
              <a:rPr lang="en-IN" sz="2000" b="1" dirty="0">
                <a:latin typeface="Calibri" panose="020F0502020204030204" pitchFamily="34" charset="0"/>
                <a:cs typeface="Calibri" panose="020F0502020204030204" pitchFamily="34" charset="0"/>
              </a:rPr>
              <a:t>##Classwise Accuracy##</a:t>
            </a:r>
          </a:p>
          <a:p>
            <a:r>
              <a:rPr lang="en-IN" dirty="0">
                <a:latin typeface="Calibri" panose="020F0502020204030204" pitchFamily="34" charset="0"/>
                <a:cs typeface="Calibri" panose="020F0502020204030204" pitchFamily="34" charset="0"/>
              </a:rPr>
              <a:t>plt.plot(epochs, acc[:,0], label='Fake Class Accuracy', marker='o')</a:t>
            </a:r>
          </a:p>
          <a:p>
            <a:r>
              <a:rPr lang="en-IN" dirty="0">
                <a:latin typeface="Calibri" panose="020F0502020204030204" pitchFamily="34" charset="0"/>
                <a:cs typeface="Calibri" panose="020F0502020204030204" pitchFamily="34" charset="0"/>
              </a:rPr>
              <a:t>plt.plot(epochs, acc[:,1], label='Real Class Accuracy', marker='o’)</a:t>
            </a:r>
          </a:p>
          <a:p>
            <a:r>
              <a:rPr lang="en-US" dirty="0">
                <a:latin typeface="Calibri" panose="020F0502020204030204" pitchFamily="34" charset="0"/>
                <a:cs typeface="Calibri" panose="020F0502020204030204" pitchFamily="34" charset="0"/>
              </a:rPr>
              <a:t>plt.title('Class-wise Accuracy Curve (Fake vs Real)')</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789907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309A05-CC16-C029-3DED-A9D16DEB90E5}"/>
              </a:ext>
            </a:extLst>
          </p:cNvPr>
          <p:cNvPicPr>
            <a:picLocks noChangeAspect="1"/>
          </p:cNvPicPr>
          <p:nvPr/>
        </p:nvPicPr>
        <p:blipFill>
          <a:blip r:embed="rId3"/>
          <a:stretch>
            <a:fillRect/>
          </a:stretch>
        </p:blipFill>
        <p:spPr>
          <a:xfrm>
            <a:off x="272571" y="1600200"/>
            <a:ext cx="5703686" cy="35410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8C57344D-8588-58D4-0022-C44EE0B98FDF}"/>
              </a:ext>
            </a:extLst>
          </p:cNvPr>
          <p:cNvPicPr>
            <a:picLocks noChangeAspect="1"/>
          </p:cNvPicPr>
          <p:nvPr/>
        </p:nvPicPr>
        <p:blipFill>
          <a:blip r:embed="rId4"/>
          <a:stretch>
            <a:fillRect/>
          </a:stretch>
        </p:blipFill>
        <p:spPr>
          <a:xfrm>
            <a:off x="6444771" y="1600199"/>
            <a:ext cx="5344457" cy="35410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10">
            <a:extLst>
              <a:ext uri="{FF2B5EF4-FFF2-40B4-BE49-F238E27FC236}">
                <a16:creationId xmlns:a16="http://schemas.microsoft.com/office/drawing/2014/main" id="{587CDD23-E52C-EF42-34D9-BC6245142291}"/>
              </a:ext>
            </a:extLst>
          </p:cNvPr>
          <p:cNvSpPr/>
          <p:nvPr/>
        </p:nvSpPr>
        <p:spPr>
          <a:xfrm>
            <a:off x="272573" y="5411945"/>
            <a:ext cx="5823428" cy="135527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Calibri" panose="020F0502020204030204" pitchFamily="34" charset="0"/>
              <a:cs typeface="Calibri" panose="020F0502020204030204" pitchFamily="34" charset="0"/>
            </a:endParaRPr>
          </a:p>
          <a:p>
            <a:pPr algn="ctr"/>
            <a:r>
              <a:rPr lang="en-US" dirty="0">
                <a:latin typeface="Calibri" panose="020F0502020204030204" pitchFamily="34" charset="0"/>
                <a:cs typeface="Calibri" panose="020F0502020204030204" pitchFamily="34" charset="0"/>
              </a:rPr>
              <a:t>The CNN model achieves high accuracy (~90%) in classifying Fake and Real samples. Most Fake (452) and Real (481) samples are correctly predicted, with few misclassifications (Fake→Real: 66, Real→Fake: 38). Overall, it performs slightly better at detecting Real than Fake.</a:t>
            </a:r>
            <a:endParaRPr lang="en-IN" dirty="0">
              <a:latin typeface="Calibri" panose="020F0502020204030204" pitchFamily="34" charset="0"/>
              <a:cs typeface="Calibri" panose="020F0502020204030204" pitchFamily="34" charset="0"/>
            </a:endParaRPr>
          </a:p>
          <a:p>
            <a:pPr algn="ctr"/>
            <a:endParaRPr lang="en-IN" dirty="0"/>
          </a:p>
        </p:txBody>
      </p:sp>
      <p:sp>
        <p:nvSpPr>
          <p:cNvPr id="14" name="Rectangle 13">
            <a:extLst>
              <a:ext uri="{FF2B5EF4-FFF2-40B4-BE49-F238E27FC236}">
                <a16:creationId xmlns:a16="http://schemas.microsoft.com/office/drawing/2014/main" id="{8359EF07-CECA-751A-F1F7-DD6BBACB8CCA}"/>
              </a:ext>
            </a:extLst>
          </p:cNvPr>
          <p:cNvSpPr/>
          <p:nvPr/>
        </p:nvSpPr>
        <p:spPr>
          <a:xfrm>
            <a:off x="6310992" y="5411945"/>
            <a:ext cx="5608435" cy="135527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latin typeface="Calibri" panose="020F0502020204030204" pitchFamily="34" charset="0"/>
                <a:cs typeface="Calibri" panose="020F0502020204030204" pitchFamily="34" charset="0"/>
              </a:rPr>
              <a:t>The CNN model shows strong performance in detecting deepfake images with an AUC of 0.965, indicating high accuracy in differentiating between real and fake images.</a:t>
            </a:r>
            <a:endParaRPr lang="en-IN" sz="20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0E195CBB-C7D6-0E5F-C905-C02EB0B2ABEB}"/>
              </a:ext>
            </a:extLst>
          </p:cNvPr>
          <p:cNvSpPr txBox="1"/>
          <p:nvPr/>
        </p:nvSpPr>
        <p:spPr>
          <a:xfrm>
            <a:off x="272571" y="-85561"/>
            <a:ext cx="7842729" cy="1969770"/>
          </a:xfrm>
          <a:prstGeom prst="rect">
            <a:avLst/>
          </a:prstGeom>
          <a:noFill/>
        </p:spPr>
        <p:txBody>
          <a:bodyPr wrap="square" rtlCol="0">
            <a:spAutoFit/>
          </a:bodyPr>
          <a:lstStyle/>
          <a:p>
            <a:pPr lvl="2">
              <a:lnSpc>
                <a:spcPct val="150000"/>
              </a:lnSpc>
            </a:pPr>
            <a:r>
              <a:rPr lang="en-US" sz="2000" b="1" dirty="0">
                <a:latin typeface="Calibri" panose="020F0502020204030204" pitchFamily="34" charset="0"/>
                <a:cs typeface="Calibri" panose="020F0502020204030204" pitchFamily="34" charset="0"/>
              </a:rPr>
              <a:t>## CNN Confusion Matrix ##</a:t>
            </a:r>
          </a:p>
          <a:p>
            <a:r>
              <a:rPr lang="es-ES" dirty="0">
                <a:latin typeface="Calibri" panose="020F0502020204030204" pitchFamily="34" charset="0"/>
                <a:cs typeface="Calibri" panose="020F0502020204030204" pitchFamily="34" charset="0"/>
              </a:rPr>
              <a:t>cm_cnn = confusion_matrix(y_val, y_pred_cnn)</a:t>
            </a:r>
          </a:p>
          <a:p>
            <a:r>
              <a:rPr lang="en-US" dirty="0">
                <a:latin typeface="Calibri" panose="020F0502020204030204" pitchFamily="34" charset="0"/>
                <a:cs typeface="Calibri" panose="020F0502020204030204" pitchFamily="34" charset="0"/>
              </a:rPr>
              <a:t>sns.heatmap(cm_cnn, annot=True, fmt="d", cmap="Blues", xticklabels=class_names, yticklabels=class_names)</a:t>
            </a:r>
          </a:p>
          <a:p>
            <a:endParaRPr lang="en-US" sz="2000" b="1" dirty="0">
              <a:latin typeface="Calibri" panose="020F0502020204030204" pitchFamily="34" charset="0"/>
              <a:cs typeface="Calibri" panose="020F0502020204030204" pitchFamily="34" charset="0"/>
            </a:endParaRPr>
          </a:p>
          <a:p>
            <a:endParaRPr lang="en-IN"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C383CE5-BCC2-B12C-6064-6B75A173F1BE}"/>
              </a:ext>
            </a:extLst>
          </p:cNvPr>
          <p:cNvSpPr txBox="1"/>
          <p:nvPr/>
        </p:nvSpPr>
        <p:spPr>
          <a:xfrm>
            <a:off x="5641521" y="68327"/>
            <a:ext cx="6803571" cy="1815882"/>
          </a:xfrm>
          <a:prstGeom prst="rect">
            <a:avLst/>
          </a:prstGeom>
          <a:noFill/>
        </p:spPr>
        <p:txBody>
          <a:bodyPr wrap="square" rtlCol="0">
            <a:spAutoFit/>
          </a:bodyPr>
          <a:lstStyle/>
          <a:p>
            <a:pPr lvl="4"/>
            <a:r>
              <a:rPr lang="en-US" sz="2000" b="1" dirty="0">
                <a:latin typeface="Calibri" panose="020F0502020204030204" pitchFamily="34" charset="0"/>
                <a:cs typeface="Calibri" panose="020F0502020204030204" pitchFamily="34" charset="0"/>
              </a:rPr>
              <a:t>## CNN ROC Curve ##</a:t>
            </a:r>
          </a:p>
          <a:p>
            <a:pPr lvl="2"/>
            <a:r>
              <a:rPr lang="en-IN" dirty="0">
                <a:latin typeface="Calibri" panose="020F0502020204030204" pitchFamily="34" charset="0"/>
                <a:cs typeface="Calibri" panose="020F0502020204030204" pitchFamily="34" charset="0"/>
              </a:rPr>
              <a:t>fpr, tpr, _ = roc_curve(y_val, y_pred_prob_cnn)</a:t>
            </a:r>
          </a:p>
          <a:p>
            <a:pPr lvl="2"/>
            <a:r>
              <a:rPr lang="en-IN" dirty="0">
                <a:latin typeface="Calibri" panose="020F0502020204030204" pitchFamily="34" charset="0"/>
                <a:cs typeface="Calibri" panose="020F0502020204030204" pitchFamily="34" charset="0"/>
              </a:rPr>
              <a:t>roc_auc_cnn = roc_auc_score(y_val, y_pred_prob_cnn)</a:t>
            </a:r>
          </a:p>
          <a:p>
            <a:pPr lvl="2"/>
            <a:r>
              <a:rPr lang="en-IN" dirty="0">
                <a:latin typeface="Calibri" panose="020F0502020204030204" pitchFamily="34" charset="0"/>
                <a:cs typeface="Calibri" panose="020F0502020204030204" pitchFamily="34" charset="0"/>
              </a:rPr>
              <a:t>plt.xlabel("FPR"); plt.ylabel("TPR"); plt.legend(); plt.title("CNN ROC Curve")</a:t>
            </a:r>
          </a:p>
          <a:p>
            <a:pPr lvl="2"/>
            <a:endParaRPr lang="en-US" sz="2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877779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6F456E-1AD2-2D74-E800-059DB4E97433}"/>
              </a:ext>
            </a:extLst>
          </p:cNvPr>
          <p:cNvSpPr>
            <a:spLocks noGrp="1"/>
          </p:cNvSpPr>
          <p:nvPr>
            <p:ph type="sldNum" sz="quarter" idx="12"/>
          </p:nvPr>
        </p:nvSpPr>
        <p:spPr/>
        <p:txBody>
          <a:bodyPr/>
          <a:lstStyle/>
          <a:p>
            <a:fld id="{5BFCF61C-3B18-4C03-8326-CC3B32D710C9}" type="slidenum">
              <a:rPr lang="en-US" noProof="0" smtClean="0"/>
              <a:t>32</a:t>
            </a:fld>
            <a:endParaRPr lang="en-US" noProof="0"/>
          </a:p>
        </p:txBody>
      </p:sp>
      <p:sp>
        <p:nvSpPr>
          <p:cNvPr id="7" name="Rectangle 6">
            <a:extLst>
              <a:ext uri="{FF2B5EF4-FFF2-40B4-BE49-F238E27FC236}">
                <a16:creationId xmlns:a16="http://schemas.microsoft.com/office/drawing/2014/main" id="{624EF7EE-0313-E485-5938-F7A290D8ED3E}"/>
              </a:ext>
            </a:extLst>
          </p:cNvPr>
          <p:cNvSpPr/>
          <p:nvPr/>
        </p:nvSpPr>
        <p:spPr>
          <a:xfrm>
            <a:off x="396239" y="399722"/>
            <a:ext cx="6429103" cy="615652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dirty="0">
                <a:latin typeface="Calibri" panose="020F0502020204030204" pitchFamily="34" charset="0"/>
                <a:cs typeface="Calibri" panose="020F0502020204030204" pitchFamily="34" charset="0"/>
              </a:rPr>
              <a:t>Deepfake Image Detection using Machine Learning</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Classification Report</a:t>
            </a:r>
          </a:p>
          <a:p>
            <a:r>
              <a:rPr lang="en-US" sz="2400" dirty="0">
                <a:latin typeface="Calibri" panose="020F0502020204030204" pitchFamily="34" charset="0"/>
                <a:cs typeface="Calibri" panose="020F0502020204030204" pitchFamily="34" charset="0"/>
              </a:rPr>
              <a:t>=====================</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              precision    recall  f1-score   support</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        Fake       1.00      1.00      1.00       518</a:t>
            </a:r>
          </a:p>
          <a:p>
            <a:r>
              <a:rPr lang="en-US" sz="2400" dirty="0">
                <a:latin typeface="Calibri" panose="020F0502020204030204" pitchFamily="34" charset="0"/>
                <a:cs typeface="Calibri" panose="020F0502020204030204" pitchFamily="34" charset="0"/>
              </a:rPr>
              <a:t>        Real       1.00      1.00      1.00       519</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    accuracy                           1.00      1037</a:t>
            </a:r>
          </a:p>
          <a:p>
            <a:r>
              <a:rPr lang="en-US" sz="2400" dirty="0">
                <a:latin typeface="Calibri" panose="020F0502020204030204" pitchFamily="34" charset="0"/>
                <a:cs typeface="Calibri" panose="020F0502020204030204" pitchFamily="34" charset="0"/>
              </a:rPr>
              <a:t>   macro avg       1.00      1.00      1.00      1037</a:t>
            </a:r>
          </a:p>
          <a:p>
            <a:r>
              <a:rPr lang="en-US" sz="2400" dirty="0">
                <a:latin typeface="Calibri" panose="020F0502020204030204" pitchFamily="34" charset="0"/>
                <a:cs typeface="Calibri" panose="020F0502020204030204" pitchFamily="34" charset="0"/>
              </a:rPr>
              <a:t>weighted avg       1.00      1.00      1.00      1037</a:t>
            </a:r>
          </a:p>
        </p:txBody>
      </p:sp>
      <p:sp>
        <p:nvSpPr>
          <p:cNvPr id="8" name="Rectangle 7">
            <a:extLst>
              <a:ext uri="{FF2B5EF4-FFF2-40B4-BE49-F238E27FC236}">
                <a16:creationId xmlns:a16="http://schemas.microsoft.com/office/drawing/2014/main" id="{2ED4DD61-E281-407A-149C-208DD2BD41B4}"/>
              </a:ext>
            </a:extLst>
          </p:cNvPr>
          <p:cNvSpPr/>
          <p:nvPr/>
        </p:nvSpPr>
        <p:spPr>
          <a:xfrm>
            <a:off x="7331529" y="383392"/>
            <a:ext cx="3771900" cy="618918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nSpc>
                <a:spcPct val="150000"/>
              </a:lnSpc>
            </a:pPr>
            <a:r>
              <a:rPr lang="en-US" sz="2400" b="1" i="1" dirty="0">
                <a:latin typeface="Calibri" panose="020F0502020204030204" pitchFamily="34" charset="0"/>
                <a:cs typeface="Calibri" panose="020F0502020204030204" pitchFamily="34" charset="0"/>
              </a:rPr>
              <a:t>Interpretation:-</a:t>
            </a:r>
          </a:p>
          <a:p>
            <a:r>
              <a:rPr lang="en-US" sz="2000" dirty="0">
                <a:latin typeface="Calibri" panose="020F0502020204030204" pitchFamily="34" charset="0"/>
                <a:cs typeface="Calibri" panose="020F0502020204030204" pitchFamily="34" charset="0"/>
              </a:rPr>
              <a:t>The classification report shows that the model achieved </a:t>
            </a:r>
            <a:r>
              <a:rPr lang="en-US" sz="2000" b="1" dirty="0">
                <a:latin typeface="Calibri" panose="020F0502020204030204" pitchFamily="34" charset="0"/>
                <a:cs typeface="Calibri" panose="020F0502020204030204" pitchFamily="34" charset="0"/>
              </a:rPr>
              <a:t>perfect performance</a:t>
            </a:r>
            <a:r>
              <a:rPr lang="en-US" sz="2000" dirty="0">
                <a:latin typeface="Calibri" panose="020F0502020204030204" pitchFamily="34" charset="0"/>
                <a:cs typeface="Calibri" panose="020F0502020204030204" pitchFamily="34" charset="0"/>
              </a:rPr>
              <a:t> on the test dataset. Both classes — </a:t>
            </a:r>
            <a:r>
              <a:rPr lang="en-US" sz="2000" i="1" dirty="0">
                <a:latin typeface="Calibri" panose="020F0502020204030204" pitchFamily="34" charset="0"/>
                <a:cs typeface="Calibri" panose="020F0502020204030204" pitchFamily="34" charset="0"/>
              </a:rPr>
              <a:t>Fake</a:t>
            </a:r>
            <a:r>
              <a:rPr lang="en-US" sz="2000" dirty="0">
                <a:latin typeface="Calibri" panose="020F0502020204030204" pitchFamily="34" charset="0"/>
                <a:cs typeface="Calibri" panose="020F0502020204030204" pitchFamily="34" charset="0"/>
              </a:rPr>
              <a:t> and </a:t>
            </a:r>
            <a:r>
              <a:rPr lang="en-US" sz="2000" i="1" dirty="0">
                <a:latin typeface="Calibri" panose="020F0502020204030204" pitchFamily="34" charset="0"/>
                <a:cs typeface="Calibri" panose="020F0502020204030204" pitchFamily="34" charset="0"/>
              </a:rPr>
              <a:t>Real</a:t>
            </a:r>
            <a:r>
              <a:rPr lang="en-US" sz="2000" dirty="0">
                <a:latin typeface="Calibri" panose="020F0502020204030204" pitchFamily="34" charset="0"/>
                <a:cs typeface="Calibri" panose="020F0502020204030204" pitchFamily="34" charset="0"/>
              </a:rPr>
              <a:t> — have </a:t>
            </a:r>
            <a:r>
              <a:rPr lang="en-US" sz="2000" b="1" dirty="0">
                <a:latin typeface="Calibri" panose="020F0502020204030204" pitchFamily="34" charset="0"/>
                <a:cs typeface="Calibri" panose="020F0502020204030204" pitchFamily="34" charset="0"/>
              </a:rPr>
              <a:t>precision, recall, and F1-score of 1.00</a:t>
            </a:r>
            <a:r>
              <a:rPr lang="en-US" sz="2000" dirty="0">
                <a:latin typeface="Calibri" panose="020F0502020204030204" pitchFamily="34" charset="0"/>
                <a:cs typeface="Calibri" panose="020F0502020204030204" pitchFamily="34" charset="0"/>
              </a:rPr>
              <a:t>, meaning the model correctly identified all fake and real images without any misclassification.</a:t>
            </a:r>
          </a:p>
          <a:p>
            <a:r>
              <a:rPr lang="en-US" sz="2000" dirty="0">
                <a:latin typeface="Calibri" panose="020F0502020204030204" pitchFamily="34" charset="0"/>
                <a:cs typeface="Calibri" panose="020F0502020204030204" pitchFamily="34" charset="0"/>
              </a:rPr>
              <a:t>The </a:t>
            </a:r>
            <a:r>
              <a:rPr lang="en-US" sz="2000" b="1" dirty="0">
                <a:latin typeface="Calibri" panose="020F0502020204030204" pitchFamily="34" charset="0"/>
                <a:cs typeface="Calibri" panose="020F0502020204030204" pitchFamily="34" charset="0"/>
              </a:rPr>
              <a:t>overall accuracy</a:t>
            </a:r>
            <a:r>
              <a:rPr lang="en-US" sz="2000" dirty="0">
                <a:latin typeface="Calibri" panose="020F0502020204030204" pitchFamily="34" charset="0"/>
                <a:cs typeface="Calibri" panose="020F0502020204030204" pitchFamily="34" charset="0"/>
              </a:rPr>
              <a:t> of 100% indicates that the model has learned the distinguishing features between real and fake images extremely well. Such results suggest a highly effective model, though it may also indicate possible </a:t>
            </a:r>
            <a:r>
              <a:rPr lang="en-US" sz="2000" b="1" dirty="0">
                <a:latin typeface="Calibri" panose="020F0502020204030204" pitchFamily="34" charset="0"/>
                <a:cs typeface="Calibri" panose="020F0502020204030204" pitchFamily="34" charset="0"/>
              </a:rPr>
              <a:t>overfitting</a:t>
            </a:r>
            <a:r>
              <a:rPr lang="en-US" sz="2000" dirty="0">
                <a:latin typeface="Calibri" panose="020F0502020204030204" pitchFamily="34" charset="0"/>
                <a:cs typeface="Calibri" panose="020F0502020204030204" pitchFamily="34" charset="0"/>
              </a:rPr>
              <a:t> if the dataset is small or lacks diversity.</a:t>
            </a:r>
          </a:p>
          <a:p>
            <a:pPr algn="ctr"/>
            <a:endParaRPr lang="en-IN" dirty="0"/>
          </a:p>
        </p:txBody>
      </p:sp>
    </p:spTree>
    <p:extLst>
      <p:ext uri="{BB962C8B-B14F-4D97-AF65-F5344CB8AC3E}">
        <p14:creationId xmlns:p14="http://schemas.microsoft.com/office/powerpoint/2010/main" val="38240715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80">
                                          <p:stCondLst>
                                            <p:cond delay="0"/>
                                          </p:stCondLst>
                                        </p:cTn>
                                        <p:tgtEl>
                                          <p:spTgt spid="8"/>
                                        </p:tgtEl>
                                      </p:cBhvr>
                                    </p:animEffect>
                                    <p:anim calcmode="lin" valueType="num">
                                      <p:cBhvr>
                                        <p:cTn id="13"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8" dur="26">
                                          <p:stCondLst>
                                            <p:cond delay="650"/>
                                          </p:stCondLst>
                                        </p:cTn>
                                        <p:tgtEl>
                                          <p:spTgt spid="8"/>
                                        </p:tgtEl>
                                      </p:cBhvr>
                                      <p:to x="100000" y="60000"/>
                                    </p:animScale>
                                    <p:animScale>
                                      <p:cBhvr>
                                        <p:cTn id="19" dur="166" decel="50000">
                                          <p:stCondLst>
                                            <p:cond delay="676"/>
                                          </p:stCondLst>
                                        </p:cTn>
                                        <p:tgtEl>
                                          <p:spTgt spid="8"/>
                                        </p:tgtEl>
                                      </p:cBhvr>
                                      <p:to x="100000" y="100000"/>
                                    </p:animScale>
                                    <p:animScale>
                                      <p:cBhvr>
                                        <p:cTn id="20" dur="26">
                                          <p:stCondLst>
                                            <p:cond delay="1312"/>
                                          </p:stCondLst>
                                        </p:cTn>
                                        <p:tgtEl>
                                          <p:spTgt spid="8"/>
                                        </p:tgtEl>
                                      </p:cBhvr>
                                      <p:to x="100000" y="80000"/>
                                    </p:animScale>
                                    <p:animScale>
                                      <p:cBhvr>
                                        <p:cTn id="21" dur="166" decel="50000">
                                          <p:stCondLst>
                                            <p:cond delay="1338"/>
                                          </p:stCondLst>
                                        </p:cTn>
                                        <p:tgtEl>
                                          <p:spTgt spid="8"/>
                                        </p:tgtEl>
                                      </p:cBhvr>
                                      <p:to x="100000" y="100000"/>
                                    </p:animScale>
                                    <p:animScale>
                                      <p:cBhvr>
                                        <p:cTn id="22" dur="26">
                                          <p:stCondLst>
                                            <p:cond delay="1642"/>
                                          </p:stCondLst>
                                        </p:cTn>
                                        <p:tgtEl>
                                          <p:spTgt spid="8"/>
                                        </p:tgtEl>
                                      </p:cBhvr>
                                      <p:to x="100000" y="90000"/>
                                    </p:animScale>
                                    <p:animScale>
                                      <p:cBhvr>
                                        <p:cTn id="23" dur="166" decel="50000">
                                          <p:stCondLst>
                                            <p:cond delay="1668"/>
                                          </p:stCondLst>
                                        </p:cTn>
                                        <p:tgtEl>
                                          <p:spTgt spid="8"/>
                                        </p:tgtEl>
                                      </p:cBhvr>
                                      <p:to x="100000" y="100000"/>
                                    </p:animScale>
                                    <p:animScale>
                                      <p:cBhvr>
                                        <p:cTn id="24" dur="26">
                                          <p:stCondLst>
                                            <p:cond delay="1808"/>
                                          </p:stCondLst>
                                        </p:cTn>
                                        <p:tgtEl>
                                          <p:spTgt spid="8"/>
                                        </p:tgtEl>
                                      </p:cBhvr>
                                      <p:to x="100000" y="95000"/>
                                    </p:animScale>
                                    <p:animScale>
                                      <p:cBhvr>
                                        <p:cTn id="25"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B1E28A-A4D8-BC76-886E-6C7E1AD666E5}"/>
              </a:ext>
            </a:extLst>
          </p:cNvPr>
          <p:cNvSpPr>
            <a:spLocks noGrp="1"/>
          </p:cNvSpPr>
          <p:nvPr>
            <p:ph type="sldNum" sz="quarter" idx="12"/>
          </p:nvPr>
        </p:nvSpPr>
        <p:spPr/>
        <p:txBody>
          <a:bodyPr/>
          <a:lstStyle/>
          <a:p>
            <a:fld id="{5BFCF61C-3B18-4C03-8326-CC3B32D710C9}" type="slidenum">
              <a:rPr lang="en-US" noProof="0" smtClean="0"/>
              <a:t>33</a:t>
            </a:fld>
            <a:endParaRPr lang="en-US" noProof="0"/>
          </a:p>
        </p:txBody>
      </p:sp>
      <p:pic>
        <p:nvPicPr>
          <p:cNvPr id="5" name="Picture 4">
            <a:extLst>
              <a:ext uri="{FF2B5EF4-FFF2-40B4-BE49-F238E27FC236}">
                <a16:creationId xmlns:a16="http://schemas.microsoft.com/office/drawing/2014/main" id="{884D7928-B96B-3AE7-AE59-52DFA5E64CB0}"/>
              </a:ext>
            </a:extLst>
          </p:cNvPr>
          <p:cNvPicPr>
            <a:picLocks noChangeAspect="1"/>
          </p:cNvPicPr>
          <p:nvPr/>
        </p:nvPicPr>
        <p:blipFill>
          <a:blip r:embed="rId2"/>
          <a:stretch>
            <a:fillRect/>
          </a:stretch>
        </p:blipFill>
        <p:spPr>
          <a:xfrm>
            <a:off x="326571" y="1968569"/>
            <a:ext cx="5295898" cy="34198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BDE778AF-3F16-FF2A-F650-46F9FC986709}"/>
              </a:ext>
            </a:extLst>
          </p:cNvPr>
          <p:cNvPicPr>
            <a:picLocks noChangeAspect="1"/>
          </p:cNvPicPr>
          <p:nvPr/>
        </p:nvPicPr>
        <p:blipFill>
          <a:blip r:embed="rId3"/>
          <a:stretch>
            <a:fillRect/>
          </a:stretch>
        </p:blipFill>
        <p:spPr>
          <a:xfrm>
            <a:off x="6096000" y="1963745"/>
            <a:ext cx="5475512" cy="32287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1">
            <a:extLst>
              <a:ext uri="{FF2B5EF4-FFF2-40B4-BE49-F238E27FC236}">
                <a16:creationId xmlns:a16="http://schemas.microsoft.com/office/drawing/2014/main" id="{9FF109FC-BC6E-768E-189C-3C1494981935}"/>
              </a:ext>
            </a:extLst>
          </p:cNvPr>
          <p:cNvSpPr/>
          <p:nvPr/>
        </p:nvSpPr>
        <p:spPr>
          <a:xfrm>
            <a:off x="146957" y="5538585"/>
            <a:ext cx="5780315" cy="119917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cs typeface="Calibri" panose="020F0502020204030204" pitchFamily="34" charset="0"/>
              </a:rPr>
              <a:t>PCA with Logistic Regression has ~80% accuracy for both detecting fake images (416/518) and real images (415/519). It misclassifies 102 fakes as real and 104 reals as fake.</a:t>
            </a:r>
            <a:endParaRPr lang="en-IN" sz="2000"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F933E5D4-BB7C-34F0-6192-13FE9D69021A}"/>
              </a:ext>
            </a:extLst>
          </p:cNvPr>
          <p:cNvSpPr/>
          <p:nvPr/>
        </p:nvSpPr>
        <p:spPr>
          <a:xfrm>
            <a:off x="6096000" y="5388430"/>
            <a:ext cx="5780312" cy="134933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Calibri" panose="020F0502020204030204" pitchFamily="34" charset="0"/>
                <a:cs typeface="Calibri" panose="020F0502020204030204" pitchFamily="34" charset="0"/>
              </a:rPr>
              <a:t>The ROC curve for PCA in deepfake image detection shows an AUC of 0.880, indicating good performance in distinguishing between real and fake images. A higher AUC suggests better model performance in balancing true positives and false positives</a:t>
            </a:r>
            <a:r>
              <a:rPr lang="en-US" dirty="0"/>
              <a:t>.</a:t>
            </a:r>
            <a:endParaRPr lang="en-IN" dirty="0"/>
          </a:p>
        </p:txBody>
      </p:sp>
      <p:sp>
        <p:nvSpPr>
          <p:cNvPr id="14" name="TextBox 13">
            <a:extLst>
              <a:ext uri="{FF2B5EF4-FFF2-40B4-BE49-F238E27FC236}">
                <a16:creationId xmlns:a16="http://schemas.microsoft.com/office/drawing/2014/main" id="{37E633B3-88E5-2D1F-94D7-8483068F82E7}"/>
              </a:ext>
            </a:extLst>
          </p:cNvPr>
          <p:cNvSpPr txBox="1"/>
          <p:nvPr/>
        </p:nvSpPr>
        <p:spPr>
          <a:xfrm>
            <a:off x="212271" y="0"/>
            <a:ext cx="5475512" cy="1785104"/>
          </a:xfrm>
          <a:prstGeom prst="rect">
            <a:avLst/>
          </a:prstGeom>
          <a:noFill/>
        </p:spPr>
        <p:txBody>
          <a:bodyPr wrap="square" rtlCol="0">
            <a:spAutoFit/>
          </a:bodyPr>
          <a:lstStyle/>
          <a:p>
            <a:pPr>
              <a:lnSpc>
                <a:spcPct val="150000"/>
              </a:lnSpc>
            </a:pPr>
            <a:r>
              <a:rPr lang="en-US" sz="2000" b="1" dirty="0">
                <a:latin typeface="Calibri" panose="020F0502020204030204" pitchFamily="34" charset="0"/>
                <a:cs typeface="Calibri" panose="020F0502020204030204" pitchFamily="34" charset="0"/>
              </a:rPr>
              <a:t>## PCA For Confusion Matrix ##</a:t>
            </a:r>
          </a:p>
          <a:p>
            <a:r>
              <a:rPr lang="es-ES" sz="2000" dirty="0">
                <a:latin typeface="Calibri" panose="020F0502020204030204" pitchFamily="34" charset="0"/>
                <a:cs typeface="Calibri" panose="020F0502020204030204" pitchFamily="34" charset="0"/>
              </a:rPr>
              <a:t>cm_pca = confusion_matrix(y_val, y_pred_pca)</a:t>
            </a:r>
          </a:p>
          <a:p>
            <a:r>
              <a:rPr lang="en-IN" sz="2000" dirty="0">
                <a:latin typeface="Calibri" panose="020F0502020204030204" pitchFamily="34" charset="0"/>
                <a:cs typeface="Calibri" panose="020F0502020204030204" pitchFamily="34" charset="0"/>
              </a:rPr>
              <a:t>sns.heatmap(cm_pca, annot=True, fmt='d', cmap='Oranges', xticklabels=class_names, yticklabels=class_names)</a:t>
            </a:r>
          </a:p>
        </p:txBody>
      </p:sp>
      <p:sp>
        <p:nvSpPr>
          <p:cNvPr id="16" name="TextBox 15">
            <a:extLst>
              <a:ext uri="{FF2B5EF4-FFF2-40B4-BE49-F238E27FC236}">
                <a16:creationId xmlns:a16="http://schemas.microsoft.com/office/drawing/2014/main" id="{1C379094-EED1-9862-2A5E-8A67DA96BD28}"/>
              </a:ext>
            </a:extLst>
          </p:cNvPr>
          <p:cNvSpPr txBox="1"/>
          <p:nvPr/>
        </p:nvSpPr>
        <p:spPr>
          <a:xfrm>
            <a:off x="6161314" y="109083"/>
            <a:ext cx="5475511" cy="1661993"/>
          </a:xfrm>
          <a:prstGeom prst="rect">
            <a:avLst/>
          </a:prstGeom>
          <a:noFill/>
        </p:spPr>
        <p:txBody>
          <a:bodyPr wrap="square" rtlCol="0">
            <a:spAutoFit/>
          </a:bodyPr>
          <a:lstStyle/>
          <a:p>
            <a:pPr lvl="2">
              <a:lnSpc>
                <a:spcPct val="150000"/>
              </a:lnSpc>
            </a:pPr>
            <a:r>
              <a:rPr lang="en-US" sz="2000" b="1" dirty="0">
                <a:latin typeface="Calibri" panose="020F0502020204030204" pitchFamily="34" charset="0"/>
                <a:cs typeface="Calibri" panose="020F0502020204030204" pitchFamily="34" charset="0"/>
              </a:rPr>
              <a:t>## PCA ROC Curve ##</a:t>
            </a:r>
          </a:p>
          <a:p>
            <a:r>
              <a:rPr lang="en-US" dirty="0">
                <a:latin typeface="Calibri" panose="020F0502020204030204" pitchFamily="34" charset="0"/>
                <a:cs typeface="Calibri" panose="020F0502020204030204" pitchFamily="34" charset="0"/>
              </a:rPr>
              <a:t>fpr, tpr, _ = roc_curve(y_val, y_pred_prob_pca)</a:t>
            </a:r>
          </a:p>
          <a:p>
            <a:r>
              <a:rPr lang="en-US" dirty="0">
                <a:latin typeface="Calibri" panose="020F0502020204030204" pitchFamily="34" charset="0"/>
                <a:cs typeface="Calibri" panose="020F0502020204030204" pitchFamily="34" charset="0"/>
              </a:rPr>
              <a:t>roc_auc_pca = roc_auc_score(y_val, y_pred_prob_pca)</a:t>
            </a:r>
          </a:p>
          <a:p>
            <a:r>
              <a:rPr lang="en-US" dirty="0">
                <a:latin typeface="Calibri" panose="020F0502020204030204" pitchFamily="34" charset="0"/>
                <a:cs typeface="Calibri" panose="020F0502020204030204" pitchFamily="34" charset="0"/>
              </a:rPr>
              <a:t>plt.xlabel("FPR"); plt.ylabel("TPR"); plt.legend(); plt.title("PCA ROC Curve") </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128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2E36BD0-8A92-8878-B166-08EAE5C1EA55}"/>
              </a:ext>
            </a:extLst>
          </p:cNvPr>
          <p:cNvSpPr>
            <a:spLocks noGrp="1"/>
          </p:cNvSpPr>
          <p:nvPr>
            <p:ph type="sldNum" sz="quarter" idx="12"/>
          </p:nvPr>
        </p:nvSpPr>
        <p:spPr/>
        <p:txBody>
          <a:bodyPr/>
          <a:lstStyle/>
          <a:p>
            <a:fld id="{5BFCF61C-3B18-4C03-8326-CC3B32D710C9}" type="slidenum">
              <a:rPr lang="en-US" noProof="0" smtClean="0"/>
              <a:t>34</a:t>
            </a:fld>
            <a:endParaRPr lang="en-US" noProof="0"/>
          </a:p>
        </p:txBody>
      </p:sp>
      <p:pic>
        <p:nvPicPr>
          <p:cNvPr id="7" name="Picture 6">
            <a:extLst>
              <a:ext uri="{FF2B5EF4-FFF2-40B4-BE49-F238E27FC236}">
                <a16:creationId xmlns:a16="http://schemas.microsoft.com/office/drawing/2014/main" id="{73D41306-9EC2-AF97-C1CF-9BA46305091E}"/>
              </a:ext>
            </a:extLst>
          </p:cNvPr>
          <p:cNvPicPr>
            <a:picLocks noChangeAspect="1"/>
          </p:cNvPicPr>
          <p:nvPr/>
        </p:nvPicPr>
        <p:blipFill>
          <a:blip r:embed="rId2"/>
          <a:stretch>
            <a:fillRect/>
          </a:stretch>
        </p:blipFill>
        <p:spPr>
          <a:xfrm>
            <a:off x="370544" y="2106386"/>
            <a:ext cx="5230156" cy="3086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187A4BD6-64F4-BA69-2CCD-4A3965F316E9}"/>
              </a:ext>
            </a:extLst>
          </p:cNvPr>
          <p:cNvPicPr>
            <a:picLocks noChangeAspect="1"/>
          </p:cNvPicPr>
          <p:nvPr/>
        </p:nvPicPr>
        <p:blipFill>
          <a:blip r:embed="rId3"/>
          <a:stretch>
            <a:fillRect/>
          </a:stretch>
        </p:blipFill>
        <p:spPr>
          <a:xfrm>
            <a:off x="6382510" y="1943100"/>
            <a:ext cx="4981938" cy="32493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a:extLst>
              <a:ext uri="{FF2B5EF4-FFF2-40B4-BE49-F238E27FC236}">
                <a16:creationId xmlns:a16="http://schemas.microsoft.com/office/drawing/2014/main" id="{24958D0C-D3D4-11FA-703E-FA30D7B2E1FF}"/>
              </a:ext>
            </a:extLst>
          </p:cNvPr>
          <p:cNvSpPr/>
          <p:nvPr/>
        </p:nvSpPr>
        <p:spPr>
          <a:xfrm>
            <a:off x="370544" y="5453743"/>
            <a:ext cx="5230156" cy="120831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Calibri" panose="020F0502020204030204" pitchFamily="34" charset="0"/>
                <a:cs typeface="Calibri" panose="020F0502020204030204" pitchFamily="34" charset="0"/>
              </a:rPr>
              <a:t>SVM has ~95.5% accuracy for detecting fake images (486/518) and real images (504/519). It misclassifies 32 fakes as real and 15 reals as fake.</a:t>
            </a:r>
            <a:endParaRPr lang="en-IN" sz="2000" dirty="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0D2A1727-6947-EF62-5547-B73A959FC018}"/>
              </a:ext>
            </a:extLst>
          </p:cNvPr>
          <p:cNvSpPr/>
          <p:nvPr/>
        </p:nvSpPr>
        <p:spPr>
          <a:xfrm>
            <a:off x="5951198" y="5339443"/>
            <a:ext cx="5844562" cy="132261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Calibri" panose="020F0502020204030204" pitchFamily="34" charset="0"/>
                <a:cs typeface="Calibri" panose="020F0502020204030204" pitchFamily="34" charset="0"/>
              </a:rPr>
              <a:t>AUC (Area Under Curve): 0.989, indicating high performance in distinguishing between deepfake and real images. The curve is close to the top-left corner, showing good balance between True Positive Rate (TPR) and low False Positive Rate (FPR).</a:t>
            </a:r>
            <a:endParaRPr lang="en-IN"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A89BD83C-6AF3-EBCA-FBAF-9EFD4A51F5BE}"/>
              </a:ext>
            </a:extLst>
          </p:cNvPr>
          <p:cNvSpPr txBox="1"/>
          <p:nvPr/>
        </p:nvSpPr>
        <p:spPr>
          <a:xfrm>
            <a:off x="244929" y="183136"/>
            <a:ext cx="5355771" cy="1661993"/>
          </a:xfrm>
          <a:prstGeom prst="rect">
            <a:avLst/>
          </a:prstGeom>
          <a:noFill/>
        </p:spPr>
        <p:txBody>
          <a:bodyPr wrap="square" rtlCol="0">
            <a:spAutoFit/>
          </a:bodyPr>
          <a:lstStyle/>
          <a:p>
            <a:pPr lvl="1">
              <a:lnSpc>
                <a:spcPct val="150000"/>
              </a:lnSpc>
            </a:pPr>
            <a:r>
              <a:rPr lang="en-US" sz="2000" b="1" dirty="0">
                <a:latin typeface="Calibri" panose="020F0502020204030204" pitchFamily="34" charset="0"/>
                <a:cs typeface="Calibri" panose="020F0502020204030204" pitchFamily="34" charset="0"/>
              </a:rPr>
              <a:t>## SVM Confusion Matrix ##</a:t>
            </a:r>
          </a:p>
          <a:p>
            <a:r>
              <a:rPr lang="es-ES" dirty="0">
                <a:latin typeface="Calibri" panose="020F0502020204030204" pitchFamily="34" charset="0"/>
                <a:cs typeface="Calibri" panose="020F0502020204030204" pitchFamily="34" charset="0"/>
              </a:rPr>
              <a:t>cm_svm = confusion_matrix(y_val, y_pred_svm)</a:t>
            </a:r>
          </a:p>
          <a:p>
            <a:r>
              <a:rPr lang="en-IN" dirty="0">
                <a:latin typeface="Calibri" panose="020F0502020204030204" pitchFamily="34" charset="0"/>
                <a:cs typeface="Calibri" panose="020F0502020204030204" pitchFamily="34" charset="0"/>
              </a:rPr>
              <a:t>sns.heatmap(cm_svm, annot=True, fmt='d', cmap='Greens', xticklabels=class_names, yticklabels=class_names)</a:t>
            </a:r>
          </a:p>
        </p:txBody>
      </p:sp>
      <p:sp>
        <p:nvSpPr>
          <p:cNvPr id="12" name="TextBox 11">
            <a:extLst>
              <a:ext uri="{FF2B5EF4-FFF2-40B4-BE49-F238E27FC236}">
                <a16:creationId xmlns:a16="http://schemas.microsoft.com/office/drawing/2014/main" id="{D5DB323B-650C-AFE0-8FE7-F528076315DB}"/>
              </a:ext>
            </a:extLst>
          </p:cNvPr>
          <p:cNvSpPr txBox="1"/>
          <p:nvPr/>
        </p:nvSpPr>
        <p:spPr>
          <a:xfrm>
            <a:off x="6382510" y="260079"/>
            <a:ext cx="5537359" cy="1508105"/>
          </a:xfrm>
          <a:prstGeom prst="rect">
            <a:avLst/>
          </a:prstGeom>
          <a:noFill/>
        </p:spPr>
        <p:txBody>
          <a:bodyPr wrap="square" rtlCol="0">
            <a:spAutoFit/>
          </a:bodyPr>
          <a:lstStyle/>
          <a:p>
            <a:pPr lvl="2"/>
            <a:r>
              <a:rPr lang="en-US" sz="2000" b="1" dirty="0">
                <a:latin typeface="Calibri" panose="020F0502020204030204" pitchFamily="34" charset="0"/>
                <a:cs typeface="Calibri" panose="020F0502020204030204" pitchFamily="34" charset="0"/>
              </a:rPr>
              <a:t>## SVM ROC Curve ##</a:t>
            </a:r>
          </a:p>
          <a:p>
            <a:r>
              <a:rPr lang="en-IN" dirty="0">
                <a:latin typeface="Calibri" panose="020F0502020204030204" pitchFamily="34" charset="0"/>
                <a:cs typeface="Calibri" panose="020F0502020204030204" pitchFamily="34" charset="0"/>
              </a:rPr>
              <a:t>fpr, tpr, _ = roc_curve(y_val, y_pred_prob_svm)</a:t>
            </a:r>
          </a:p>
          <a:p>
            <a:r>
              <a:rPr lang="en-IN" dirty="0">
                <a:latin typeface="Calibri" panose="020F0502020204030204" pitchFamily="34" charset="0"/>
                <a:cs typeface="Calibri" panose="020F0502020204030204" pitchFamily="34" charset="0"/>
              </a:rPr>
              <a:t>roc_auc_svm = roc_auc_score(y_val, y_pred_prob_svm)</a:t>
            </a:r>
          </a:p>
          <a:p>
            <a:r>
              <a:rPr lang="en-IN" dirty="0">
                <a:latin typeface="Calibri" panose="020F0502020204030204" pitchFamily="34" charset="0"/>
                <a:cs typeface="Calibri" panose="020F0502020204030204" pitchFamily="34" charset="0"/>
              </a:rPr>
              <a:t>plt.xlabel("FPR"); plt.ylabel("TPR"); plt.legend(); plt.title("SVM ROC Curve")</a:t>
            </a:r>
          </a:p>
        </p:txBody>
      </p:sp>
    </p:spTree>
    <p:extLst>
      <p:ext uri="{BB962C8B-B14F-4D97-AF65-F5344CB8AC3E}">
        <p14:creationId xmlns:p14="http://schemas.microsoft.com/office/powerpoint/2010/main" val="37408957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0B34F0-2F99-E1CB-A4EB-D4E3DC98F27B}"/>
              </a:ext>
            </a:extLst>
          </p:cNvPr>
          <p:cNvPicPr>
            <a:picLocks noChangeAspect="1"/>
          </p:cNvPicPr>
          <p:nvPr/>
        </p:nvPicPr>
        <p:blipFill>
          <a:blip r:embed="rId2"/>
          <a:stretch>
            <a:fillRect/>
          </a:stretch>
        </p:blipFill>
        <p:spPr>
          <a:xfrm>
            <a:off x="293917" y="1469571"/>
            <a:ext cx="5159826" cy="37555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CE9CC611-7D1A-63B0-31A3-4A481579DE9C}"/>
              </a:ext>
            </a:extLst>
          </p:cNvPr>
          <p:cNvPicPr>
            <a:picLocks noChangeAspect="1"/>
          </p:cNvPicPr>
          <p:nvPr/>
        </p:nvPicPr>
        <p:blipFill>
          <a:blip r:embed="rId3"/>
          <a:stretch>
            <a:fillRect/>
          </a:stretch>
        </p:blipFill>
        <p:spPr>
          <a:xfrm>
            <a:off x="6090559" y="1469571"/>
            <a:ext cx="5306784" cy="37555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a:extLst>
              <a:ext uri="{FF2B5EF4-FFF2-40B4-BE49-F238E27FC236}">
                <a16:creationId xmlns:a16="http://schemas.microsoft.com/office/drawing/2014/main" id="{359FE562-E83D-5EBB-B9B3-169E56BEC83C}"/>
              </a:ext>
            </a:extLst>
          </p:cNvPr>
          <p:cNvSpPr/>
          <p:nvPr/>
        </p:nvSpPr>
        <p:spPr>
          <a:xfrm>
            <a:off x="424544" y="5535386"/>
            <a:ext cx="10352313" cy="107768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dirty="0">
                <a:latin typeface="Calibri" panose="020F0502020204030204" pitchFamily="34" charset="0"/>
                <a:cs typeface="Calibri" panose="020F0502020204030204" pitchFamily="34" charset="0"/>
              </a:rPr>
              <a:t>Fake images tend to have lower median pixel intensity compared to real images. Variability and range of pixel intensities are somewhat comparable between real and fake images.</a:t>
            </a:r>
            <a:endParaRPr lang="en-IN" sz="24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D99F259-F5C1-600F-7373-E78CC11A4A82}"/>
              </a:ext>
            </a:extLst>
          </p:cNvPr>
          <p:cNvSpPr txBox="1"/>
          <p:nvPr/>
        </p:nvSpPr>
        <p:spPr>
          <a:xfrm>
            <a:off x="367396" y="0"/>
            <a:ext cx="5159826" cy="1384995"/>
          </a:xfrm>
          <a:prstGeom prst="rect">
            <a:avLst/>
          </a:prstGeom>
          <a:noFill/>
        </p:spPr>
        <p:txBody>
          <a:bodyPr wrap="square" rtlCol="0">
            <a:spAutoFit/>
          </a:bodyPr>
          <a:lstStyle/>
          <a:p>
            <a:pPr lvl="1">
              <a:lnSpc>
                <a:spcPct val="150000"/>
              </a:lnSpc>
            </a:pPr>
            <a:r>
              <a:rPr lang="en-IN" dirty="0">
                <a:latin typeface="Calibri" panose="020F0502020204030204" pitchFamily="34" charset="0"/>
                <a:cs typeface="Calibri" panose="020F0502020204030204" pitchFamily="34" charset="0"/>
              </a:rPr>
              <a:t>            </a:t>
            </a:r>
            <a:r>
              <a:rPr lang="en-IN" sz="2000" b="1" i="1" dirty="0">
                <a:latin typeface="Calibri" panose="020F0502020204030204" pitchFamily="34" charset="0"/>
                <a:cs typeface="Calibri" panose="020F0502020204030204" pitchFamily="34" charset="0"/>
              </a:rPr>
              <a:t>## BOXPLOT ##</a:t>
            </a:r>
            <a:endParaRPr lang="en-IN" b="1" i="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plt.boxplot([real_pixels, fake_pixels], labels=['Real', 'Fake'])</a:t>
            </a:r>
          </a:p>
          <a:p>
            <a:r>
              <a:rPr lang="en-IN" dirty="0">
                <a:latin typeface="Calibri" panose="020F0502020204030204" pitchFamily="34" charset="0"/>
                <a:cs typeface="Calibri" panose="020F0502020204030204" pitchFamily="34" charset="0"/>
              </a:rPr>
              <a:t>plt.title("Pixel Distribution Comparison (Boxplot)")</a:t>
            </a:r>
          </a:p>
        </p:txBody>
      </p:sp>
      <p:sp>
        <p:nvSpPr>
          <p:cNvPr id="10" name="TextBox 9">
            <a:extLst>
              <a:ext uri="{FF2B5EF4-FFF2-40B4-BE49-F238E27FC236}">
                <a16:creationId xmlns:a16="http://schemas.microsoft.com/office/drawing/2014/main" id="{789CF2BD-ADBF-BE8E-8681-EE477EC0E539}"/>
              </a:ext>
            </a:extLst>
          </p:cNvPr>
          <p:cNvSpPr txBox="1"/>
          <p:nvPr/>
        </p:nvSpPr>
        <p:spPr>
          <a:xfrm>
            <a:off x="6079671" y="0"/>
            <a:ext cx="5481616" cy="1384995"/>
          </a:xfrm>
          <a:prstGeom prst="rect">
            <a:avLst/>
          </a:prstGeom>
          <a:noFill/>
        </p:spPr>
        <p:txBody>
          <a:bodyPr wrap="square" rtlCol="0">
            <a:spAutoFit/>
          </a:bodyPr>
          <a:lstStyle/>
          <a:p>
            <a:pPr lvl="2">
              <a:lnSpc>
                <a:spcPct val="150000"/>
              </a:lnSpc>
            </a:pPr>
            <a:r>
              <a:rPr lang="en-US" sz="2000" b="1" dirty="0">
                <a:latin typeface="Calibri" panose="020F0502020204030204" pitchFamily="34" charset="0"/>
                <a:cs typeface="Calibri" panose="020F0502020204030204" pitchFamily="34" charset="0"/>
              </a:rPr>
              <a:t>## VIOLIN PLOT ##</a:t>
            </a:r>
          </a:p>
          <a:p>
            <a:r>
              <a:rPr lang="en-IN" dirty="0">
                <a:latin typeface="Calibri" panose="020F0502020204030204" pitchFamily="34" charset="0"/>
                <a:cs typeface="Calibri" panose="020F0502020204030204" pitchFamily="34" charset="0"/>
              </a:rPr>
              <a:t>sns.violinplot(data=[real_pixels, fake_pixels])</a:t>
            </a:r>
          </a:p>
          <a:p>
            <a:r>
              <a:rPr lang="en-IN" dirty="0">
                <a:latin typeface="Calibri" panose="020F0502020204030204" pitchFamily="34" charset="0"/>
                <a:cs typeface="Calibri" panose="020F0502020204030204" pitchFamily="34" charset="0"/>
              </a:rPr>
              <a:t>plt.xticks([0, 1], ['Real', 'Fake'])</a:t>
            </a:r>
          </a:p>
          <a:p>
            <a:r>
              <a:rPr lang="en-IN" dirty="0">
                <a:latin typeface="Calibri" panose="020F0502020204030204" pitchFamily="34" charset="0"/>
                <a:cs typeface="Calibri" panose="020F0502020204030204" pitchFamily="34" charset="0"/>
              </a:rPr>
              <a:t>plt.title("Pixel Intensity Distribution (Violin Plot)")</a:t>
            </a:r>
          </a:p>
        </p:txBody>
      </p:sp>
    </p:spTree>
    <p:extLst>
      <p:ext uri="{BB962C8B-B14F-4D97-AF65-F5344CB8AC3E}">
        <p14:creationId xmlns:p14="http://schemas.microsoft.com/office/powerpoint/2010/main" val="14584426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6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7CBCDD-C4D6-FA29-89BA-512BDA4B7DAF}"/>
              </a:ext>
            </a:extLst>
          </p:cNvPr>
          <p:cNvSpPr>
            <a:spLocks noGrp="1"/>
          </p:cNvSpPr>
          <p:nvPr>
            <p:ph type="sldNum" sz="quarter" idx="12"/>
          </p:nvPr>
        </p:nvSpPr>
        <p:spPr/>
        <p:txBody>
          <a:bodyPr/>
          <a:lstStyle/>
          <a:p>
            <a:fld id="{5BFCF61C-3B18-4C03-8326-CC3B32D710C9}" type="slidenum">
              <a:rPr lang="en-US" noProof="0" smtClean="0"/>
              <a:t>36</a:t>
            </a:fld>
            <a:endParaRPr lang="en-US" noProof="0"/>
          </a:p>
        </p:txBody>
      </p:sp>
      <p:sp>
        <p:nvSpPr>
          <p:cNvPr id="2" name="TextBox 1">
            <a:extLst>
              <a:ext uri="{FF2B5EF4-FFF2-40B4-BE49-F238E27FC236}">
                <a16:creationId xmlns:a16="http://schemas.microsoft.com/office/drawing/2014/main" id="{16948240-0CFC-69E4-BDBB-C6DC7AB28914}"/>
              </a:ext>
            </a:extLst>
          </p:cNvPr>
          <p:cNvSpPr txBox="1"/>
          <p:nvPr/>
        </p:nvSpPr>
        <p:spPr>
          <a:xfrm>
            <a:off x="963387" y="1763486"/>
            <a:ext cx="11109960" cy="2308324"/>
          </a:xfrm>
          <a:prstGeom prst="rect">
            <a:avLst/>
          </a:prstGeom>
          <a:noFill/>
        </p:spPr>
        <p:txBody>
          <a:bodyPr wrap="square" rtlCol="0">
            <a:spAutoFit/>
          </a:bodyPr>
          <a:lstStyle/>
          <a:p>
            <a:r>
              <a:rPr lang="en-US" sz="7200" b="1" i="1" dirty="0">
                <a:latin typeface="Calibri" panose="020F0502020204030204" pitchFamily="34" charset="0"/>
                <a:cs typeface="Calibri" panose="020F0502020204030204" pitchFamily="34" charset="0"/>
              </a:rPr>
              <a:t>Comparative Analysis and Best-Fit Model Selection</a:t>
            </a:r>
            <a:endParaRPr lang="en-IN" sz="72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1045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79C0DCA-91AE-0ED7-71D5-9BE57467D40F}"/>
              </a:ext>
            </a:extLst>
          </p:cNvPr>
          <p:cNvSpPr>
            <a:spLocks noGrp="1"/>
          </p:cNvSpPr>
          <p:nvPr>
            <p:ph type="sldNum" sz="quarter" idx="12"/>
          </p:nvPr>
        </p:nvSpPr>
        <p:spPr/>
        <p:txBody>
          <a:bodyPr/>
          <a:lstStyle/>
          <a:p>
            <a:fld id="{5BFCF61C-3B18-4C03-8326-CC3B32D710C9}" type="slidenum">
              <a:rPr lang="en-US" noProof="0" smtClean="0"/>
              <a:pPr/>
              <a:t>37</a:t>
            </a:fld>
            <a:endParaRPr lang="en-US" noProof="0"/>
          </a:p>
        </p:txBody>
      </p:sp>
      <p:sp>
        <p:nvSpPr>
          <p:cNvPr id="4" name="Title 3">
            <a:extLst>
              <a:ext uri="{FF2B5EF4-FFF2-40B4-BE49-F238E27FC236}">
                <a16:creationId xmlns:a16="http://schemas.microsoft.com/office/drawing/2014/main" id="{17A106E5-F3C4-4967-FA51-04A4FB702558}"/>
              </a:ext>
            </a:extLst>
          </p:cNvPr>
          <p:cNvSpPr>
            <a:spLocks noGrp="1"/>
          </p:cNvSpPr>
          <p:nvPr>
            <p:ph type="title"/>
          </p:nvPr>
        </p:nvSpPr>
        <p:spPr>
          <a:xfrm>
            <a:off x="0" y="765475"/>
            <a:ext cx="5257800" cy="1682749"/>
          </a:xfrm>
        </p:spPr>
        <p:txBody>
          <a:bodyPr/>
          <a:lstStyle/>
          <a:p>
            <a:r>
              <a:rPr lang="en-IN" sz="4400" b="1" dirty="0">
                <a:latin typeface="Calibri" panose="020F0502020204030204" pitchFamily="34" charset="0"/>
                <a:cs typeface="Calibri" panose="020F0502020204030204" pitchFamily="34" charset="0"/>
              </a:rPr>
              <a:t>Model Performance Comparison</a:t>
            </a:r>
            <a:br>
              <a:rPr lang="en-IN" sz="6000" b="1" dirty="0">
                <a:latin typeface="Calibri" panose="020F0502020204030204" pitchFamily="34" charset="0"/>
                <a:cs typeface="Calibri" panose="020F0502020204030204" pitchFamily="34" charset="0"/>
              </a:rPr>
            </a:br>
            <a:endParaRPr lang="en-IN" sz="6000" dirty="0">
              <a:latin typeface="Calibri" panose="020F0502020204030204" pitchFamily="34" charset="0"/>
              <a:cs typeface="Calibri" panose="020F0502020204030204" pitchFamily="34" charset="0"/>
            </a:endParaRPr>
          </a:p>
        </p:txBody>
      </p:sp>
      <p:graphicFrame>
        <p:nvGraphicFramePr>
          <p:cNvPr id="10" name="Object 9">
            <a:extLst>
              <a:ext uri="{FF2B5EF4-FFF2-40B4-BE49-F238E27FC236}">
                <a16:creationId xmlns:a16="http://schemas.microsoft.com/office/drawing/2014/main" id="{626CBAEB-0ECF-0B61-FE2E-39D47293EB9D}"/>
              </a:ext>
            </a:extLst>
          </p:cNvPr>
          <p:cNvGraphicFramePr>
            <a:graphicFrameLocks noChangeAspect="1"/>
          </p:cNvGraphicFramePr>
          <p:nvPr>
            <p:extLst>
              <p:ext uri="{D42A27DB-BD31-4B8C-83A1-F6EECF244321}">
                <p14:modId xmlns:p14="http://schemas.microsoft.com/office/powerpoint/2010/main" val="3687460464"/>
              </p:ext>
            </p:extLst>
          </p:nvPr>
        </p:nvGraphicFramePr>
        <p:xfrm>
          <a:off x="4000500" y="182778"/>
          <a:ext cx="7536628" cy="2087274"/>
        </p:xfrm>
        <a:graphic>
          <a:graphicData uri="http://schemas.openxmlformats.org/presentationml/2006/ole">
            <mc:AlternateContent xmlns:mc="http://schemas.openxmlformats.org/markup-compatibility/2006">
              <mc:Choice xmlns:v="urn:schemas-microsoft-com:vml" Requires="v">
                <p:oleObj name="Document" r:id="rId2" imgW="5805191" imgH="1605739" progId="Word.Document.12">
                  <p:embed/>
                </p:oleObj>
              </mc:Choice>
              <mc:Fallback>
                <p:oleObj name="Document" r:id="rId2" imgW="5805191" imgH="1605739" progId="Word.Document.12">
                  <p:embed/>
                  <p:pic>
                    <p:nvPicPr>
                      <p:cNvPr id="10" name="Object 9">
                        <a:extLst>
                          <a:ext uri="{FF2B5EF4-FFF2-40B4-BE49-F238E27FC236}">
                            <a16:creationId xmlns:a16="http://schemas.microsoft.com/office/drawing/2014/main" id="{626CBAEB-0ECF-0B61-FE2E-39D47293EB9D}"/>
                          </a:ext>
                        </a:extLst>
                      </p:cNvPr>
                      <p:cNvPicPr/>
                      <p:nvPr/>
                    </p:nvPicPr>
                    <p:blipFill>
                      <a:blip r:embed="rId3"/>
                      <a:stretch>
                        <a:fillRect/>
                      </a:stretch>
                    </p:blipFill>
                    <p:spPr>
                      <a:xfrm>
                        <a:off x="4000500" y="182778"/>
                        <a:ext cx="7536628" cy="2087274"/>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2FA57F6D-41D5-17A9-1154-A013FC8FB6E4}"/>
              </a:ext>
            </a:extLst>
          </p:cNvPr>
          <p:cNvSpPr txBox="1"/>
          <p:nvPr/>
        </p:nvSpPr>
        <p:spPr>
          <a:xfrm>
            <a:off x="3494314" y="1687354"/>
            <a:ext cx="8784772" cy="5170646"/>
          </a:xfrm>
          <a:prstGeom prst="rect">
            <a:avLst/>
          </a:prstGeom>
          <a:noFill/>
        </p:spPr>
        <p:txBody>
          <a:bodyPr wrap="square">
            <a:spAutoFit/>
          </a:bodyPr>
          <a:lstStyle/>
          <a:p>
            <a:pPr lvl="1" algn="ctr"/>
            <a:endParaRPr lang="en-IN" sz="1600" b="1" u="sng" dirty="0">
              <a:solidFill>
                <a:schemeClr val="accent1">
                  <a:lumMod val="75000"/>
                </a:schemeClr>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CNN</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High recall (0.944) and decent precision (0.842)</a:t>
            </a:r>
            <a:r>
              <a:rPr lang="en-IN" dirty="0">
                <a:latin typeface="Calibri" panose="020F0502020204030204" pitchFamily="34" charset="0"/>
                <a:ea typeface="Times New Roman" panose="02020603050405020304" pitchFamily="18" charset="0"/>
                <a:cs typeface="Calibri" panose="020F0502020204030204" pitchFamily="34" charset="0"/>
              </a:rPr>
              <a:t>, Slightly lower overall accuracy (0.883) .</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Strong at identifying deepfake images correctly.</a:t>
            </a: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Training time moderate (178 s), suitable for larger datasets.</a:t>
            </a:r>
          </a:p>
          <a:p>
            <a:pPr marL="742950" lvl="1" indent="-285750">
              <a:buSzPts val="1000"/>
              <a:buFont typeface="Courier New" panose="02070309020205020404" pitchFamily="49" charset="0"/>
              <a:buChar char="o"/>
              <a:tabLst>
                <a:tab pos="914400" algn="l"/>
              </a:tabLst>
            </a:pP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PCA + Logistic Regression</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Fastest training (0.03 s) but lowest accuracy (0.801) and F1-score (0.801).</a:t>
            </a: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Suitable for </a:t>
            </a:r>
            <a:r>
              <a:rPr lang="en-IN" b="1" dirty="0">
                <a:effectLst/>
                <a:latin typeface="Calibri" panose="020F0502020204030204" pitchFamily="34" charset="0"/>
                <a:ea typeface="Times New Roman" panose="02020603050405020304" pitchFamily="18" charset="0"/>
                <a:cs typeface="Calibri" panose="020F0502020204030204" pitchFamily="34" charset="0"/>
              </a:rPr>
              <a:t>quick prototyping or small datasets</a:t>
            </a:r>
            <a:r>
              <a:rPr lang="en-IN" dirty="0">
                <a:effectLst/>
                <a:latin typeface="Calibri" panose="020F0502020204030204" pitchFamily="34" charset="0"/>
                <a:ea typeface="Times New Roman" panose="02020603050405020304" pitchFamily="18" charset="0"/>
                <a:cs typeface="Calibri" panose="020F0502020204030204" pitchFamily="34" charset="0"/>
              </a:rPr>
              <a:t>.</a:t>
            </a: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Limited in capturing complex image features; performs worst in detecting subtle deepfake artifacts.</a:t>
            </a:r>
          </a:p>
          <a:p>
            <a:pPr lvl="1">
              <a:buSzPts val="1000"/>
              <a:tabLst>
                <a:tab pos="914400" algn="l"/>
              </a:tabLst>
            </a:pP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buFont typeface="+mj-lt"/>
              <a:buAutoNum type="arabicPeriod"/>
              <a:tabLst>
                <a:tab pos="4572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SVM</a:t>
            </a:r>
            <a:endParaRPr lang="en-IN"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Highest accuracy (0.955), F1-score (0.955), and AUC (0.989).</a:t>
            </a: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Strong precision (0.940) and recall (0.971), indicating reliable detection of both real and fake images.</a:t>
            </a:r>
          </a:p>
          <a:p>
            <a:pPr marL="742950" lvl="1" indent="-285750">
              <a:buSzPts val="1000"/>
              <a:buFont typeface="Courier New" panose="02070309020205020404" pitchFamily="49" charset="0"/>
              <a:buChar char="o"/>
              <a:tabLst>
                <a:tab pos="914400" algn="l"/>
              </a:tabLst>
            </a:pPr>
            <a:r>
              <a:rPr lang="en-IN" dirty="0">
                <a:effectLst/>
                <a:latin typeface="Calibri" panose="020F0502020204030204" pitchFamily="34" charset="0"/>
                <a:ea typeface="Times New Roman" panose="02020603050405020304" pitchFamily="18" charset="0"/>
                <a:cs typeface="Calibri" panose="020F0502020204030204" pitchFamily="34" charset="0"/>
              </a:rPr>
              <a:t>Longest training time (315 s), especially with high-dimensional feature space.</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6523338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3C27EB-4398-E89B-1631-53792D8A5F89}"/>
              </a:ext>
            </a:extLst>
          </p:cNvPr>
          <p:cNvSpPr>
            <a:spLocks noGrp="1"/>
          </p:cNvSpPr>
          <p:nvPr>
            <p:ph type="sldNum" sz="quarter" idx="12"/>
          </p:nvPr>
        </p:nvSpPr>
        <p:spPr/>
        <p:txBody>
          <a:bodyPr/>
          <a:lstStyle/>
          <a:p>
            <a:fld id="{5BFCF61C-3B18-4C03-8326-CC3B32D710C9}" type="slidenum">
              <a:rPr lang="en-US" noProof="0" smtClean="0"/>
              <a:pPr/>
              <a:t>38</a:t>
            </a:fld>
            <a:endParaRPr lang="en-US" noProof="0"/>
          </a:p>
        </p:txBody>
      </p:sp>
      <p:sp>
        <p:nvSpPr>
          <p:cNvPr id="10" name="TextBox 9">
            <a:extLst>
              <a:ext uri="{FF2B5EF4-FFF2-40B4-BE49-F238E27FC236}">
                <a16:creationId xmlns:a16="http://schemas.microsoft.com/office/drawing/2014/main" id="{FAE11952-8032-DCEF-5075-951D5B0AD23A}"/>
              </a:ext>
            </a:extLst>
          </p:cNvPr>
          <p:cNvSpPr txBox="1"/>
          <p:nvPr/>
        </p:nvSpPr>
        <p:spPr>
          <a:xfrm>
            <a:off x="538843" y="2560510"/>
            <a:ext cx="11495314" cy="3276282"/>
          </a:xfrm>
          <a:prstGeom prst="rect">
            <a:avLst/>
          </a:prstGeom>
          <a:noFill/>
        </p:spPr>
        <p:txBody>
          <a:bodyPr wrap="square">
            <a:spAutoFit/>
          </a:bodyPr>
          <a:lstStyle/>
          <a:p>
            <a:pPr marL="342900" lvl="0" indent="-342900">
              <a:lnSpc>
                <a:spcPct val="150000"/>
              </a:lnSpc>
              <a:buSzPts val="1000"/>
              <a:buFont typeface="Symbol" panose="05050102010706020507" pitchFamily="18" charset="2"/>
              <a:buChar char=""/>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Best-performing model:</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SVM</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(highest accuracy, F1, and AUC) for this study.</a:t>
            </a:r>
          </a:p>
          <a:p>
            <a:pPr marL="342900" lvl="0" indent="-342900">
              <a:lnSpc>
                <a:spcPct val="150000"/>
              </a:lnSpc>
              <a:buSzPts val="1000"/>
              <a:buFont typeface="Symbol" panose="05050102010706020507" pitchFamily="18" charset="2"/>
              <a:buChar char=""/>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CNN</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is also effective, especially with raw images and automated feature learning, but slightly less accurate than SVM on these features.</a:t>
            </a:r>
          </a:p>
          <a:p>
            <a:pPr marL="342900" lvl="0" indent="-342900">
              <a:lnSpc>
                <a:spcPct val="150000"/>
              </a:lnSpc>
              <a:buSzPts val="1000"/>
              <a:buFont typeface="Symbol" panose="05050102010706020507" pitchFamily="18" charset="2"/>
              <a:buChar char=""/>
              <a:tabLst>
                <a:tab pos="457200" algn="l"/>
              </a:tabLst>
            </a:pP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PCA + Logistic Regression</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is fast and interpretable but not as accurate; suitable for </a:t>
            </a: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preliminary analysis or low-resource settings</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t>
            </a:r>
          </a:p>
          <a:p>
            <a:pPr marL="342900" lvl="0" indent="-342900">
              <a:lnSpc>
                <a:spcPct val="150000"/>
              </a:lnSpc>
              <a:buSzPts val="1000"/>
              <a:buFont typeface="Symbol" panose="05050102010706020507" pitchFamily="18" charset="2"/>
              <a:buChar char=""/>
              <a:tabLst>
                <a:tab pos="457200" algn="l"/>
              </a:tabLst>
            </a:pP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For </a:t>
            </a: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real-world deployment</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SVM is recommended for </a:t>
            </a:r>
            <a:r>
              <a:rPr lang="en-IN" sz="20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statistical feature–based classification</a:t>
            </a:r>
            <a:r>
              <a:rPr lang="en-IN" sz="20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while CNN can be used for end-to-end learning on raw images, possibly in a hybrid pipeline.</a:t>
            </a:r>
          </a:p>
        </p:txBody>
      </p:sp>
      <p:sp>
        <p:nvSpPr>
          <p:cNvPr id="12" name="TextBox 11">
            <a:extLst>
              <a:ext uri="{FF2B5EF4-FFF2-40B4-BE49-F238E27FC236}">
                <a16:creationId xmlns:a16="http://schemas.microsoft.com/office/drawing/2014/main" id="{0571B237-B4E0-F4F2-1648-172313A07783}"/>
              </a:ext>
            </a:extLst>
          </p:cNvPr>
          <p:cNvSpPr txBox="1"/>
          <p:nvPr/>
        </p:nvSpPr>
        <p:spPr>
          <a:xfrm>
            <a:off x="783772" y="1339202"/>
            <a:ext cx="6302828" cy="1015663"/>
          </a:xfrm>
          <a:prstGeom prst="rect">
            <a:avLst/>
          </a:prstGeom>
          <a:noFill/>
        </p:spPr>
        <p:txBody>
          <a:bodyPr wrap="square" rtlCol="0">
            <a:spAutoFit/>
          </a:bodyPr>
          <a:lstStyle/>
          <a:p>
            <a:r>
              <a:rPr lang="en-US" sz="6000" b="1" i="1" dirty="0">
                <a:solidFill>
                  <a:schemeClr val="accent3">
                    <a:lumMod val="20000"/>
                    <a:lumOff val="80000"/>
                  </a:schemeClr>
                </a:solidFill>
                <a:latin typeface="Calibri" panose="020F0502020204030204" pitchFamily="34" charset="0"/>
                <a:cs typeface="Calibri" panose="020F0502020204030204" pitchFamily="34" charset="0"/>
              </a:rPr>
              <a:t>Best Fit Model is:-</a:t>
            </a:r>
            <a:endParaRPr lang="en-IN" sz="6000" b="1" i="1" dirty="0">
              <a:solidFill>
                <a:schemeClr val="accent3">
                  <a:lumMod val="20000"/>
                  <a:lumOff val="8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834908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22C8EA-0DA0-D188-7BE3-BB8ABECFE0AA}"/>
              </a:ext>
            </a:extLst>
          </p:cNvPr>
          <p:cNvSpPr>
            <a:spLocks noGrp="1"/>
          </p:cNvSpPr>
          <p:nvPr>
            <p:ph type="sldNum" sz="quarter" idx="12"/>
          </p:nvPr>
        </p:nvSpPr>
        <p:spPr/>
        <p:txBody>
          <a:bodyPr/>
          <a:lstStyle/>
          <a:p>
            <a:fld id="{5BFCF61C-3B18-4C03-8326-CC3B32D710C9}" type="slidenum">
              <a:rPr lang="en-US" noProof="0" smtClean="0"/>
              <a:t>39</a:t>
            </a:fld>
            <a:endParaRPr lang="en-US" noProof="0"/>
          </a:p>
        </p:txBody>
      </p:sp>
      <p:pic>
        <p:nvPicPr>
          <p:cNvPr id="4" name="Picture 3">
            <a:extLst>
              <a:ext uri="{FF2B5EF4-FFF2-40B4-BE49-F238E27FC236}">
                <a16:creationId xmlns:a16="http://schemas.microsoft.com/office/drawing/2014/main" id="{F39E3364-3E29-81FA-B325-B24C65917C9E}"/>
              </a:ext>
            </a:extLst>
          </p:cNvPr>
          <p:cNvPicPr>
            <a:picLocks noChangeAspect="1"/>
          </p:cNvPicPr>
          <p:nvPr/>
        </p:nvPicPr>
        <p:blipFill>
          <a:blip r:embed="rId2"/>
          <a:stretch>
            <a:fillRect/>
          </a:stretch>
        </p:blipFill>
        <p:spPr>
          <a:xfrm>
            <a:off x="497251" y="2253343"/>
            <a:ext cx="5838235" cy="43355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F1735907-ACDA-BB7C-BD2F-928E340846E0}"/>
              </a:ext>
            </a:extLst>
          </p:cNvPr>
          <p:cNvSpPr txBox="1"/>
          <p:nvPr/>
        </p:nvSpPr>
        <p:spPr>
          <a:xfrm>
            <a:off x="497251" y="0"/>
            <a:ext cx="7625443" cy="2031325"/>
          </a:xfrm>
          <a:prstGeom prst="rect">
            <a:avLst/>
          </a:prstGeom>
          <a:noFill/>
        </p:spPr>
        <p:txBody>
          <a:bodyPr wrap="square" rtlCol="0">
            <a:spAutoFit/>
          </a:bodyPr>
          <a:lstStyle/>
          <a:p>
            <a:pPr lvl="2">
              <a:lnSpc>
                <a:spcPct val="150000"/>
              </a:lnSpc>
            </a:pPr>
            <a:r>
              <a:rPr lang="en-US" sz="2400" b="1" dirty="0">
                <a:latin typeface="Calibri" panose="020F0502020204030204" pitchFamily="34" charset="0"/>
                <a:cs typeface="Calibri" panose="020F0502020204030204" pitchFamily="34" charset="0"/>
              </a:rPr>
              <a:t>## BARPLOT OF COMPARISON ##</a:t>
            </a:r>
          </a:p>
          <a:p>
            <a:r>
              <a:rPr lang="en-IN" dirty="0" err="1">
                <a:latin typeface="Calibri" panose="020F0502020204030204" pitchFamily="34" charset="0"/>
                <a:cs typeface="Calibri" panose="020F0502020204030204" pitchFamily="34" charset="0"/>
              </a:rPr>
              <a:t>plt.bar</a:t>
            </a:r>
            <a:r>
              <a:rPr lang="en-IN" dirty="0">
                <a:latin typeface="Calibri" panose="020F0502020204030204" pitchFamily="34" charset="0"/>
                <a:cs typeface="Calibri" panose="020F0502020204030204" pitchFamily="34" charset="0"/>
              </a:rPr>
              <a:t>(x-0.25, </a:t>
            </a:r>
            <a:r>
              <a:rPr lang="en-IN" dirty="0" err="1">
                <a:latin typeface="Calibri" panose="020F0502020204030204" pitchFamily="34" charset="0"/>
                <a:cs typeface="Calibri" panose="020F0502020204030204" pitchFamily="34" charset="0"/>
              </a:rPr>
              <a:t>df_summary</a:t>
            </a:r>
            <a:r>
              <a:rPr lang="en-IN" dirty="0">
                <a:latin typeface="Calibri" panose="020F0502020204030204" pitchFamily="34" charset="0"/>
                <a:cs typeface="Calibri" panose="020F0502020204030204" pitchFamily="34" charset="0"/>
              </a:rPr>
              <a:t>["Accuracy"], width=0.25, label="Accuracy")</a:t>
            </a:r>
          </a:p>
          <a:p>
            <a:r>
              <a:rPr lang="en-IN" dirty="0" err="1">
                <a:latin typeface="Calibri" panose="020F0502020204030204" pitchFamily="34" charset="0"/>
                <a:cs typeface="Calibri" panose="020F0502020204030204" pitchFamily="34" charset="0"/>
              </a:rPr>
              <a:t>plt.bar</a:t>
            </a:r>
            <a:r>
              <a:rPr lang="en-IN" dirty="0">
                <a:latin typeface="Calibri" panose="020F0502020204030204" pitchFamily="34" charset="0"/>
                <a:cs typeface="Calibri" panose="020F0502020204030204" pitchFamily="34" charset="0"/>
              </a:rPr>
              <a:t>(x, </a:t>
            </a:r>
            <a:r>
              <a:rPr lang="en-IN" dirty="0" err="1">
                <a:latin typeface="Calibri" panose="020F0502020204030204" pitchFamily="34" charset="0"/>
                <a:cs typeface="Calibri" panose="020F0502020204030204" pitchFamily="34" charset="0"/>
              </a:rPr>
              <a:t>df_summary</a:t>
            </a:r>
            <a:r>
              <a:rPr lang="en-IN" dirty="0">
                <a:latin typeface="Calibri" panose="020F0502020204030204" pitchFamily="34" charset="0"/>
                <a:cs typeface="Calibri" panose="020F0502020204030204" pitchFamily="34" charset="0"/>
              </a:rPr>
              <a:t>["F1"], width=0.25, label="F1")</a:t>
            </a:r>
          </a:p>
          <a:p>
            <a:r>
              <a:rPr lang="en-IN" dirty="0" err="1">
                <a:latin typeface="Calibri" panose="020F0502020204030204" pitchFamily="34" charset="0"/>
                <a:cs typeface="Calibri" panose="020F0502020204030204" pitchFamily="34" charset="0"/>
              </a:rPr>
              <a:t>plt.bar</a:t>
            </a:r>
            <a:r>
              <a:rPr lang="en-IN" dirty="0">
                <a:latin typeface="Calibri" panose="020F0502020204030204" pitchFamily="34" charset="0"/>
                <a:cs typeface="Calibri" panose="020F0502020204030204" pitchFamily="34" charset="0"/>
              </a:rPr>
              <a:t>(x+0.25, </a:t>
            </a:r>
            <a:r>
              <a:rPr lang="en-IN" dirty="0" err="1">
                <a:latin typeface="Calibri" panose="020F0502020204030204" pitchFamily="34" charset="0"/>
                <a:cs typeface="Calibri" panose="020F0502020204030204" pitchFamily="34" charset="0"/>
              </a:rPr>
              <a:t>df_summary</a:t>
            </a:r>
            <a:r>
              <a:rPr lang="en-IN" dirty="0">
                <a:latin typeface="Calibri" panose="020F0502020204030204" pitchFamily="34" charset="0"/>
                <a:cs typeface="Calibri" panose="020F0502020204030204" pitchFamily="34" charset="0"/>
              </a:rPr>
              <a:t>["AUC"], width=0.25, label="AUC")</a:t>
            </a:r>
          </a:p>
          <a:p>
            <a:r>
              <a:rPr lang="en-IN" dirty="0">
                <a:latin typeface="Calibri" panose="020F0502020204030204" pitchFamily="34" charset="0"/>
                <a:cs typeface="Calibri" panose="020F0502020204030204" pitchFamily="34" charset="0"/>
              </a:rPr>
              <a:t>plt.xticks(x, </a:t>
            </a:r>
            <a:r>
              <a:rPr lang="en-IN" dirty="0" err="1">
                <a:latin typeface="Calibri" panose="020F0502020204030204" pitchFamily="34" charset="0"/>
                <a:cs typeface="Calibri" panose="020F0502020204030204" pitchFamily="34" charset="0"/>
              </a:rPr>
              <a:t>df_summary</a:t>
            </a:r>
            <a:r>
              <a:rPr lang="en-IN" dirty="0">
                <a:latin typeface="Calibri" panose="020F0502020204030204" pitchFamily="34" charset="0"/>
                <a:cs typeface="Calibri" panose="020F0502020204030204" pitchFamily="34" charset="0"/>
              </a:rPr>
              <a:t>["Model"])</a:t>
            </a:r>
          </a:p>
          <a:p>
            <a:r>
              <a:rPr lang="en-IN" dirty="0" err="1">
                <a:latin typeface="Calibri" panose="020F0502020204030204" pitchFamily="34" charset="0"/>
                <a:cs typeface="Calibri" panose="020F0502020204030204" pitchFamily="34" charset="0"/>
              </a:rPr>
              <a:t>plt.ylim</a:t>
            </a:r>
            <a:r>
              <a:rPr lang="en-IN" dirty="0">
                <a:latin typeface="Calibri" panose="020F0502020204030204" pitchFamily="34" charset="0"/>
                <a:cs typeface="Calibri" panose="020F0502020204030204" pitchFamily="34" charset="0"/>
              </a:rPr>
              <a:t>(0,1.05), plt.ylabel("Score")</a:t>
            </a:r>
          </a:p>
        </p:txBody>
      </p:sp>
      <p:sp>
        <p:nvSpPr>
          <p:cNvPr id="6" name="Scroll: Vertical 5">
            <a:extLst>
              <a:ext uri="{FF2B5EF4-FFF2-40B4-BE49-F238E27FC236}">
                <a16:creationId xmlns:a16="http://schemas.microsoft.com/office/drawing/2014/main" id="{BAF42A54-6041-962D-D568-9470D46CBF69}"/>
              </a:ext>
            </a:extLst>
          </p:cNvPr>
          <p:cNvSpPr/>
          <p:nvPr/>
        </p:nvSpPr>
        <p:spPr>
          <a:xfrm>
            <a:off x="6629400" y="832758"/>
            <a:ext cx="5404757" cy="5609190"/>
          </a:xfrm>
          <a:prstGeom prst="verticalScroll">
            <a:avLst/>
          </a:prstGeom>
          <a:solidFill>
            <a:srgbClr val="198986"/>
          </a:solidFill>
        </p:spPr>
        <p:style>
          <a:lnRef idx="2">
            <a:schemeClr val="accent6"/>
          </a:lnRef>
          <a:fillRef idx="1">
            <a:schemeClr val="lt1"/>
          </a:fillRef>
          <a:effectRef idx="0">
            <a:schemeClr val="accent6"/>
          </a:effectRef>
          <a:fontRef idx="minor">
            <a:schemeClr val="dk1"/>
          </a:fontRef>
        </p:style>
        <p:txBody>
          <a:bodyPr rtlCol="0" anchor="ctr"/>
          <a:lstStyle/>
          <a:p>
            <a:pPr algn="ctr">
              <a:lnSpc>
                <a:spcPct val="150000"/>
              </a:lnSpc>
            </a:pPr>
            <a:r>
              <a:rPr lang="en-US" sz="2400" b="1" i="1" dirty="0">
                <a:solidFill>
                  <a:srgbClr val="D8BEB2"/>
                </a:solidFill>
                <a:latin typeface="Calibri" panose="020F0502020204030204" pitchFamily="34" charset="0"/>
                <a:cs typeface="Calibri" panose="020F0502020204030204" pitchFamily="34" charset="0"/>
              </a:rPr>
              <a:t>Interpretation</a:t>
            </a:r>
          </a:p>
          <a:p>
            <a:pPr marL="285750" indent="-285750">
              <a:buFont typeface="Wingdings" panose="05000000000000000000" pitchFamily="2" charset="2"/>
              <a:buChar char="Ø"/>
            </a:pPr>
            <a:r>
              <a:rPr lang="en-US" b="1" dirty="0">
                <a:solidFill>
                  <a:schemeClr val="bg1"/>
                </a:solidFill>
                <a:latin typeface="Calibri" panose="020F0502020204030204" pitchFamily="34" charset="0"/>
                <a:cs typeface="Calibri" panose="020F0502020204030204" pitchFamily="34" charset="0"/>
              </a:rPr>
              <a:t>The bar plot compares the performance of three models - CNN, PCA + Logistic, and SVM - for Deepfake Image Detection based on Accuracy, F1 score, and AUC.</a:t>
            </a:r>
          </a:p>
          <a:p>
            <a:pPr marL="285750" indent="-285750">
              <a:buFont typeface="Wingdings" panose="05000000000000000000" pitchFamily="2" charset="2"/>
              <a:buChar char="§"/>
            </a:pPr>
            <a:r>
              <a:rPr lang="en-US" b="1" dirty="0">
                <a:solidFill>
                  <a:schemeClr val="bg1"/>
                </a:solidFill>
                <a:latin typeface="Calibri" panose="020F0502020204030204" pitchFamily="34" charset="0"/>
                <a:cs typeface="Calibri" panose="020F0502020204030204" pitchFamily="34" charset="0"/>
              </a:rPr>
              <a:t>All three models have comparable Accuracy.    </a:t>
            </a:r>
          </a:p>
          <a:p>
            <a:pPr marL="285750" indent="-285750">
              <a:buFont typeface="Wingdings" panose="05000000000000000000" pitchFamily="2" charset="2"/>
              <a:buChar char="§"/>
            </a:pPr>
            <a:r>
              <a:rPr lang="en-US" b="1" dirty="0">
                <a:solidFill>
                  <a:schemeClr val="bg1"/>
                </a:solidFill>
                <a:latin typeface="Calibri" panose="020F0502020204030204" pitchFamily="34" charset="0"/>
                <a:cs typeface="Calibri" panose="020F0502020204030204" pitchFamily="34" charset="0"/>
              </a:rPr>
              <a:t>SVM seems to have slightly better or comparable metrics across Accuracy, F1, and AUC.    </a:t>
            </a:r>
          </a:p>
          <a:p>
            <a:pPr marL="285750" indent="-285750">
              <a:buFont typeface="Wingdings" panose="05000000000000000000" pitchFamily="2" charset="2"/>
              <a:buChar char="§"/>
            </a:pPr>
            <a:r>
              <a:rPr lang="en-US" b="1" dirty="0">
                <a:solidFill>
                  <a:schemeClr val="bg1"/>
                </a:solidFill>
                <a:latin typeface="Calibri" panose="020F0502020204030204" pitchFamily="34" charset="0"/>
                <a:cs typeface="Calibri" panose="020F0502020204030204" pitchFamily="34" charset="0"/>
              </a:rPr>
              <a:t>PCA + Logistic has a relatively lower F1 score compared to the others.</a:t>
            </a:r>
          </a:p>
          <a:p>
            <a:pPr marL="285750" indent="-285750">
              <a:buFont typeface="Wingdings" panose="05000000000000000000" pitchFamily="2" charset="2"/>
              <a:buChar char="§"/>
            </a:pPr>
            <a:r>
              <a:rPr lang="en-US" b="1" dirty="0">
                <a:solidFill>
                  <a:schemeClr val="bg1"/>
                </a:solidFill>
                <a:latin typeface="Calibri" panose="020F0502020204030204" pitchFamily="34" charset="0"/>
                <a:cs typeface="Calibri" panose="020F0502020204030204" pitchFamily="34" charset="0"/>
              </a:rPr>
              <a:t>CNN performs decently compared to SVM and PCA + Logistic.</a:t>
            </a:r>
          </a:p>
          <a:p>
            <a:pPr marL="285750" indent="-285750">
              <a:buFont typeface="Wingdings" panose="05000000000000000000" pitchFamily="2" charset="2"/>
              <a:buChar char="§"/>
            </a:pPr>
            <a:r>
              <a:rPr lang="en-US" b="1" dirty="0">
                <a:solidFill>
                  <a:schemeClr val="bg1"/>
                </a:solidFill>
                <a:latin typeface="Calibri" panose="020F0502020204030204" pitchFamily="34" charset="0"/>
                <a:cs typeface="Calibri" panose="020F0502020204030204" pitchFamily="34" charset="0"/>
              </a:rPr>
              <a:t>SVM seems to be best fit model among the others.</a:t>
            </a:r>
            <a:endParaRPr lang="en-IN"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9313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1223343-00A1-F027-F5B4-CC0725D6523F}"/>
              </a:ext>
            </a:extLst>
          </p:cNvPr>
          <p:cNvSpPr>
            <a:spLocks noGrp="1"/>
          </p:cNvSpPr>
          <p:nvPr>
            <p:ph type="sldNum" sz="quarter" idx="12"/>
          </p:nvPr>
        </p:nvSpPr>
        <p:spPr/>
        <p:txBody>
          <a:bodyPr/>
          <a:lstStyle/>
          <a:p>
            <a:fld id="{5BFCF61C-3B18-4C03-8326-CC3B32D710C9}" type="slidenum">
              <a:rPr lang="en-US" noProof="0" smtClean="0"/>
              <a:t>40</a:t>
            </a:fld>
            <a:endParaRPr lang="en-US" noProof="0"/>
          </a:p>
        </p:txBody>
      </p:sp>
      <p:sp>
        <p:nvSpPr>
          <p:cNvPr id="6" name="TextBox 5">
            <a:extLst>
              <a:ext uri="{FF2B5EF4-FFF2-40B4-BE49-F238E27FC236}">
                <a16:creationId xmlns:a16="http://schemas.microsoft.com/office/drawing/2014/main" id="{98EF758C-3487-D3B2-6FF5-5A979B98D56D}"/>
              </a:ext>
            </a:extLst>
          </p:cNvPr>
          <p:cNvSpPr txBox="1"/>
          <p:nvPr/>
        </p:nvSpPr>
        <p:spPr>
          <a:xfrm>
            <a:off x="2416627" y="739357"/>
            <a:ext cx="8866415" cy="1569660"/>
          </a:xfrm>
          <a:prstGeom prst="rect">
            <a:avLst/>
          </a:prstGeom>
          <a:noFill/>
        </p:spPr>
        <p:txBody>
          <a:bodyPr wrap="square" rtlCol="0">
            <a:spAutoFit/>
          </a:bodyPr>
          <a:lstStyle/>
          <a:p>
            <a:r>
              <a:rPr lang="en-US" sz="4800" b="1" dirty="0">
                <a:latin typeface="Calibri" panose="020F0502020204030204" pitchFamily="34" charset="0"/>
                <a:cs typeface="Calibri" panose="020F0502020204030204" pitchFamily="34" charset="0"/>
              </a:rPr>
              <a:t>How This Study Stands Different Among the Previous Ones??</a:t>
            </a:r>
            <a:endParaRPr lang="en-US" sz="4800" b="1" kern="1200" dirty="0">
              <a:solidFill>
                <a:schemeClr val="tx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E10A4FC-5505-3C56-B2ED-5652E8CAAED2}"/>
              </a:ext>
            </a:extLst>
          </p:cNvPr>
          <p:cNvSpPr txBox="1"/>
          <p:nvPr/>
        </p:nvSpPr>
        <p:spPr>
          <a:xfrm>
            <a:off x="745670" y="2702409"/>
            <a:ext cx="11315701" cy="4708981"/>
          </a:xfrm>
          <a:prstGeom prst="rect">
            <a:avLst/>
          </a:prstGeom>
          <a:noFill/>
        </p:spPr>
        <p:txBody>
          <a:bodyPr wrap="square">
            <a:spAutoFit/>
          </a:bodyPr>
          <a:lstStyle/>
          <a:p>
            <a:pPr marL="742950" lvl="1" indent="-285750">
              <a:spcAft>
                <a:spcPts val="1000"/>
              </a:spcAft>
              <a:buSzPts val="1000"/>
              <a:buFont typeface="Wingdings" panose="05000000000000000000" pitchFamily="2" charset="2"/>
              <a:buChar char="Ø"/>
              <a:tabLst>
                <a:tab pos="914400" algn="l"/>
              </a:tabLst>
            </a:pPr>
            <a:r>
              <a:rPr lang="en-IN" b="1" dirty="0">
                <a:effectLst/>
                <a:latin typeface="Calibri" panose="020F0502020204030204" pitchFamily="34" charset="0"/>
                <a:ea typeface="Times New Roman" panose="02020603050405020304" pitchFamily="18" charset="0"/>
                <a:cs typeface="Calibri" panose="020F0502020204030204" pitchFamily="34" charset="0"/>
              </a:rPr>
              <a:t>Our study systematically compared both classical ML (PCA + Logistic, SVM) and deep learning (CNN) approaches</a:t>
            </a:r>
            <a:r>
              <a:rPr lang="en-IN" dirty="0">
                <a:effectLst/>
                <a:latin typeface="Calibri" panose="020F0502020204030204" pitchFamily="34" charset="0"/>
                <a:ea typeface="Times New Roman" panose="02020603050405020304" pitchFamily="18" charset="0"/>
                <a:cs typeface="Calibri" panose="020F0502020204030204" pitchFamily="34" charset="0"/>
              </a:rPr>
              <a:t> on the same dataset to evaluate their relative performance comprehensively.</a:t>
            </a:r>
            <a:endParaRPr lang="en-IN" dirty="0">
              <a:latin typeface="Calibri" panose="020F0502020204030204" pitchFamily="34" charset="0"/>
              <a:ea typeface="Times New Roman" panose="02020603050405020304" pitchFamily="18" charset="0"/>
              <a:cs typeface="Calibri" panose="020F0502020204030204" pitchFamily="34" charset="0"/>
            </a:endParaRPr>
          </a:p>
          <a:p>
            <a:pPr marL="742950" lvl="1" indent="-285750">
              <a:spcAft>
                <a:spcPts val="1000"/>
              </a:spcAft>
              <a:buSzPts val="1000"/>
              <a:buFont typeface="Wingdings" panose="05000000000000000000" pitchFamily="2" charset="2"/>
              <a:buChar char="Ø"/>
              <a:tabLst>
                <a:tab pos="914400" algn="l"/>
              </a:tabLst>
            </a:pPr>
            <a:r>
              <a:rPr lang="en-IN" dirty="0">
                <a:latin typeface="Calibri" panose="020F0502020204030204" pitchFamily="34" charset="0"/>
                <a:cs typeface="Calibri" panose="020F0502020204030204" pitchFamily="34" charset="0"/>
              </a:rPr>
              <a:t>This study applies </a:t>
            </a:r>
            <a:r>
              <a:rPr lang="en-IN" b="1" dirty="0">
                <a:latin typeface="Calibri" panose="020F0502020204030204" pitchFamily="34" charset="0"/>
                <a:cs typeface="Calibri" panose="020F0502020204030204" pitchFamily="34" charset="0"/>
              </a:rPr>
              <a:t>dimensionality reduction (PCA) before logistic regression</a:t>
            </a:r>
            <a:r>
              <a:rPr lang="en-IN" dirty="0">
                <a:latin typeface="Calibri" panose="020F0502020204030204" pitchFamily="34" charset="0"/>
                <a:cs typeface="Calibri" panose="020F0502020204030204" pitchFamily="34" charset="0"/>
              </a:rPr>
              <a:t>, demonstrating how preprocessing impacts performance.</a:t>
            </a:r>
          </a:p>
          <a:p>
            <a:pPr marL="742950" lvl="1" indent="-285750">
              <a:spcAft>
                <a:spcPts val="1000"/>
              </a:spcAft>
              <a:buSzPts val="1000"/>
              <a:buFont typeface="Wingdings" panose="05000000000000000000" pitchFamily="2" charset="2"/>
              <a:buChar char="Ø"/>
              <a:tabLst>
                <a:tab pos="914400" algn="l"/>
              </a:tabLst>
            </a:pPr>
            <a:r>
              <a:rPr lang="en-IN" dirty="0">
                <a:latin typeface="Calibri" panose="020F0502020204030204" pitchFamily="34" charset="0"/>
                <a:cs typeface="Calibri" panose="020F0502020204030204" pitchFamily="34" charset="0"/>
              </a:rPr>
              <a:t>This combination allows understanding the trade-off between </a:t>
            </a:r>
            <a:r>
              <a:rPr lang="en-IN" b="1" dirty="0">
                <a:latin typeface="Calibri" panose="020F0502020204030204" pitchFamily="34" charset="0"/>
                <a:cs typeface="Calibri" panose="020F0502020204030204" pitchFamily="34" charset="0"/>
              </a:rPr>
              <a:t>training speed and model accuracy</a:t>
            </a:r>
            <a:r>
              <a:rPr lang="en-IN" dirty="0">
                <a:latin typeface="Calibri" panose="020F0502020204030204" pitchFamily="34" charset="0"/>
                <a:cs typeface="Calibri" panose="020F0502020204030204" pitchFamily="34" charset="0"/>
              </a:rPr>
              <a:t>, which previous studies often did not quantify clearly.</a:t>
            </a:r>
          </a:p>
          <a:p>
            <a:pPr marL="742950" lvl="1" indent="-285750">
              <a:spcAft>
                <a:spcPts val="1000"/>
              </a:spcAft>
              <a:buSzPts val="1000"/>
              <a:buFont typeface="Wingdings" panose="05000000000000000000" pitchFamily="2" charset="2"/>
              <a:buChar char="Ø"/>
              <a:tabLst>
                <a:tab pos="914400" algn="l"/>
              </a:tabLst>
            </a:pPr>
            <a:r>
              <a:rPr lang="en-IN" dirty="0">
                <a:latin typeface="Calibri" panose="020F0502020204030204" pitchFamily="34" charset="0"/>
                <a:cs typeface="Calibri" panose="020F0502020204030204" pitchFamily="34" charset="0"/>
              </a:rPr>
              <a:t>Most earlier studies reported only accuracy. Here, we also report </a:t>
            </a:r>
            <a:r>
              <a:rPr lang="en-IN" b="1" dirty="0">
                <a:latin typeface="Calibri" panose="020F0502020204030204" pitchFamily="34" charset="0"/>
                <a:cs typeface="Calibri" panose="020F0502020204030204" pitchFamily="34" charset="0"/>
              </a:rPr>
              <a:t>precision, recall, F1-score, and AUC</a:t>
            </a:r>
            <a:r>
              <a:rPr lang="en-IN" dirty="0">
                <a:latin typeface="Calibri" panose="020F0502020204030204" pitchFamily="34" charset="0"/>
                <a:cs typeface="Calibri" panose="020F0502020204030204" pitchFamily="34" charset="0"/>
              </a:rPr>
              <a:t>, providing a deeper understanding of model performance, especially in datasets with potential class imbalance.</a:t>
            </a:r>
          </a:p>
          <a:p>
            <a:pPr marL="742950" lvl="1" indent="-285750">
              <a:spcAft>
                <a:spcPts val="1000"/>
              </a:spcAft>
              <a:buSzPts val="1000"/>
              <a:buFont typeface="Wingdings" panose="05000000000000000000" pitchFamily="2" charset="2"/>
              <a:buChar char="Ø"/>
              <a:tabLst>
                <a:tab pos="914400" algn="l"/>
              </a:tabLst>
            </a:pPr>
            <a:r>
              <a:rPr lang="en-IN" dirty="0">
                <a:latin typeface="Calibri" panose="020F0502020204030204" pitchFamily="34" charset="0"/>
                <a:cs typeface="Calibri" panose="020F0502020204030204" pitchFamily="34" charset="0"/>
              </a:rPr>
              <a:t>This study emphasizes </a:t>
            </a:r>
            <a:r>
              <a:rPr lang="en-IN" b="1" dirty="0">
                <a:latin typeface="Calibri" panose="020F0502020204030204" pitchFamily="34" charset="0"/>
                <a:cs typeface="Calibri" panose="020F0502020204030204" pitchFamily="34" charset="0"/>
              </a:rPr>
              <a:t>trade-offs between accuracy, computational cost, and detection reliability</a:t>
            </a:r>
            <a:r>
              <a:rPr lang="en-IN" dirty="0">
                <a:latin typeface="Calibri" panose="020F0502020204030204" pitchFamily="34" charset="0"/>
                <a:cs typeface="Calibri" panose="020F0502020204030204" pitchFamily="34" charset="0"/>
              </a:rPr>
              <a:t>.</a:t>
            </a:r>
          </a:p>
          <a:p>
            <a:pPr marL="742950" lvl="1" indent="-285750">
              <a:spcAft>
                <a:spcPts val="1000"/>
              </a:spcAft>
              <a:buSzPts val="1000"/>
              <a:buFont typeface="Wingdings" panose="05000000000000000000" pitchFamily="2" charset="2"/>
              <a:buChar char="Ø"/>
              <a:tabLst>
                <a:tab pos="914400" algn="l"/>
              </a:tabLst>
            </a:pPr>
            <a:r>
              <a:rPr lang="en-IN" dirty="0">
                <a:latin typeface="Calibri" panose="020F0502020204030204" pitchFamily="34" charset="0"/>
                <a:cs typeface="Calibri" panose="020F0502020204030204" pitchFamily="34" charset="0"/>
              </a:rPr>
              <a:t>By comparing models across different criteria, the study offers guidance for selecting models based on </a:t>
            </a:r>
            <a:r>
              <a:rPr lang="en-IN" b="1" dirty="0">
                <a:latin typeface="Calibri" panose="020F0502020204030204" pitchFamily="34" charset="0"/>
                <a:cs typeface="Calibri" panose="020F0502020204030204" pitchFamily="34" charset="0"/>
              </a:rPr>
              <a:t>specific application needs</a:t>
            </a:r>
            <a:r>
              <a:rPr lang="en-IN" dirty="0">
                <a:latin typeface="Calibri" panose="020F0502020204030204" pitchFamily="34" charset="0"/>
                <a:cs typeface="Calibri" panose="020F0502020204030204" pitchFamily="34" charset="0"/>
              </a:rPr>
              <a:t> (e.g., time-critical deployment vs. high-accuracy detection), which is rarely addressed in prior research.</a:t>
            </a:r>
          </a:p>
          <a:p>
            <a:pPr marL="742950" lvl="1" indent="-285750">
              <a:buFont typeface="Arial" panose="020B0604020202020204" pitchFamily="34" charset="0"/>
              <a:buChar char="•"/>
            </a:pPr>
            <a:endParaRPr lang="en-IN" dirty="0">
              <a:latin typeface="Calibri" panose="020F0502020204030204" pitchFamily="34" charset="0"/>
              <a:cs typeface="Calibri" panose="020F0502020204030204" pitchFamily="34" charset="0"/>
            </a:endParaRPr>
          </a:p>
          <a:p>
            <a:pPr marL="742950" lvl="1" indent="-285750">
              <a:spcAft>
                <a:spcPts val="1000"/>
              </a:spcAft>
              <a:buSzPts val="1000"/>
              <a:buFont typeface="Courier New" panose="02070309020205020404" pitchFamily="49" charset="0"/>
              <a:buChar char="o"/>
              <a:tabLst>
                <a:tab pos="914400" algn="l"/>
              </a:tabLst>
            </a:pPr>
            <a:endParaRPr lang="en-IN" sz="16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937596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0F29E9-E0FE-EAFE-82F2-7838D98C5A4F}"/>
              </a:ext>
            </a:extLst>
          </p:cNvPr>
          <p:cNvSpPr txBox="1"/>
          <p:nvPr/>
        </p:nvSpPr>
        <p:spPr>
          <a:xfrm>
            <a:off x="2986141" y="734208"/>
            <a:ext cx="7951205" cy="1107996"/>
          </a:xfrm>
          <a:prstGeom prst="rect">
            <a:avLst/>
          </a:prstGeom>
          <a:noFill/>
        </p:spPr>
        <p:txBody>
          <a:bodyPr wrap="square">
            <a:spAutoFit/>
          </a:bodyPr>
          <a:lstStyle/>
          <a:p>
            <a:r>
              <a:rPr lang="en-US" sz="6600" b="1" dirty="0">
                <a:solidFill>
                  <a:schemeClr val="bg1"/>
                </a:solidFill>
                <a:latin typeface="Calibri" panose="020F0502020204030204" pitchFamily="34" charset="0"/>
                <a:ea typeface="Calibri" panose="020F0502020204030204" pitchFamily="34" charset="0"/>
                <a:cs typeface="Calibri" panose="020F0502020204030204" pitchFamily="34" charset="0"/>
              </a:rPr>
              <a:t>Final Conclusion</a:t>
            </a:r>
            <a:endParaRPr lang="en-IN" sz="6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5A3F07B8-CA5F-4565-A421-9ED360820502}"/>
              </a:ext>
            </a:extLst>
          </p:cNvPr>
          <p:cNvSpPr txBox="1"/>
          <p:nvPr/>
        </p:nvSpPr>
        <p:spPr>
          <a:xfrm>
            <a:off x="755563" y="2059125"/>
            <a:ext cx="11033665" cy="4559390"/>
          </a:xfrm>
          <a:prstGeom prst="rect">
            <a:avLst/>
          </a:prstGeom>
          <a:noFill/>
        </p:spPr>
        <p:txBody>
          <a:bodyPr wrap="square">
            <a:spAutoFit/>
          </a:bodyPr>
          <a:lstStyle/>
          <a:p>
            <a:r>
              <a:rPr lang="en-IN" sz="2400" b="1" i="1" dirty="0">
                <a:solidFill>
                  <a:schemeClr val="accent3">
                    <a:lumMod val="20000"/>
                    <a:lumOff val="80000"/>
                  </a:schemeClr>
                </a:solidFill>
                <a:latin typeface="Calibri" panose="020F0502020204030204" pitchFamily="34" charset="0"/>
                <a:cs typeface="Calibri" panose="020F0502020204030204" pitchFamily="34" charset="0"/>
              </a:rPr>
              <a:t>This study aimed to compare the performances of different machine learning and deep learning models for the task of deepfake image detection. Three models—CNN, PCA + Logistic Regression, and SVM—were evaluated on the same dataset using multiple performance metrics including accuracy, precision, recall, F1-score, AUC, and training time. Also by comparing multiple models on the same dataset with comprehensive metrics, this research highlights the importance of evaluating both performance and computational efficiency in model selection. The results also provide a roadmap for choosing appropriate models based on specific application requirements, marking a significant improvement over earlier studies that focused on a single model type.</a:t>
            </a:r>
          </a:p>
          <a:p>
            <a:r>
              <a:rPr lang="en-IN" b="1" dirty="0"/>
              <a:t> </a:t>
            </a:r>
          </a:p>
          <a:p>
            <a:pPr>
              <a:lnSpc>
                <a:spcPct val="150000"/>
              </a:lnSpc>
              <a:buNone/>
            </a:pPr>
            <a:endParaRPr lang="en-IN" sz="2400" b="1" i="1" dirty="0">
              <a:solidFill>
                <a:schemeClr val="accent3">
                  <a:lumMod val="20000"/>
                  <a:lumOff val="80000"/>
                </a:schemeClr>
              </a:solidFill>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0428547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3E1717-F041-660D-E253-B283DAF6BFA9}"/>
              </a:ext>
            </a:extLst>
          </p:cNvPr>
          <p:cNvSpPr>
            <a:spLocks noGrp="1"/>
          </p:cNvSpPr>
          <p:nvPr>
            <p:ph type="sldNum" sz="quarter" idx="12"/>
          </p:nvPr>
        </p:nvSpPr>
        <p:spPr/>
        <p:txBody>
          <a:bodyPr/>
          <a:lstStyle/>
          <a:p>
            <a:fld id="{5BFCF61C-3B18-4C03-8326-CC3B32D710C9}" type="slidenum">
              <a:rPr lang="en-US" noProof="0" smtClean="0"/>
              <a:pPr/>
              <a:t>42</a:t>
            </a:fld>
            <a:endParaRPr lang="en-US" noProof="0"/>
          </a:p>
        </p:txBody>
      </p:sp>
      <p:sp>
        <p:nvSpPr>
          <p:cNvPr id="16" name="Title 15">
            <a:extLst>
              <a:ext uri="{FF2B5EF4-FFF2-40B4-BE49-F238E27FC236}">
                <a16:creationId xmlns:a16="http://schemas.microsoft.com/office/drawing/2014/main" id="{61A2D0C6-E8DE-6564-756D-83317E9A734E}"/>
              </a:ext>
            </a:extLst>
          </p:cNvPr>
          <p:cNvSpPr>
            <a:spLocks noGrp="1"/>
          </p:cNvSpPr>
          <p:nvPr>
            <p:ph type="title"/>
          </p:nvPr>
        </p:nvSpPr>
        <p:spPr>
          <a:xfrm>
            <a:off x="0" y="937092"/>
            <a:ext cx="3510643" cy="1682749"/>
          </a:xfrm>
        </p:spPr>
        <p:txBody>
          <a:bodyPr/>
          <a:lstStyle/>
          <a:p>
            <a:r>
              <a:rPr lang="en-US" sz="5400" b="1" dirty="0">
                <a:latin typeface="Calibri" panose="020F0502020204030204" pitchFamily="34" charset="0"/>
                <a:cs typeface="Calibri" panose="020F0502020204030204" pitchFamily="34" charset="0"/>
              </a:rPr>
              <a:t>key Findings &amp; Results</a:t>
            </a:r>
            <a:endParaRPr lang="en-IN" sz="54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3C7DE68-C3A9-B184-D4F8-BF4540594AD0}"/>
              </a:ext>
            </a:extLst>
          </p:cNvPr>
          <p:cNvSpPr txBox="1"/>
          <p:nvPr/>
        </p:nvSpPr>
        <p:spPr>
          <a:xfrm>
            <a:off x="3510643" y="248498"/>
            <a:ext cx="8432074" cy="6609502"/>
          </a:xfrm>
          <a:prstGeom prst="rect">
            <a:avLst/>
          </a:prstGeom>
          <a:noFill/>
        </p:spPr>
        <p:txBody>
          <a:bodyPr wrap="square">
            <a:spAutoFit/>
          </a:bodyPr>
          <a:lstStyle/>
          <a:p>
            <a:pPr>
              <a:spcBef>
                <a:spcPts val="300"/>
              </a:spcBef>
              <a:spcAft>
                <a:spcPts val="500"/>
              </a:spcAft>
            </a:pPr>
            <a:r>
              <a:rPr lang="en-IN" sz="2000" b="1" dirty="0"/>
              <a:t>1. </a:t>
            </a:r>
            <a:r>
              <a:rPr lang="en-IN" sz="2000" b="1" dirty="0">
                <a:latin typeface="Calibri" panose="020F0502020204030204" pitchFamily="34" charset="0"/>
                <a:cs typeface="Calibri" panose="020F0502020204030204" pitchFamily="34" charset="0"/>
              </a:rPr>
              <a:t>Model Performance</a:t>
            </a:r>
            <a:r>
              <a:rPr lang="en-IN" b="1" dirty="0">
                <a:latin typeface="Calibri" panose="020F0502020204030204" pitchFamily="34" charset="0"/>
                <a:cs typeface="Calibri" panose="020F0502020204030204" pitchFamily="34" charset="0"/>
              </a:rPr>
              <a:t>:</a:t>
            </a:r>
            <a:endParaRPr lang="en-IN" dirty="0">
              <a:latin typeface="Calibri" panose="020F0502020204030204" pitchFamily="34" charset="0"/>
              <a:cs typeface="Calibri" panose="020F0502020204030204" pitchFamily="34" charset="0"/>
            </a:endParaRPr>
          </a:p>
          <a:p>
            <a:pPr marL="742950" lvl="1" indent="-285750">
              <a:spcBef>
                <a:spcPts val="300"/>
              </a:spcBef>
              <a:spcAft>
                <a:spcPts val="500"/>
              </a:spcAft>
              <a:buFont typeface="Wingdings" panose="05000000000000000000" pitchFamily="2" charset="2"/>
              <a:buChar char="§"/>
            </a:pPr>
            <a:r>
              <a:rPr lang="en-IN" b="1" dirty="0">
                <a:latin typeface="Calibri" panose="020F0502020204030204" pitchFamily="34" charset="0"/>
                <a:cs typeface="Calibri" panose="020F0502020204030204" pitchFamily="34" charset="0"/>
              </a:rPr>
              <a:t>SVM:</a:t>
            </a:r>
            <a:r>
              <a:rPr lang="en-IN" dirty="0">
                <a:latin typeface="Calibri" panose="020F0502020204030204" pitchFamily="34" charset="0"/>
                <a:cs typeface="Calibri" panose="020F0502020204030204" pitchFamily="34" charset="0"/>
              </a:rPr>
              <a:t> Highest accuracy (95.47%) &amp; F1-score (95.55%), AUC 0.9888 – excellent overall classification and strong discrimination ability.</a:t>
            </a:r>
          </a:p>
          <a:p>
            <a:pPr marL="742950" lvl="1" indent="-285750">
              <a:spcBef>
                <a:spcPts val="300"/>
              </a:spcBef>
              <a:spcAft>
                <a:spcPts val="500"/>
              </a:spcAft>
              <a:buFont typeface="Wingdings" panose="05000000000000000000" pitchFamily="2" charset="2"/>
              <a:buChar char="§"/>
            </a:pPr>
            <a:r>
              <a:rPr lang="en-IN" b="1" dirty="0">
                <a:latin typeface="Calibri" panose="020F0502020204030204" pitchFamily="34" charset="0"/>
                <a:cs typeface="Calibri" panose="020F0502020204030204" pitchFamily="34" charset="0"/>
              </a:rPr>
              <a:t>CNN:</a:t>
            </a:r>
            <a:r>
              <a:rPr lang="en-IN" dirty="0">
                <a:latin typeface="Calibri" panose="020F0502020204030204" pitchFamily="34" charset="0"/>
                <a:cs typeface="Calibri" panose="020F0502020204030204" pitchFamily="34" charset="0"/>
              </a:rPr>
              <a:t> Accuracy 88.33%, very high recall (94.41%), balanced precision &amp; F1-score – effective at detecting true positive cases, important for sensitive applications &amp; large datasets.</a:t>
            </a:r>
          </a:p>
          <a:p>
            <a:pPr marL="742950" lvl="1" indent="-285750">
              <a:spcBef>
                <a:spcPts val="300"/>
              </a:spcBef>
              <a:spcAft>
                <a:spcPts val="500"/>
              </a:spcAft>
              <a:buFont typeface="Wingdings" panose="05000000000000000000" pitchFamily="2" charset="2"/>
              <a:buChar char="§"/>
            </a:pPr>
            <a:r>
              <a:rPr lang="en-IN" b="1" dirty="0">
                <a:latin typeface="Calibri" panose="020F0502020204030204" pitchFamily="34" charset="0"/>
                <a:cs typeface="Calibri" panose="020F0502020204030204" pitchFamily="34" charset="0"/>
              </a:rPr>
              <a:t>PCA + Logistic Regression:</a:t>
            </a:r>
            <a:r>
              <a:rPr lang="en-IN" dirty="0">
                <a:latin typeface="Calibri" panose="020F0502020204030204" pitchFamily="34" charset="0"/>
                <a:cs typeface="Calibri" panose="020F0502020204030204" pitchFamily="34" charset="0"/>
              </a:rPr>
              <a:t> Accuracy 80.14%, extremely fast training (0.03 s) – suitable for rapid, lightweight implementations with limited computational resources.</a:t>
            </a:r>
            <a:endParaRPr lang="en-IN" sz="2000" dirty="0">
              <a:latin typeface="Calibri" panose="020F0502020204030204" pitchFamily="34" charset="0"/>
              <a:cs typeface="Calibri" panose="020F0502020204030204" pitchFamily="34" charset="0"/>
            </a:endParaRPr>
          </a:p>
          <a:p>
            <a:pPr>
              <a:spcBef>
                <a:spcPts val="300"/>
              </a:spcBef>
              <a:spcAft>
                <a:spcPts val="500"/>
              </a:spcAft>
            </a:pPr>
            <a:r>
              <a:rPr lang="en-IN" sz="2000" b="1" dirty="0">
                <a:latin typeface="Calibri" panose="020F0502020204030204" pitchFamily="34" charset="0"/>
                <a:cs typeface="Calibri" panose="020F0502020204030204" pitchFamily="34" charset="0"/>
              </a:rPr>
              <a:t>2. Trade-offs Observed:</a:t>
            </a:r>
            <a:endParaRPr lang="en-IN" sz="2000" dirty="0">
              <a:latin typeface="Calibri" panose="020F0502020204030204" pitchFamily="34" charset="0"/>
              <a:cs typeface="Calibri" panose="020F0502020204030204" pitchFamily="34" charset="0"/>
            </a:endParaRPr>
          </a:p>
          <a:p>
            <a:pPr marL="742950" lvl="1" indent="-285750">
              <a:spcBef>
                <a:spcPts val="300"/>
              </a:spcBef>
              <a:spcAft>
                <a:spcPts val="500"/>
              </a:spcAft>
              <a:buFont typeface="Courier New" panose="02070309020205020404" pitchFamily="49" charset="0"/>
              <a:buChar char="o"/>
            </a:pPr>
            <a:r>
              <a:rPr lang="en-IN" b="1" dirty="0">
                <a:latin typeface="Calibri" panose="020F0502020204030204" pitchFamily="34" charset="0"/>
                <a:cs typeface="Calibri" panose="020F0502020204030204" pitchFamily="34" charset="0"/>
              </a:rPr>
              <a:t>Accuracy vs. Training Time:</a:t>
            </a:r>
            <a:r>
              <a:rPr lang="en-IN" dirty="0">
                <a:latin typeface="Calibri" panose="020F0502020204030204" pitchFamily="34" charset="0"/>
                <a:cs typeface="Calibri" panose="020F0502020204030204" pitchFamily="34" charset="0"/>
              </a:rPr>
              <a:t> SVM gives maximum accuracy but takes longer (315 s); CNN offers a middle ground (178 s); PCA+Logistic is fastest but less accurate.</a:t>
            </a:r>
          </a:p>
          <a:p>
            <a:pPr marL="742950" lvl="1" indent="-285750">
              <a:spcBef>
                <a:spcPts val="300"/>
              </a:spcBef>
              <a:spcAft>
                <a:spcPts val="500"/>
              </a:spcAft>
              <a:buFont typeface="Courier New" panose="02070309020205020404" pitchFamily="49" charset="0"/>
              <a:buChar char="o"/>
            </a:pPr>
            <a:r>
              <a:rPr lang="en-IN" b="1" dirty="0">
                <a:latin typeface="Calibri" panose="020F0502020204030204" pitchFamily="34" charset="0"/>
                <a:cs typeface="Calibri" panose="020F0502020204030204" pitchFamily="34" charset="0"/>
              </a:rPr>
              <a:t>Precision vs. Recall:</a:t>
            </a:r>
            <a:r>
              <a:rPr lang="en-IN" dirty="0">
                <a:latin typeface="Calibri" panose="020F0502020204030204" pitchFamily="34" charset="0"/>
                <a:cs typeface="Calibri" panose="020F0502020204030204" pitchFamily="34" charset="0"/>
              </a:rPr>
              <a:t> CNN favours recall over precision (better positive detection), SVM maintains a strong balance.</a:t>
            </a:r>
          </a:p>
          <a:p>
            <a:pPr>
              <a:spcBef>
                <a:spcPts val="300"/>
              </a:spcBef>
              <a:spcAft>
                <a:spcPts val="500"/>
              </a:spcAft>
            </a:pPr>
            <a:r>
              <a:rPr lang="en-IN" sz="2000" b="1" dirty="0">
                <a:latin typeface="Calibri" panose="020F0502020204030204" pitchFamily="34" charset="0"/>
                <a:cs typeface="Calibri" panose="020F0502020204030204" pitchFamily="34" charset="0"/>
              </a:rPr>
              <a:t>3. Practical Implications:</a:t>
            </a:r>
            <a:endParaRPr lang="en-IN" sz="2000" dirty="0">
              <a:latin typeface="Calibri" panose="020F0502020204030204" pitchFamily="34" charset="0"/>
              <a:cs typeface="Calibri" panose="020F0502020204030204" pitchFamily="34" charset="0"/>
            </a:endParaRPr>
          </a:p>
          <a:p>
            <a:pPr>
              <a:spcBef>
                <a:spcPts val="300"/>
              </a:spcBef>
              <a:spcAft>
                <a:spcPts val="500"/>
              </a:spcAft>
              <a:tabLst>
                <a:tab pos="457200" algn="l"/>
              </a:tabLst>
            </a:pPr>
            <a:r>
              <a:rPr lang="en-IN" dirty="0">
                <a:latin typeface="Calibri" panose="020F0502020204030204" pitchFamily="34" charset="0"/>
                <a:cs typeface="Calibri" panose="020F0502020204030204" pitchFamily="34" charset="0"/>
              </a:rPr>
              <a:t>Depending on the application, model selection can prioritize either </a:t>
            </a:r>
            <a:r>
              <a:rPr lang="en-IN" b="1" dirty="0">
                <a:latin typeface="Calibri" panose="020F0502020204030204" pitchFamily="34" charset="0"/>
                <a:cs typeface="Calibri" panose="020F0502020204030204" pitchFamily="34" charset="0"/>
              </a:rPr>
              <a:t>speed or accuracy</a:t>
            </a:r>
            <a:r>
              <a:rPr lang="en-IN" dirty="0">
                <a:latin typeface="Calibri" panose="020F0502020204030204" pitchFamily="34" charset="0"/>
                <a:cs typeface="Calibri" panose="020F0502020204030204" pitchFamily="34" charset="0"/>
              </a:rPr>
              <a:t>. For real-time or resource-constrained systems, PCA + Logistic may be preferable. For maximum detection reliability, SVM is the best choice, and CNN offers a good middle ground.</a:t>
            </a:r>
          </a:p>
          <a:p>
            <a:pPr lvl="0">
              <a:spcAft>
                <a:spcPts val="300"/>
              </a:spcAft>
              <a:tabLst>
                <a:tab pos="457200" algn="l"/>
              </a:tabLst>
            </a:pPr>
            <a:endParaRPr lang="en-IN" dirty="0">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26596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6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99EAC7-C873-D563-8615-0BE70B12AC4C}"/>
              </a:ext>
            </a:extLst>
          </p:cNvPr>
          <p:cNvSpPr>
            <a:spLocks noGrp="1"/>
          </p:cNvSpPr>
          <p:nvPr>
            <p:ph type="sldNum" sz="quarter" idx="12"/>
          </p:nvPr>
        </p:nvSpPr>
        <p:spPr/>
        <p:txBody>
          <a:bodyPr/>
          <a:lstStyle/>
          <a:p>
            <a:fld id="{5BFCF61C-3B18-4C03-8326-CC3B32D710C9}" type="slidenum">
              <a:rPr lang="en-US" noProof="0" smtClean="0"/>
              <a:t>43</a:t>
            </a:fld>
            <a:endParaRPr lang="en-US" noProof="0"/>
          </a:p>
        </p:txBody>
      </p:sp>
      <p:sp>
        <p:nvSpPr>
          <p:cNvPr id="5" name="TextBox 4">
            <a:extLst>
              <a:ext uri="{FF2B5EF4-FFF2-40B4-BE49-F238E27FC236}">
                <a16:creationId xmlns:a16="http://schemas.microsoft.com/office/drawing/2014/main" id="{CEED7056-ED71-FC14-2DD9-1631B3095324}"/>
              </a:ext>
            </a:extLst>
          </p:cNvPr>
          <p:cNvSpPr txBox="1"/>
          <p:nvPr/>
        </p:nvSpPr>
        <p:spPr>
          <a:xfrm>
            <a:off x="3219450" y="2310080"/>
            <a:ext cx="6672942" cy="1323439"/>
          </a:xfrm>
          <a:prstGeom prst="rect">
            <a:avLst/>
          </a:prstGeom>
          <a:noFill/>
        </p:spPr>
        <p:txBody>
          <a:bodyPr wrap="square" rtlCol="0">
            <a:spAutoFit/>
          </a:bodyPr>
          <a:lstStyle/>
          <a:p>
            <a:r>
              <a:rPr lang="en-US" sz="8000" b="1" i="1" dirty="0">
                <a:latin typeface="Calibri" panose="020F0502020204030204" pitchFamily="34" charset="0"/>
                <a:cs typeface="Calibri" panose="020F0502020204030204" pitchFamily="34" charset="0"/>
              </a:rPr>
              <a:t>REFERENCES</a:t>
            </a:r>
            <a:endParaRPr lang="en-IN" sz="72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4150430"/>
      </p:ext>
    </p:extLst>
  </p:cSld>
  <p:clrMapOvr>
    <a:overrideClrMapping bg1="lt1" tx1="dk1" bg2="lt2" tx2="dk2" accent1="accent1" accent2="accent2" accent3="accent3" accent4="accent4" accent5="accent5" accent6="accent6" hlink="hlink" folHlink="folHlink"/>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3EED2AE-26D1-0AD1-38AF-6DC196ACF154}"/>
              </a:ext>
            </a:extLst>
          </p:cNvPr>
          <p:cNvSpPr>
            <a:spLocks noGrp="1"/>
          </p:cNvSpPr>
          <p:nvPr>
            <p:ph type="sldNum" sz="quarter" idx="12"/>
          </p:nvPr>
        </p:nvSpPr>
        <p:spPr>
          <a:xfrm>
            <a:off x="10122408" y="301752"/>
            <a:ext cx="1673352" cy="274320"/>
          </a:xfrm>
        </p:spPr>
        <p:txBody>
          <a:bodyPr/>
          <a:lstStyle/>
          <a:p>
            <a:fld id="{5BFCF61C-3B18-4C03-8326-CC3B32D710C9}" type="slidenum">
              <a:rPr lang="en-US" noProof="0" smtClean="0"/>
              <a:pPr/>
              <a:t>44</a:t>
            </a:fld>
            <a:endParaRPr lang="en-US" noProof="0"/>
          </a:p>
        </p:txBody>
      </p:sp>
      <p:sp>
        <p:nvSpPr>
          <p:cNvPr id="5" name="TextBox 4">
            <a:extLst>
              <a:ext uri="{FF2B5EF4-FFF2-40B4-BE49-F238E27FC236}">
                <a16:creationId xmlns:a16="http://schemas.microsoft.com/office/drawing/2014/main" id="{63C66B57-C15C-49CC-F265-08E39CE0B574}"/>
              </a:ext>
            </a:extLst>
          </p:cNvPr>
          <p:cNvSpPr txBox="1"/>
          <p:nvPr/>
        </p:nvSpPr>
        <p:spPr>
          <a:xfrm>
            <a:off x="167640" y="58846"/>
            <a:ext cx="12024360" cy="7540526"/>
          </a:xfrm>
          <a:prstGeom prst="rect">
            <a:avLst/>
          </a:prstGeom>
          <a:noFill/>
        </p:spPr>
        <p:txBody>
          <a:bodyPr wrap="square">
            <a:spAutoFit/>
          </a:bodyPr>
          <a:lstStyle/>
          <a:p>
            <a:pPr marL="342900" lvl="0" indent="-342900">
              <a:buFont typeface="+mj-lt"/>
              <a:buAutoNum type="arabicPeriod"/>
              <a:tabLst>
                <a:tab pos="4572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Goodfellow, I., Pouget-Abadie, J., Mirza, M., Xu, B., Warde-Farley, D., Ozair, S., Courville, A., &amp; Bengio, Y., “Generative Adversarial Nets,” </a:t>
            </a:r>
            <a:r>
              <a:rPr lang="en-IN" sz="1600" i="1" dirty="0">
                <a:effectLst/>
                <a:latin typeface="Calibri" panose="020F0502020204030204" pitchFamily="34" charset="0"/>
                <a:ea typeface="Times New Roman" panose="02020603050405020304" pitchFamily="18" charset="0"/>
                <a:cs typeface="Calibri" panose="020F0502020204030204" pitchFamily="34" charset="0"/>
              </a:rPr>
              <a:t>Advances in Neural Information Processing Systems (NeurIPS)</a:t>
            </a:r>
            <a:r>
              <a:rPr lang="en-IN" sz="1600" dirty="0">
                <a:effectLst/>
                <a:latin typeface="Calibri" panose="020F0502020204030204" pitchFamily="34" charset="0"/>
                <a:ea typeface="Times New Roman" panose="02020603050405020304" pitchFamily="18" charset="0"/>
                <a:cs typeface="Calibri" panose="020F0502020204030204" pitchFamily="34" charset="0"/>
              </a:rPr>
              <a:t>, 2014.</a:t>
            </a:r>
          </a:p>
          <a:p>
            <a:pPr marL="342900" lvl="0" indent="-342900">
              <a:buFont typeface="+mj-lt"/>
              <a:buAutoNum type="arabicPeriod"/>
              <a:tabLst>
                <a:tab pos="4572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Korshunov, P., &amp; Marcel, S., “DeepFakes: a New Threat to Face Recognition? Assessment and Detection,” </a:t>
            </a:r>
            <a:r>
              <a:rPr lang="en-IN" sz="1600" i="1" dirty="0">
                <a:effectLst/>
                <a:latin typeface="Calibri" panose="020F0502020204030204" pitchFamily="34" charset="0"/>
                <a:ea typeface="Times New Roman" panose="02020603050405020304" pitchFamily="18" charset="0"/>
                <a:cs typeface="Calibri" panose="020F0502020204030204" pitchFamily="34" charset="0"/>
              </a:rPr>
              <a:t>arXiv preprint arXiv:1812.08685</a:t>
            </a:r>
            <a:r>
              <a:rPr lang="en-IN" sz="1600" dirty="0">
                <a:effectLst/>
                <a:latin typeface="Calibri" panose="020F0502020204030204" pitchFamily="34" charset="0"/>
                <a:ea typeface="Times New Roman" panose="02020603050405020304" pitchFamily="18" charset="0"/>
                <a:cs typeface="Calibri" panose="020F0502020204030204" pitchFamily="34" charset="0"/>
              </a:rPr>
              <a:t>, 2018.</a:t>
            </a:r>
          </a:p>
          <a:p>
            <a:pPr marL="342900" lvl="0" indent="-342900">
              <a:buFont typeface="+mj-lt"/>
              <a:buAutoNum type="arabicPeriod"/>
              <a:tabLst>
                <a:tab pos="4572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Agarwal, S., Farid, H., Gu, Y., He, M., Nagano, K., &amp; Li, H., “Detecting Deep-Fake Videos from Appearance and Behavior,” </a:t>
            </a:r>
            <a:r>
              <a:rPr lang="en-IN" sz="1600" i="1" dirty="0">
                <a:effectLst/>
                <a:latin typeface="Calibri" panose="020F0502020204030204" pitchFamily="34" charset="0"/>
                <a:ea typeface="Times New Roman" panose="02020603050405020304" pitchFamily="18" charset="0"/>
                <a:cs typeface="Calibri" panose="020F0502020204030204" pitchFamily="34" charset="0"/>
              </a:rPr>
              <a:t>arXiv preprint arXiv:2004.02752</a:t>
            </a:r>
            <a:r>
              <a:rPr lang="en-IN" sz="1600" dirty="0">
                <a:effectLst/>
                <a:latin typeface="Calibri" panose="020F0502020204030204" pitchFamily="34" charset="0"/>
                <a:ea typeface="Times New Roman" panose="02020603050405020304" pitchFamily="18" charset="0"/>
                <a:cs typeface="Calibri" panose="020F0502020204030204" pitchFamily="34" charset="0"/>
              </a:rPr>
              <a:t>, 2020.</a:t>
            </a:r>
          </a:p>
          <a:p>
            <a:pPr marL="342900" lvl="0" indent="-342900">
              <a:buFont typeface="+mj-lt"/>
              <a:buAutoNum type="arabicPeriod"/>
              <a:tabLst>
                <a:tab pos="457200" algn="l"/>
              </a:tabLst>
            </a:pPr>
            <a:r>
              <a:rPr lang="en-IN" sz="1600" dirty="0">
                <a:effectLst/>
                <a:latin typeface="Calibri" panose="020F0502020204030204" pitchFamily="34" charset="0"/>
                <a:ea typeface="Times New Roman" panose="02020603050405020304" pitchFamily="18" charset="0"/>
                <a:cs typeface="Calibri" panose="020F0502020204030204" pitchFamily="34" charset="0"/>
              </a:rPr>
              <a:t>Afchar, D., Nozick, V., Yamagishi, J., &amp; Echizen, I., “MesoNet: a Compact Facial Video Forgery Detection Network,” </a:t>
            </a:r>
            <a:r>
              <a:rPr lang="en-IN" sz="1600" i="1" dirty="0">
                <a:effectLst/>
                <a:latin typeface="Calibri" panose="020F0502020204030204" pitchFamily="34" charset="0"/>
                <a:ea typeface="Times New Roman" panose="02020603050405020304" pitchFamily="18" charset="0"/>
                <a:cs typeface="Calibri" panose="020F0502020204030204" pitchFamily="34" charset="0"/>
              </a:rPr>
              <a:t>IEEE International Workshop on Information Forensics and Security (WIFS)</a:t>
            </a:r>
            <a:r>
              <a:rPr lang="en-IN" sz="1600" dirty="0">
                <a:effectLst/>
                <a:latin typeface="Calibri" panose="020F0502020204030204" pitchFamily="34" charset="0"/>
                <a:ea typeface="Times New Roman" panose="02020603050405020304" pitchFamily="18" charset="0"/>
                <a:cs typeface="Calibri" panose="020F0502020204030204" pitchFamily="34" charset="0"/>
              </a:rPr>
              <a:t>, 2018.</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Zhang, X., Zhang, Y., Li, L., &amp; Wu, X., “Detecting and Exposing DeepFake Videos by Analyzing Eye Blinking Patterns,” </a:t>
            </a:r>
            <a:r>
              <a:rPr lang="en-IN" sz="1600" i="1" dirty="0">
                <a:latin typeface="Calibri" panose="020F0502020204030204" pitchFamily="34" charset="0"/>
                <a:cs typeface="Calibri" panose="020F0502020204030204" pitchFamily="34" charset="0"/>
              </a:rPr>
              <a:t>IEEE International Conference on Multimedia &amp; Expo Workshops (ICMEW)</a:t>
            </a:r>
            <a:r>
              <a:rPr lang="en-IN" sz="1600" dirty="0">
                <a:latin typeface="Calibri" panose="020F0502020204030204" pitchFamily="34" charset="0"/>
                <a:cs typeface="Calibri" panose="020F0502020204030204" pitchFamily="34" charset="0"/>
              </a:rPr>
              <a:t>, 2019.</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Li, Y., Chang, M. C., &amp; Lyu, S., “In Ictu Oculi: Exposing AI Generated Fake Faces,” </a:t>
            </a:r>
            <a:r>
              <a:rPr lang="en-IN" sz="1600" i="1" dirty="0">
                <a:latin typeface="Calibri" panose="020F0502020204030204" pitchFamily="34" charset="0"/>
                <a:cs typeface="Calibri" panose="020F0502020204030204" pitchFamily="34" charset="0"/>
              </a:rPr>
              <a:t>arXiv preprint arXiv:1806.05677</a:t>
            </a:r>
            <a:r>
              <a:rPr lang="en-IN" sz="1600" dirty="0">
                <a:latin typeface="Calibri" panose="020F0502020204030204" pitchFamily="34" charset="0"/>
                <a:cs typeface="Calibri" panose="020F0502020204030204" pitchFamily="34" charset="0"/>
              </a:rPr>
              <a:t>, 2018.</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Nguyen, H. H., Yamagishi, J., &amp; Echizen, I., “Use of a Capsule Network to Detect Fake Images and Videos,” </a:t>
            </a:r>
            <a:r>
              <a:rPr lang="en-IN" sz="1600" i="1" dirty="0">
                <a:latin typeface="Calibri" panose="020F0502020204030204" pitchFamily="34" charset="0"/>
                <a:cs typeface="Calibri" panose="020F0502020204030204" pitchFamily="34" charset="0"/>
              </a:rPr>
              <a:t>arXiv preprint arXiv:1910.12467</a:t>
            </a:r>
            <a:r>
              <a:rPr lang="en-IN" sz="1600" dirty="0">
                <a:latin typeface="Calibri" panose="020F0502020204030204" pitchFamily="34" charset="0"/>
                <a:cs typeface="Calibri" panose="020F0502020204030204" pitchFamily="34" charset="0"/>
              </a:rPr>
              <a:t>, 2019.</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Korshunov, P., &amp; Marcel, S., “Detection of Video Face Manipulation Using Temporal and Spatial Features,” </a:t>
            </a:r>
            <a:r>
              <a:rPr lang="en-IN" sz="1600" i="1" dirty="0">
                <a:latin typeface="Calibri" panose="020F0502020204030204" pitchFamily="34" charset="0"/>
                <a:cs typeface="Calibri" panose="020F0502020204030204" pitchFamily="34" charset="0"/>
              </a:rPr>
              <a:t>IEEE Transactions on Information Forensics and Security</a:t>
            </a:r>
            <a:r>
              <a:rPr lang="en-IN" sz="1600" dirty="0">
                <a:latin typeface="Calibri" panose="020F0502020204030204" pitchFamily="34" charset="0"/>
                <a:cs typeface="Calibri" panose="020F0502020204030204" pitchFamily="34" charset="0"/>
              </a:rPr>
              <a:t>, 2019.</a:t>
            </a:r>
          </a:p>
          <a:p>
            <a:pPr marL="342900" indent="-342900">
              <a:buFont typeface="+mj-lt"/>
              <a:buAutoNum type="arabicPeriod"/>
            </a:pPr>
            <a:r>
              <a:rPr lang="en-IN" sz="1600" dirty="0">
                <a:latin typeface="Calibri" panose="020F0502020204030204" pitchFamily="34" charset="0"/>
                <a:cs typeface="Calibri" panose="020F0502020204030204" pitchFamily="34" charset="0"/>
              </a:rPr>
              <a:t>Afchar, D., Nozick, V., &amp; Echizen, I., “Deep Learning for DeepFakes Detection,” </a:t>
            </a:r>
            <a:r>
              <a:rPr lang="en-IN" sz="1600" i="1" dirty="0">
                <a:latin typeface="Calibri" panose="020F0502020204030204" pitchFamily="34" charset="0"/>
                <a:cs typeface="Calibri" panose="020F0502020204030204" pitchFamily="34" charset="0"/>
              </a:rPr>
              <a:t>IEEE International Conference on Acoustics, Speech, and Signal Processing (ICASSP)</a:t>
            </a:r>
            <a:r>
              <a:rPr lang="en-IN" sz="1600" dirty="0">
                <a:latin typeface="Calibri" panose="020F0502020204030204" pitchFamily="34" charset="0"/>
                <a:cs typeface="Calibri" panose="020F0502020204030204" pitchFamily="34" charset="0"/>
              </a:rPr>
              <a:t>, 2018.</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Jain, A. K., Ross, A., &amp; Nandakumar, K., </a:t>
            </a:r>
            <a:r>
              <a:rPr lang="en-IN" sz="1600" i="1" dirty="0">
                <a:latin typeface="Calibri" panose="020F0502020204030204" pitchFamily="34" charset="0"/>
                <a:cs typeface="Calibri" panose="020F0502020204030204" pitchFamily="34" charset="0"/>
              </a:rPr>
              <a:t>Introduction to Biometrics</a:t>
            </a:r>
            <a:r>
              <a:rPr lang="en-IN" sz="1600" dirty="0">
                <a:latin typeface="Calibri" panose="020F0502020204030204" pitchFamily="34" charset="0"/>
                <a:cs typeface="Calibri" panose="020F0502020204030204" pitchFamily="34" charset="0"/>
              </a:rPr>
              <a:t>, Springer, 2011.</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Cortes, C., &amp; Vapnik, V., “Support-Vector Networks,” </a:t>
            </a:r>
            <a:r>
              <a:rPr lang="en-IN" sz="1600" i="1" dirty="0">
                <a:latin typeface="Calibri" panose="020F0502020204030204" pitchFamily="34" charset="0"/>
                <a:cs typeface="Calibri" panose="020F0502020204030204" pitchFamily="34" charset="0"/>
              </a:rPr>
              <a:t>Machine Learning</a:t>
            </a:r>
            <a:r>
              <a:rPr lang="en-IN" sz="1600" dirty="0">
                <a:latin typeface="Calibri" panose="020F0502020204030204" pitchFamily="34" charset="0"/>
                <a:cs typeface="Calibri" panose="020F0502020204030204" pitchFamily="34" charset="0"/>
              </a:rPr>
              <a:t>, vol. 20, pp. 273–297, 1995.</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Bishop, C. M., </a:t>
            </a:r>
            <a:r>
              <a:rPr lang="en-IN" sz="1600" i="1" dirty="0">
                <a:latin typeface="Calibri" panose="020F0502020204030204" pitchFamily="34" charset="0"/>
                <a:cs typeface="Calibri" panose="020F0502020204030204" pitchFamily="34" charset="0"/>
              </a:rPr>
              <a:t>Pattern Recognition and Machine Learning</a:t>
            </a:r>
            <a:r>
              <a:rPr lang="en-IN" sz="1600" dirty="0">
                <a:latin typeface="Calibri" panose="020F0502020204030204" pitchFamily="34" charset="0"/>
                <a:cs typeface="Calibri" panose="020F0502020204030204" pitchFamily="34" charset="0"/>
              </a:rPr>
              <a:t>, Springer, 2006.</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He, K., Zhang, X., Ren, S., &amp; Sun, J., “Deep Residual Learning for Image Recognition,” </a:t>
            </a:r>
            <a:r>
              <a:rPr lang="en-IN" sz="1600" i="1" dirty="0">
                <a:latin typeface="Calibri" panose="020F0502020204030204" pitchFamily="34" charset="0"/>
                <a:cs typeface="Calibri" panose="020F0502020204030204" pitchFamily="34" charset="0"/>
              </a:rPr>
              <a:t>IEEE Conference on Computer Vision and Pattern Recognition (CVPR)</a:t>
            </a:r>
            <a:r>
              <a:rPr lang="en-IN" sz="1600" dirty="0">
                <a:latin typeface="Calibri" panose="020F0502020204030204" pitchFamily="34" charset="0"/>
                <a:cs typeface="Calibri" panose="020F0502020204030204" pitchFamily="34" charset="0"/>
              </a:rPr>
              <a:t>, 2016.</a:t>
            </a:r>
          </a:p>
          <a:p>
            <a:pPr marL="342900" lvl="0" indent="-342900">
              <a:buFont typeface="+mj-lt"/>
              <a:buAutoNum type="arabicPeriod"/>
            </a:pPr>
            <a:r>
              <a:rPr lang="en-US" altLang="en-US" sz="1600" dirty="0">
                <a:latin typeface="Calibri" panose="020F0502020204030204" pitchFamily="34" charset="0"/>
                <a:cs typeface="Calibri" panose="020F0502020204030204" pitchFamily="34" charset="0"/>
              </a:rPr>
              <a:t>Saikia, P., Dholaria, D., Yadav, P., Patel, V., &amp; Roy, M. (2022). </a:t>
            </a:r>
            <a:r>
              <a:rPr lang="en-US" altLang="en-US" sz="1600" i="1" dirty="0">
                <a:latin typeface="Calibri" panose="020F0502020204030204" pitchFamily="34" charset="0"/>
                <a:cs typeface="Calibri" panose="020F0502020204030204" pitchFamily="34" charset="0"/>
              </a:rPr>
              <a:t>A Hybrid CNN-LSTM Model for Video Deepfake Detection by Leveraging Optical Flow Features</a:t>
            </a:r>
            <a:r>
              <a:rPr lang="en-US" altLang="en-US" sz="1600" dirty="0">
                <a:latin typeface="Calibri" panose="020F0502020204030204" pitchFamily="34" charset="0"/>
                <a:cs typeface="Calibri" panose="020F0502020204030204" pitchFamily="34" charset="0"/>
              </a:rPr>
              <a:t>. arXiv preprint arXiv:2208.00788.</a:t>
            </a:r>
          </a:p>
          <a:p>
            <a:pPr marL="342900" lvl="0" indent="-342900">
              <a:buFont typeface="+mj-lt"/>
              <a:buAutoNum type="arabicPeriod"/>
            </a:pPr>
            <a:r>
              <a:rPr lang="en-US" sz="1600" dirty="0">
                <a:latin typeface="Calibri" panose="020F0502020204030204" pitchFamily="34" charset="0"/>
                <a:cs typeface="Calibri" panose="020F0502020204030204" pitchFamily="34" charset="0"/>
              </a:rPr>
              <a:t>Nagarhalli, T. P., Save, A., Patil, S., &amp; Aswalekar, U. (2024). </a:t>
            </a:r>
            <a:r>
              <a:rPr lang="en-US" sz="1600" i="1" dirty="0">
                <a:latin typeface="Calibri" panose="020F0502020204030204" pitchFamily="34" charset="0"/>
                <a:cs typeface="Calibri" panose="020F0502020204030204" pitchFamily="34" charset="0"/>
              </a:rPr>
              <a:t>A Comprehensive Review of Deepfake and its Detection Techniques</a:t>
            </a:r>
            <a:r>
              <a:rPr lang="en-US" sz="1600" dirty="0">
                <a:latin typeface="Calibri" panose="020F0502020204030204" pitchFamily="34" charset="0"/>
                <a:cs typeface="Calibri" panose="020F0502020204030204" pitchFamily="34" charset="0"/>
              </a:rPr>
              <a:t>.</a:t>
            </a:r>
          </a:p>
          <a:p>
            <a:pPr marL="342900" lvl="0" indent="-342900">
              <a:buFont typeface="+mj-lt"/>
              <a:buAutoNum type="arabicPeriod"/>
            </a:pPr>
            <a:r>
              <a:rPr lang="en-IN" sz="1600" dirty="0">
                <a:latin typeface="Calibri" panose="020F0502020204030204" pitchFamily="34" charset="0"/>
                <a:cs typeface="Calibri" panose="020F0502020204030204" pitchFamily="34" charset="0"/>
              </a:rPr>
              <a:t>Rossler, A., Cozzolino, D., Verdoliva, L., Riess, C., Thies, J., &amp; Nießner, M. (2019). </a:t>
            </a:r>
            <a:r>
              <a:rPr lang="en-IN" sz="1600" i="1" dirty="0">
                <a:latin typeface="Calibri" panose="020F0502020204030204" pitchFamily="34" charset="0"/>
                <a:cs typeface="Calibri" panose="020F0502020204030204" pitchFamily="34" charset="0"/>
              </a:rPr>
              <a:t>FaceForensics++: Learning to detect manipulated facial images</a:t>
            </a:r>
            <a:r>
              <a:rPr lang="en-IN" sz="1600" dirty="0">
                <a:latin typeface="Calibri" panose="020F0502020204030204" pitchFamily="34" charset="0"/>
                <a:cs typeface="Calibri" panose="020F0502020204030204" pitchFamily="34" charset="0"/>
              </a:rPr>
              <a:t>. In Proceedings of the IEEE/CVF International Conference on Computer Vision (ICCV), 1–11.</a:t>
            </a:r>
            <a:r>
              <a:rPr lang="en-US" sz="1600" dirty="0">
                <a:latin typeface="Calibri" panose="020F0502020204030204" pitchFamily="34" charset="0"/>
                <a:cs typeface="Calibri" panose="020F0502020204030204" pitchFamily="34" charset="0"/>
              </a:rPr>
              <a:t> </a:t>
            </a:r>
            <a:endParaRPr lang="en-US" altLang="en-US" sz="1600" dirty="0">
              <a:latin typeface="Calibri" panose="020F0502020204030204" pitchFamily="34" charset="0"/>
              <a:cs typeface="Calibri" panose="020F0502020204030204" pitchFamily="34" charset="0"/>
            </a:endParaRPr>
          </a:p>
          <a:p>
            <a:pPr marL="342900" lvl="0" indent="-342900">
              <a:buFont typeface="+mj-lt"/>
              <a:buAutoNum type="arabicPeriod"/>
            </a:pPr>
            <a:endParaRPr lang="en-IN" sz="1600" dirty="0">
              <a:latin typeface="Calibri" panose="020F0502020204030204" pitchFamily="34" charset="0"/>
              <a:cs typeface="Calibri" panose="020F0502020204030204" pitchFamily="34" charset="0"/>
            </a:endParaRPr>
          </a:p>
          <a:p>
            <a:pPr marL="342900" lvl="0" indent="-342900">
              <a:buFont typeface="+mj-lt"/>
              <a:buAutoNum type="arabicPeriod"/>
            </a:pPr>
            <a:endParaRPr lang="en-IN" sz="1600" dirty="0">
              <a:latin typeface="Calibri" panose="020F0502020204030204" pitchFamily="34" charset="0"/>
              <a:cs typeface="Calibri" panose="020F0502020204030204" pitchFamily="34" charset="0"/>
            </a:endParaRPr>
          </a:p>
          <a:p>
            <a:pPr marL="342900" lvl="0" indent="-342900">
              <a:buFont typeface="+mj-lt"/>
              <a:buAutoNum type="arabicPeriod"/>
              <a:tabLst>
                <a:tab pos="457200" algn="l"/>
              </a:tabLst>
            </a:pPr>
            <a:endParaRPr lang="en-IN" sz="1600" dirty="0">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267409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6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34956C-8259-E0A2-3019-C351661FCA7A}"/>
              </a:ext>
            </a:extLst>
          </p:cNvPr>
          <p:cNvSpPr>
            <a:spLocks noGrp="1"/>
          </p:cNvSpPr>
          <p:nvPr>
            <p:ph type="sldNum" sz="quarter" idx="12"/>
          </p:nvPr>
        </p:nvSpPr>
        <p:spPr/>
        <p:txBody>
          <a:bodyPr/>
          <a:lstStyle/>
          <a:p>
            <a:fld id="{5BFCF61C-3B18-4C03-8326-CC3B32D710C9}" type="slidenum">
              <a:rPr lang="en-US" noProof="0" smtClean="0"/>
              <a:t>45</a:t>
            </a:fld>
            <a:endParaRPr lang="en-US" noProof="0"/>
          </a:p>
        </p:txBody>
      </p:sp>
      <p:sp>
        <p:nvSpPr>
          <p:cNvPr id="4" name="TextBox 3">
            <a:extLst>
              <a:ext uri="{FF2B5EF4-FFF2-40B4-BE49-F238E27FC236}">
                <a16:creationId xmlns:a16="http://schemas.microsoft.com/office/drawing/2014/main" id="{C98E5D04-424B-CC91-D98D-3EA808D68397}"/>
              </a:ext>
            </a:extLst>
          </p:cNvPr>
          <p:cNvSpPr txBox="1"/>
          <p:nvPr/>
        </p:nvSpPr>
        <p:spPr>
          <a:xfrm>
            <a:off x="869430" y="1648918"/>
            <a:ext cx="10178321" cy="2308324"/>
          </a:xfrm>
          <a:prstGeom prst="rect">
            <a:avLst/>
          </a:prstGeom>
          <a:noFill/>
        </p:spPr>
        <p:txBody>
          <a:bodyPr wrap="square" rtlCol="0">
            <a:spAutoFit/>
          </a:bodyPr>
          <a:lstStyle/>
          <a:p>
            <a:r>
              <a:rPr lang="en-US" sz="7200" b="1" i="1" dirty="0">
                <a:latin typeface="Calibri" panose="020F0502020204030204" pitchFamily="34" charset="0"/>
                <a:cs typeface="Calibri" panose="020F0502020204030204" pitchFamily="34" charset="0"/>
              </a:rPr>
              <a:t>A Quick Demo to User Interface</a:t>
            </a:r>
            <a:endParaRPr lang="en-IN" sz="7200" b="1" i="1" dirty="0">
              <a:latin typeface="Calibri" panose="020F0502020204030204" pitchFamily="34" charset="0"/>
              <a:cs typeface="Calibri" panose="020F0502020204030204" pitchFamily="34" charset="0"/>
            </a:endParaRPr>
          </a:p>
        </p:txBody>
      </p:sp>
      <p:pic>
        <p:nvPicPr>
          <p:cNvPr id="6" name="Graphic 5" descr="Right pointing backhand index with solid fill">
            <a:extLst>
              <a:ext uri="{FF2B5EF4-FFF2-40B4-BE49-F238E27FC236}">
                <a16:creationId xmlns:a16="http://schemas.microsoft.com/office/drawing/2014/main" id="{995787C0-6390-3807-033C-4968F7136D8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24846929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anim calcmode="lin" valueType="num">
                                      <p:cBhvr>
                                        <p:cTn id="26" dur="1000" fill="hold"/>
                                        <p:tgtEl>
                                          <p:spTgt spid="6"/>
                                        </p:tgtEl>
                                        <p:attrNameLst>
                                          <p:attrName>ppt_x</p:attrName>
                                        </p:attrNameLst>
                                      </p:cBhvr>
                                      <p:tavLst>
                                        <p:tav tm="0">
                                          <p:val>
                                            <p:strVal val="#ppt_x"/>
                                          </p:val>
                                        </p:tav>
                                        <p:tav tm="100000">
                                          <p:val>
                                            <p:strVal val="#ppt_x"/>
                                          </p:val>
                                        </p:tav>
                                      </p:tavLst>
                                    </p:anim>
                                    <p:anim calcmode="lin" valueType="num">
                                      <p:cBhvr>
                                        <p:cTn id="2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4AE1-C6FD-2EFB-79A7-7C9A6C853EF8}"/>
              </a:ext>
            </a:extLst>
          </p:cNvPr>
          <p:cNvSpPr>
            <a:spLocks noGrp="1"/>
          </p:cNvSpPr>
          <p:nvPr>
            <p:ph type="title"/>
          </p:nvPr>
        </p:nvSpPr>
        <p:spPr/>
        <p:txBody>
          <a:bodyPr/>
          <a:lstStyle/>
          <a:p>
            <a:r>
              <a:rPr lang="en-US" sz="8800" b="1" dirty="0"/>
              <a:t>Thank</a:t>
            </a:r>
            <a:br>
              <a:rPr lang="en-US" sz="8800" b="1" dirty="0"/>
            </a:br>
            <a:r>
              <a:rPr lang="en-US" sz="8800" b="1" dirty="0"/>
              <a:t>You</a:t>
            </a:r>
          </a:p>
        </p:txBody>
      </p:sp>
      <p:sp>
        <p:nvSpPr>
          <p:cNvPr id="3" name="Text Placeholder 2">
            <a:extLst>
              <a:ext uri="{FF2B5EF4-FFF2-40B4-BE49-F238E27FC236}">
                <a16:creationId xmlns:a16="http://schemas.microsoft.com/office/drawing/2014/main" id="{33FB47C1-128E-60DF-5281-30C3EFCAB395}"/>
              </a:ext>
            </a:extLst>
          </p:cNvPr>
          <p:cNvSpPr>
            <a:spLocks noGrp="1"/>
          </p:cNvSpPr>
          <p:nvPr>
            <p:ph type="body" sz="quarter" idx="10"/>
          </p:nvPr>
        </p:nvSpPr>
        <p:spPr>
          <a:xfrm>
            <a:off x="4437495" y="3728721"/>
            <a:ext cx="4754880" cy="2057400"/>
          </a:xfrm>
        </p:spPr>
        <p:txBody>
          <a:bodyPr/>
          <a:lstStyle/>
          <a:p>
            <a:r>
              <a:rPr lang="en-US" dirty="0"/>
              <a:t>Presented by:-</a:t>
            </a:r>
          </a:p>
          <a:p>
            <a:r>
              <a:rPr lang="en-US" dirty="0"/>
              <a:t>Disha .R. Sojrani</a:t>
            </a:r>
          </a:p>
        </p:txBody>
      </p:sp>
    </p:spTree>
    <p:extLst>
      <p:ext uri="{BB962C8B-B14F-4D97-AF65-F5344CB8AC3E}">
        <p14:creationId xmlns:p14="http://schemas.microsoft.com/office/powerpoint/2010/main" val="2262363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ppt/theme/themeOverride2.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ppt/theme/themeOverride3.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ppt/theme/themeOverride4.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ppt/theme/themeOverride5.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2.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3.xml><?xml version="1.0" encoding="utf-8"?>
<ds:datastoreItem xmlns:ds="http://schemas.openxmlformats.org/officeDocument/2006/customXml" ds:itemID="{411F98F7-6576-47F1-AD63-56E26C339747}">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1480</TotalTime>
  <Words>6252</Words>
  <Application>Microsoft Office PowerPoint</Application>
  <PresentationFormat>Widescreen</PresentationFormat>
  <Paragraphs>516</Paragraphs>
  <Slides>46</Slides>
  <Notes>8</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Statistical detection of deepfake videos and images</vt:lpstr>
      <vt:lpstr>content</vt:lpstr>
      <vt:lpstr>introduction </vt:lpstr>
      <vt:lpstr>Primary goals</vt:lpstr>
      <vt:lpstr>PowerPoint Presentation</vt:lpstr>
      <vt:lpstr>dataset </vt:lpstr>
      <vt:lpstr>PowerPoint Presentation</vt:lpstr>
      <vt:lpstr>PowerPoint Presentation</vt:lpstr>
      <vt:lpstr>PowerPoint Presentation</vt:lpstr>
      <vt:lpstr>Algorithm Steps </vt:lpstr>
      <vt:lpstr>Algorithm Steps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analysis (common steps for all models)</vt:lpstr>
      <vt:lpstr>CNN:-Convolutional neural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Performance Comparison </vt:lpstr>
      <vt:lpstr>PowerPoint Presentation</vt:lpstr>
      <vt:lpstr>PowerPoint Presentation</vt:lpstr>
      <vt:lpstr>PowerPoint Presentation</vt:lpstr>
      <vt:lpstr>PowerPoint Presentation</vt:lpstr>
      <vt:lpstr>key Findings &amp; Results</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DISHA SOJRANI</dc:creator>
  <cp:lastModifiedBy>DISHA SOJRANI</cp:lastModifiedBy>
  <cp:revision>19</cp:revision>
  <dcterms:created xsi:type="dcterms:W3CDTF">2025-08-31T14:22:39Z</dcterms:created>
  <dcterms:modified xsi:type="dcterms:W3CDTF">2025-10-16T06:14:13Z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