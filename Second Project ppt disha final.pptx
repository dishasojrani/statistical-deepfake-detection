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5" Type="http://schemas.microsoft.com/office/2020/02/relationships/classificationlabels" Target="docMetadata/LabelInfo.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handoutMasterIdLst>
    <p:handoutMasterId r:id="rId35"/>
  </p:handoutMasterIdLst>
  <p:sldIdLst>
    <p:sldId id="273" r:id="rId5"/>
    <p:sldId id="275" r:id="rId6"/>
    <p:sldId id="280" r:id="rId7"/>
    <p:sldId id="277" r:id="rId8"/>
    <p:sldId id="281" r:id="rId9"/>
    <p:sldId id="293" r:id="rId10"/>
    <p:sldId id="284" r:id="rId11"/>
    <p:sldId id="291" r:id="rId12"/>
    <p:sldId id="294" r:id="rId13"/>
    <p:sldId id="283" r:id="rId14"/>
    <p:sldId id="308" r:id="rId15"/>
    <p:sldId id="279" r:id="rId16"/>
    <p:sldId id="286" r:id="rId17"/>
    <p:sldId id="296" r:id="rId18"/>
    <p:sldId id="297" r:id="rId19"/>
    <p:sldId id="298" r:id="rId20"/>
    <p:sldId id="302" r:id="rId21"/>
    <p:sldId id="299" r:id="rId22"/>
    <p:sldId id="303" r:id="rId23"/>
    <p:sldId id="307" r:id="rId24"/>
    <p:sldId id="300" r:id="rId25"/>
    <p:sldId id="304" r:id="rId26"/>
    <p:sldId id="305" r:id="rId27"/>
    <p:sldId id="306" r:id="rId28"/>
    <p:sldId id="301" r:id="rId29"/>
    <p:sldId id="288" r:id="rId30"/>
    <p:sldId id="290" r:id="rId31"/>
    <p:sldId id="289" r:id="rId32"/>
    <p:sldId id="274" r:id="rId33"/>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224" userDrawn="1">
          <p15:clr>
            <a:srgbClr val="A4A3A4"/>
          </p15:clr>
        </p15:guide>
        <p15:guide id="3" pos="7368" userDrawn="1">
          <p15:clr>
            <a:srgbClr val="A4A3A4"/>
          </p15:clr>
        </p15:guide>
        <p15:guide id="4" pos="312" userDrawn="1">
          <p15:clr>
            <a:srgbClr val="A4A3A4"/>
          </p15:clr>
        </p15:guide>
        <p15:guide id="6" orient="horz" pos="2856" userDrawn="1">
          <p15:clr>
            <a:srgbClr val="A4A3A4"/>
          </p15:clr>
        </p15:guide>
        <p15:guide id="7" pos="5928" userDrawn="1">
          <p15:clr>
            <a:srgbClr val="A4A3A4"/>
          </p15:clr>
        </p15:guide>
        <p15:guide id="8" pos="6168" userDrawn="1">
          <p15:clr>
            <a:srgbClr val="A4A3A4"/>
          </p15:clr>
        </p15:guide>
        <p15:guide id="9" pos="1512" userDrawn="1">
          <p15:clr>
            <a:srgbClr val="A4A3A4"/>
          </p15:clr>
        </p15:guide>
        <p15:guide id="10" orient="horz" pos="264" userDrawn="1">
          <p15:clr>
            <a:srgbClr val="A4A3A4"/>
          </p15:clr>
        </p15:guide>
        <p15:guide id="11" pos="2496" userDrawn="1">
          <p15:clr>
            <a:srgbClr val="A4A3A4"/>
          </p15:clr>
        </p15:guide>
        <p15:guide id="12" pos="2688" userDrawn="1">
          <p15:clr>
            <a:srgbClr val="A4A3A4"/>
          </p15:clr>
        </p15:guide>
        <p15:guide id="13" pos="4536" userDrawn="1">
          <p15:clr>
            <a:srgbClr val="A4A3A4"/>
          </p15:clr>
        </p15:guide>
        <p15:guide id="14" pos="4008" userDrawn="1">
          <p15:clr>
            <a:srgbClr val="A4A3A4"/>
          </p15:clr>
        </p15:guide>
        <p15:guide id="15" pos="4944" userDrawn="1">
          <p15:clr>
            <a:srgbClr val="A4A3A4"/>
          </p15:clr>
        </p15:guide>
        <p15:guide id="16" pos="5136" userDrawn="1">
          <p15:clr>
            <a:srgbClr val="A4A3A4"/>
          </p15:clr>
        </p15:guide>
        <p15:guide id="17" orient="horz" pos="1584" userDrawn="1">
          <p15:clr>
            <a:srgbClr val="A4A3A4"/>
          </p15:clr>
        </p15:guide>
        <p15:guide id="18" orient="horz" pos="2736" userDrawn="1">
          <p15:clr>
            <a:srgbClr val="A4A3A4"/>
          </p15:clr>
        </p15:guide>
        <p15:guide id="19" orient="horz" pos="3648" userDrawn="1">
          <p15:clr>
            <a:srgbClr val="A4A3A4"/>
          </p15:clr>
        </p15:guide>
        <p15:guide id="20" orient="horz" pos="864" userDrawn="1">
          <p15:clr>
            <a:srgbClr val="A4A3A4"/>
          </p15:clr>
        </p15:guide>
        <p15:guide id="21" orient="horz" pos="3984" userDrawn="1">
          <p15:clr>
            <a:srgbClr val="A4A3A4"/>
          </p15:clr>
        </p15:guide>
        <p15:guide id="22" pos="456" userDrawn="1">
          <p15:clr>
            <a:srgbClr val="A4A3A4"/>
          </p15:clr>
        </p15:guide>
        <p15:guide id="23" pos="7248" userDrawn="1">
          <p15:clr>
            <a:srgbClr val="A4A3A4"/>
          </p15:clr>
        </p15:guide>
        <p15:guide id="24" orient="horz" pos="1920" userDrawn="1">
          <p15:clr>
            <a:srgbClr val="A4A3A4"/>
          </p15:clr>
        </p15:guide>
        <p15:guide id="25" orient="horz" pos="2256" userDrawn="1">
          <p15:clr>
            <a:srgbClr val="A4A3A4"/>
          </p15:clr>
        </p15:guide>
        <p15:guide id="26" pos="7176" userDrawn="1">
          <p15:clr>
            <a:srgbClr val="A4A3A4"/>
          </p15:clr>
        </p15:guide>
        <p15:guide id="27" orient="horz" pos="1704" userDrawn="1">
          <p15:clr>
            <a:srgbClr val="A4A3A4"/>
          </p15:clr>
        </p15:guide>
        <p15:guide id="28" pos="4176" userDrawn="1">
          <p15:clr>
            <a:srgbClr val="A4A3A4"/>
          </p15:clr>
        </p15:guide>
        <p15:guide id="29" orient="horz" pos="2592" userDrawn="1">
          <p15:clr>
            <a:srgbClr val="A4A3A4"/>
          </p15:clr>
        </p15:guide>
        <p15:guide id="30" pos="6912" userDrawn="1">
          <p15:clr>
            <a:srgbClr val="A4A3A4"/>
          </p15:clr>
        </p15:guide>
        <p15:guide id="31" pos="355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96F4"/>
    <a:srgbClr val="D8BEB2"/>
    <a:srgbClr val="5E3324"/>
    <a:srgbClr val="988E0A"/>
    <a:srgbClr val="198986"/>
    <a:srgbClr val="753F2D"/>
    <a:srgbClr val="8A4C34"/>
    <a:srgbClr val="815550"/>
    <a:srgbClr val="A3573E"/>
    <a:srgbClr val="E7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82"/>
    <p:restoredTop sz="96327"/>
  </p:normalViewPr>
  <p:slideViewPr>
    <p:cSldViewPr snapToGrid="0">
      <p:cViewPr varScale="1">
        <p:scale>
          <a:sx n="106" d="100"/>
          <a:sy n="106" d="100"/>
        </p:scale>
        <p:origin x="690" y="114"/>
      </p:cViewPr>
      <p:guideLst>
        <p:guide orient="horz" pos="1224"/>
        <p:guide pos="7368"/>
        <p:guide pos="312"/>
        <p:guide orient="horz" pos="2856"/>
        <p:guide pos="5928"/>
        <p:guide pos="6168"/>
        <p:guide pos="1512"/>
        <p:guide orient="horz" pos="264"/>
        <p:guide pos="2496"/>
        <p:guide pos="2688"/>
        <p:guide pos="4536"/>
        <p:guide pos="4008"/>
        <p:guide pos="4944"/>
        <p:guide pos="5136"/>
        <p:guide orient="horz" pos="1584"/>
        <p:guide orient="horz" pos="2736"/>
        <p:guide orient="horz" pos="3648"/>
        <p:guide orient="horz" pos="864"/>
        <p:guide orient="horz" pos="3984"/>
        <p:guide pos="456"/>
        <p:guide pos="7248"/>
        <p:guide orient="horz" pos="1920"/>
        <p:guide orient="horz" pos="2256"/>
        <p:guide pos="7176"/>
        <p:guide orient="horz" pos="1704"/>
        <p:guide pos="4176"/>
        <p:guide orient="horz" pos="2592"/>
        <p:guide pos="6912"/>
        <p:guide pos="3552"/>
      </p:guideLst>
    </p:cSldViewPr>
  </p:slideViewPr>
  <p:notesTextViewPr>
    <p:cViewPr>
      <p:scale>
        <a:sx n="1" d="1"/>
        <a:sy n="1" d="1"/>
      </p:scale>
      <p:origin x="0" y="0"/>
    </p:cViewPr>
  </p:notesText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slide" Target="slides/slide14.xml" /><Relationship Id="rId26" Type="http://schemas.openxmlformats.org/officeDocument/2006/relationships/slide" Target="slides/slide22.xml" /><Relationship Id="rId39" Type="http://schemas.openxmlformats.org/officeDocument/2006/relationships/tableStyles" Target="tableStyles.xml" /><Relationship Id="rId3" Type="http://schemas.openxmlformats.org/officeDocument/2006/relationships/customXml" Target="../customXml/item3.xml" /><Relationship Id="rId21" Type="http://schemas.openxmlformats.org/officeDocument/2006/relationships/slide" Target="slides/slide17.xml" /><Relationship Id="rId34" Type="http://schemas.openxmlformats.org/officeDocument/2006/relationships/notesMaster" Target="notesMasters/notesMaster1.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5" Type="http://schemas.openxmlformats.org/officeDocument/2006/relationships/slide" Target="slides/slide21.xml" /><Relationship Id="rId33" Type="http://schemas.openxmlformats.org/officeDocument/2006/relationships/slide" Target="slides/slide29.xml" /><Relationship Id="rId38" Type="http://schemas.openxmlformats.org/officeDocument/2006/relationships/theme" Target="theme/theme1.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slide" Target="slides/slide16.xml" /><Relationship Id="rId29" Type="http://schemas.openxmlformats.org/officeDocument/2006/relationships/slide" Target="slides/slide25.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24" Type="http://schemas.openxmlformats.org/officeDocument/2006/relationships/slide" Target="slides/slide20.xml" /><Relationship Id="rId32" Type="http://schemas.openxmlformats.org/officeDocument/2006/relationships/slide" Target="slides/slide28.xml" /><Relationship Id="rId37" Type="http://schemas.openxmlformats.org/officeDocument/2006/relationships/viewProps" Target="viewProps.xml" /><Relationship Id="rId40" Type="http://schemas.microsoft.com/office/2018/10/relationships/authors" Target="authors.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slide" Target="slides/slide19.xml" /><Relationship Id="rId28" Type="http://schemas.openxmlformats.org/officeDocument/2006/relationships/slide" Target="slides/slide24.xml" /><Relationship Id="rId36" Type="http://schemas.openxmlformats.org/officeDocument/2006/relationships/presProps" Target="presProps.xml" /><Relationship Id="rId10" Type="http://schemas.openxmlformats.org/officeDocument/2006/relationships/slide" Target="slides/slide6.xml" /><Relationship Id="rId19" Type="http://schemas.openxmlformats.org/officeDocument/2006/relationships/slide" Target="slides/slide15.xml" /><Relationship Id="rId31" Type="http://schemas.openxmlformats.org/officeDocument/2006/relationships/slide" Target="slides/slide27.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slide" Target="slides/slide18.xml" /><Relationship Id="rId27" Type="http://schemas.openxmlformats.org/officeDocument/2006/relationships/slide" Target="slides/slide23.xml" /><Relationship Id="rId30" Type="http://schemas.openxmlformats.org/officeDocument/2006/relationships/slide" Target="slides/slide26.xml" /><Relationship Id="rId35" Type="http://schemas.openxmlformats.org/officeDocument/2006/relationships/handoutMaster" Target="handoutMasters/handoutMaster1.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B30D67-EB7C-4323-A6AB-20071C4FCC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B26DD94-0E47-FE33-5C0F-9E497B99BE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433F7E-3633-4FA3-974D-CA21FB24834F}" type="datetimeFigureOut">
              <a:rPr lang="en-US" smtClean="0"/>
              <a:t>10/14/2025</a:t>
            </a:fld>
            <a:endParaRPr lang="en-US"/>
          </a:p>
        </p:txBody>
      </p:sp>
      <p:sp>
        <p:nvSpPr>
          <p:cNvPr id="4" name="Footer Placeholder 3">
            <a:extLst>
              <a:ext uri="{FF2B5EF4-FFF2-40B4-BE49-F238E27FC236}">
                <a16:creationId xmlns:a16="http://schemas.microsoft.com/office/drawing/2014/main" id="{B9636FF0-1B83-FCD7-197D-6F6CBEA8F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AA88305-7C09-5A95-A84B-C7CEA8D00F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482836-E43C-41FF-A11B-3D8AB6E68FC7}" type="slidenum">
              <a:rPr lang="en-US" smtClean="0"/>
              <a:t>‹#›</a:t>
            </a:fld>
            <a:endParaRPr lang="en-US"/>
          </a:p>
        </p:txBody>
      </p:sp>
    </p:spTree>
    <p:extLst>
      <p:ext uri="{BB962C8B-B14F-4D97-AF65-F5344CB8AC3E}">
        <p14:creationId xmlns:p14="http://schemas.microsoft.com/office/powerpoint/2010/main" val="38009817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5F7B4-7442-4021-9F1E-8BC3C363C892}" type="datetimeFigureOut">
              <a:rPr lang="en-US" noProof="0" smtClean="0"/>
              <a:t>10/14/2025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CDE012-9E2E-4477-8B5C-4E7D4E9BCBA6}" type="slidenum">
              <a:rPr lang="en-US" noProof="0" smtClean="0"/>
              <a:t>‹#›</a:t>
            </a:fld>
            <a:endParaRPr lang="en-US" noProof="0" dirty="0"/>
          </a:p>
        </p:txBody>
      </p:sp>
    </p:spTree>
    <p:extLst>
      <p:ext uri="{BB962C8B-B14F-4D97-AF65-F5344CB8AC3E}">
        <p14:creationId xmlns:p14="http://schemas.microsoft.com/office/powerpoint/2010/main" val="739385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CDE012-9E2E-4477-8B5C-4E7D4E9BCBA6}" type="slidenum">
              <a:rPr lang="en-US" smtClean="0"/>
              <a:t>1</a:t>
            </a:fld>
            <a:endParaRPr lang="en-US"/>
          </a:p>
        </p:txBody>
      </p:sp>
    </p:spTree>
    <p:extLst>
      <p:ext uri="{BB962C8B-B14F-4D97-AF65-F5344CB8AC3E}">
        <p14:creationId xmlns:p14="http://schemas.microsoft.com/office/powerpoint/2010/main" val="1498192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CDE012-9E2E-4477-8B5C-4E7D4E9BCBA6}" type="slidenum">
              <a:rPr lang="en-US" noProof="0" smtClean="0"/>
              <a:t>2</a:t>
            </a:fld>
            <a:endParaRPr lang="en-US" noProof="0"/>
          </a:p>
        </p:txBody>
      </p:sp>
    </p:spTree>
    <p:extLst>
      <p:ext uri="{BB962C8B-B14F-4D97-AF65-F5344CB8AC3E}">
        <p14:creationId xmlns:p14="http://schemas.microsoft.com/office/powerpoint/2010/main" val="2032439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CDE012-9E2E-4477-8B5C-4E7D4E9BCBA6}" type="slidenum">
              <a:rPr lang="en-US" noProof="0" smtClean="0"/>
              <a:t>4</a:t>
            </a:fld>
            <a:endParaRPr lang="en-US" noProof="0"/>
          </a:p>
        </p:txBody>
      </p:sp>
    </p:spTree>
    <p:extLst>
      <p:ext uri="{BB962C8B-B14F-4D97-AF65-F5344CB8AC3E}">
        <p14:creationId xmlns:p14="http://schemas.microsoft.com/office/powerpoint/2010/main" val="1673130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14</a:t>
            </a:fld>
            <a:endParaRPr lang="en-US" noProof="0" dirty="0"/>
          </a:p>
        </p:txBody>
      </p:sp>
    </p:spTree>
    <p:extLst>
      <p:ext uri="{BB962C8B-B14F-4D97-AF65-F5344CB8AC3E}">
        <p14:creationId xmlns:p14="http://schemas.microsoft.com/office/powerpoint/2010/main" val="3150146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18</a:t>
            </a:fld>
            <a:endParaRPr lang="en-US" noProof="0" dirty="0"/>
          </a:p>
        </p:txBody>
      </p:sp>
    </p:spTree>
    <p:extLst>
      <p:ext uri="{BB962C8B-B14F-4D97-AF65-F5344CB8AC3E}">
        <p14:creationId xmlns:p14="http://schemas.microsoft.com/office/powerpoint/2010/main" val="2158380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25</a:t>
            </a:fld>
            <a:endParaRPr lang="en-US" noProof="0" dirty="0"/>
          </a:p>
        </p:txBody>
      </p:sp>
    </p:spTree>
    <p:extLst>
      <p:ext uri="{BB962C8B-B14F-4D97-AF65-F5344CB8AC3E}">
        <p14:creationId xmlns:p14="http://schemas.microsoft.com/office/powerpoint/2010/main" val="1408904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27</a:t>
            </a:fld>
            <a:endParaRPr lang="en-US" noProof="0" dirty="0"/>
          </a:p>
        </p:txBody>
      </p:sp>
    </p:spTree>
    <p:extLst>
      <p:ext uri="{BB962C8B-B14F-4D97-AF65-F5344CB8AC3E}">
        <p14:creationId xmlns:p14="http://schemas.microsoft.com/office/powerpoint/2010/main" val="1661993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B8029-33F3-9414-AD10-00871D91AA5D}"/>
              </a:ext>
            </a:extLst>
          </p:cNvPr>
          <p:cNvSpPr>
            <a:spLocks noGrp="1"/>
          </p:cNvSpPr>
          <p:nvPr>
            <p:ph type="ctrTitle"/>
          </p:nvPr>
        </p:nvSpPr>
        <p:spPr>
          <a:xfrm>
            <a:off x="2267712" y="1408176"/>
            <a:ext cx="6400800" cy="2387600"/>
          </a:xfrm>
        </p:spPr>
        <p:txBody>
          <a:bodyPr anchor="t">
            <a:normAutofit/>
          </a:bodyPr>
          <a:lstStyle>
            <a:lvl1pPr algn="l">
              <a:lnSpc>
                <a:spcPct val="80000"/>
              </a:lnSpc>
              <a:defRPr sz="7200" cap="all" baseline="0">
                <a:solidFill>
                  <a:schemeClr val="bg1"/>
                </a:solidFill>
              </a:defRPr>
            </a:lvl1pPr>
          </a:lstStyle>
          <a:p>
            <a:r>
              <a:rPr lang="en-US"/>
              <a:t>Click to edit Master title style</a:t>
            </a:r>
            <a:endParaRPr lang="en-PK" dirty="0"/>
          </a:p>
        </p:txBody>
      </p:sp>
      <p:sp>
        <p:nvSpPr>
          <p:cNvPr id="3" name="Subtitle 2">
            <a:extLst>
              <a:ext uri="{FF2B5EF4-FFF2-40B4-BE49-F238E27FC236}">
                <a16:creationId xmlns:a16="http://schemas.microsoft.com/office/drawing/2014/main" id="{4F32B008-64B6-378D-9C5D-DCC8DFEBC69E}"/>
              </a:ext>
            </a:extLst>
          </p:cNvPr>
          <p:cNvSpPr>
            <a:spLocks noGrp="1"/>
          </p:cNvSpPr>
          <p:nvPr>
            <p:ph type="subTitle" idx="1"/>
          </p:nvPr>
        </p:nvSpPr>
        <p:spPr>
          <a:xfrm>
            <a:off x="3867912" y="5047488"/>
            <a:ext cx="5486400" cy="384048"/>
          </a:xfrm>
        </p:spPr>
        <p:txBody>
          <a:bodyPr/>
          <a:lstStyle>
            <a:lvl1pPr marL="0" indent="0" algn="l">
              <a:lnSpc>
                <a:spcPct val="80000"/>
              </a:lnSpc>
              <a:spcBef>
                <a:spcPts val="0"/>
              </a:spcBef>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grpSp>
        <p:nvGrpSpPr>
          <p:cNvPr id="7" name="Group 6">
            <a:extLst>
              <a:ext uri="{FF2B5EF4-FFF2-40B4-BE49-F238E27FC236}">
                <a16:creationId xmlns:a16="http://schemas.microsoft.com/office/drawing/2014/main" id="{15444BA9-47A2-8EBA-F11F-AF833CBC1FB6}"/>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F7C7E957-5A54-C6BB-DBCA-B0A579E99122}"/>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75792F5-3B57-83E5-2E85-1B67A64BF570}"/>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8063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5000"/>
            </a:lvl1pPr>
          </a:lstStyle>
          <a:p>
            <a:r>
              <a:rPr lang="en-US"/>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2"/>
            <a:ext cx="7470648" cy="3296563"/>
          </a:xfrm>
        </p:spPr>
        <p:txBody>
          <a:bodyPr/>
          <a:lstStyle>
            <a:lvl1pPr marL="0" indent="0">
              <a:lnSpc>
                <a:spcPct val="100000"/>
              </a:lnSpc>
              <a:spcBef>
                <a:spcPts val="0"/>
              </a:spcBef>
              <a:spcAft>
                <a:spcPts val="1500"/>
              </a:spcAft>
              <a:buNone/>
              <a:defRPr sz="2200" b="1"/>
            </a:lvl1pPr>
            <a:lvl2pPr marL="0" indent="0">
              <a:lnSpc>
                <a:spcPct val="100000"/>
              </a:lnSpc>
              <a:spcBef>
                <a:spcPts val="0"/>
              </a:spcBef>
              <a:buNone/>
              <a:defRPr sz="1600" i="1"/>
            </a:lvl2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dirty="0"/>
              <a:t>Presentation title</a:t>
            </a:r>
            <a:endParaRPr lang="en-PK"/>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grpSp>
        <p:nvGrpSpPr>
          <p:cNvPr id="7" name="Group 6">
            <a:extLst>
              <a:ext uri="{FF2B5EF4-FFF2-40B4-BE49-F238E27FC236}">
                <a16:creationId xmlns:a16="http://schemas.microsoft.com/office/drawing/2014/main" id="{52789DD7-8E5F-BCF6-7A1E-0AC33BD880AC}"/>
              </a:ext>
            </a:extLst>
          </p:cNvPr>
          <p:cNvGrpSpPr/>
          <p:nvPr userDrawn="1"/>
        </p:nvGrpSpPr>
        <p:grpSpPr>
          <a:xfrm>
            <a:off x="2400300" y="2535841"/>
            <a:ext cx="9801127" cy="821"/>
            <a:chOff x="2286319" y="5546299"/>
            <a:chExt cx="9801127" cy="903"/>
          </a:xfrm>
        </p:grpSpPr>
        <p:cxnSp>
          <p:nvCxnSpPr>
            <p:cNvPr id="8" name="Straight Connector 7">
              <a:extLst>
                <a:ext uri="{FF2B5EF4-FFF2-40B4-BE49-F238E27FC236}">
                  <a16:creationId xmlns:a16="http://schemas.microsoft.com/office/drawing/2014/main" id="{D610F86C-F479-AC03-216E-DD60112AC854}"/>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02E8F6-3623-48C2-4F02-9472E2977FB8}"/>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8269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9D39-DAD0-D550-D3C7-42F702A78C3A}"/>
              </a:ext>
            </a:extLst>
          </p:cNvPr>
          <p:cNvSpPr>
            <a:spLocks noGrp="1"/>
          </p:cNvSpPr>
          <p:nvPr>
            <p:ph type="title"/>
          </p:nvPr>
        </p:nvSpPr>
        <p:spPr>
          <a:xfrm>
            <a:off x="4056992" y="1709738"/>
            <a:ext cx="7290458" cy="2852737"/>
          </a:xfrm>
        </p:spPr>
        <p:txBody>
          <a:bodyPr anchor="b"/>
          <a:lstStyle>
            <a:lvl1pPr>
              <a:defRPr sz="6000">
                <a:solidFill>
                  <a:schemeClr val="bg1"/>
                </a:solidFill>
              </a:defRPr>
            </a:lvl1pPr>
          </a:lstStyle>
          <a:p>
            <a:r>
              <a:rPr lang="en-US"/>
              <a:t>Click to edit Master title style</a:t>
            </a:r>
            <a:endParaRPr lang="en-PK" dirty="0"/>
          </a:p>
        </p:txBody>
      </p:sp>
      <p:sp>
        <p:nvSpPr>
          <p:cNvPr id="3" name="Text Placeholder 2">
            <a:extLst>
              <a:ext uri="{FF2B5EF4-FFF2-40B4-BE49-F238E27FC236}">
                <a16:creationId xmlns:a16="http://schemas.microsoft.com/office/drawing/2014/main" id="{8E054DFA-4C17-2AA0-0E19-8D452B73AA20}"/>
              </a:ext>
            </a:extLst>
          </p:cNvPr>
          <p:cNvSpPr>
            <a:spLocks noGrp="1"/>
          </p:cNvSpPr>
          <p:nvPr>
            <p:ph type="body" idx="1"/>
          </p:nvPr>
        </p:nvSpPr>
        <p:spPr>
          <a:xfrm>
            <a:off x="4056992" y="4589463"/>
            <a:ext cx="729045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 name="Group 6">
            <a:extLst>
              <a:ext uri="{FF2B5EF4-FFF2-40B4-BE49-F238E27FC236}">
                <a16:creationId xmlns:a16="http://schemas.microsoft.com/office/drawing/2014/main" id="{AF8D5DED-A875-4BFE-015E-C29679EC468C}"/>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4ED54A14-B37E-AA5D-2F7D-4530DEF3C347}"/>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611F7DB-0F8D-8E5A-0137-AD5E5B20C351}"/>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2719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lumn dark">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cxnSp>
        <p:nvCxnSpPr>
          <p:cNvPr id="7" name="Straight Connector 6">
            <a:extLst>
              <a:ext uri="{FF2B5EF4-FFF2-40B4-BE49-F238E27FC236}">
                <a16:creationId xmlns:a16="http://schemas.microsoft.com/office/drawing/2014/main" id="{01882412-D2D4-9CF0-CD39-2EAE79B8A310}"/>
              </a:ext>
            </a:extLst>
          </p:cNvPr>
          <p:cNvCxnSpPr>
            <a:cxnSpLocks/>
          </p:cNvCxnSpPr>
          <p:nvPr userDrawn="1"/>
        </p:nvCxnSpPr>
        <p:spPr>
          <a:xfrm>
            <a:off x="4267200" y="2523744"/>
            <a:ext cx="7924800" cy="883"/>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229B6F2-011B-853F-5BA1-FA1722B6E1C8}"/>
              </a:ext>
            </a:extLst>
          </p:cNvPr>
          <p:cNvCxnSpPr>
            <a:cxnSpLocks/>
          </p:cNvCxnSpPr>
          <p:nvPr userDrawn="1"/>
        </p:nvCxnSpPr>
        <p:spPr>
          <a:xfrm>
            <a:off x="723384" y="2523744"/>
            <a:ext cx="3543816"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bg1"/>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8961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 light">
    <p:bg>
      <p:bgPr>
        <a:solidFill>
          <a:schemeClr val="accent6"/>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3" name="Group 12">
            <a:extLst>
              <a:ext uri="{FF2B5EF4-FFF2-40B4-BE49-F238E27FC236}">
                <a16:creationId xmlns:a16="http://schemas.microsoft.com/office/drawing/2014/main" id="{4ED40495-D9DB-AA87-4474-68DA5D8CA88C}"/>
              </a:ext>
            </a:extLst>
          </p:cNvPr>
          <p:cNvGrpSpPr/>
          <p:nvPr userDrawn="1"/>
        </p:nvGrpSpPr>
        <p:grpSpPr>
          <a:xfrm rot="10800000">
            <a:off x="726958" y="2521655"/>
            <a:ext cx="11480808" cy="1"/>
            <a:chOff x="2077471" y="5539116"/>
            <a:chExt cx="11480808" cy="1"/>
          </a:xfrm>
        </p:grpSpPr>
        <p:cxnSp>
          <p:nvCxnSpPr>
            <p:cNvPr id="16" name="Straight Connector 15">
              <a:extLst>
                <a:ext uri="{FF2B5EF4-FFF2-40B4-BE49-F238E27FC236}">
                  <a16:creationId xmlns:a16="http://schemas.microsoft.com/office/drawing/2014/main" id="{A15A6649-BE77-6F3F-DF74-0045E0AC6025}"/>
                </a:ext>
              </a:extLst>
            </p:cNvPr>
            <p:cNvCxnSpPr>
              <a:cxnSpLocks/>
            </p:cNvCxnSpPr>
            <p:nvPr/>
          </p:nvCxnSpPr>
          <p:spPr>
            <a:xfrm>
              <a:off x="2077471" y="5539116"/>
              <a:ext cx="4755396"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EF33DD1-C51F-9BE1-2F97-D4025B3E653D}"/>
                </a:ext>
              </a:extLst>
            </p:cNvPr>
            <p:cNvCxnSpPr>
              <a:cxnSpLocks/>
            </p:cNvCxnSpPr>
            <p:nvPr/>
          </p:nvCxnSpPr>
          <p:spPr>
            <a:xfrm>
              <a:off x="6816103" y="5539117"/>
              <a:ext cx="6742176"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5874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dark band">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966E69F-7113-AC99-F7E1-A44B7D64DEF3}"/>
              </a:ext>
            </a:extLst>
          </p:cNvPr>
          <p:cNvSpPr/>
          <p:nvPr userDrawn="1"/>
        </p:nvSpPr>
        <p:spPr>
          <a:xfrm>
            <a:off x="0" y="0"/>
            <a:ext cx="12192000" cy="30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lvl1pPr>
              <a:defRPr>
                <a:solidFill>
                  <a:schemeClr val="accent5"/>
                </a:solidFill>
              </a:defRPr>
            </a:lvl1p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accent5"/>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accent5"/>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348386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9" name="Group 18">
            <a:extLst>
              <a:ext uri="{FF2B5EF4-FFF2-40B4-BE49-F238E27FC236}">
                <a16:creationId xmlns:a16="http://schemas.microsoft.com/office/drawing/2014/main" id="{FF8CCEDA-D691-A48A-BAAF-D004EBE38E55}"/>
              </a:ext>
            </a:extLst>
          </p:cNvPr>
          <p:cNvGrpSpPr/>
          <p:nvPr userDrawn="1"/>
        </p:nvGrpSpPr>
        <p:grpSpPr>
          <a:xfrm rot="16200000" flipV="1">
            <a:off x="8764091" y="3943349"/>
            <a:ext cx="5829301" cy="0"/>
            <a:chOff x="2287349" y="55407920"/>
            <a:chExt cx="11160369" cy="0"/>
          </a:xfrm>
        </p:grpSpPr>
        <p:cxnSp>
          <p:nvCxnSpPr>
            <p:cNvPr id="20" name="Straight Connector 19">
              <a:extLst>
                <a:ext uri="{FF2B5EF4-FFF2-40B4-BE49-F238E27FC236}">
                  <a16:creationId xmlns:a16="http://schemas.microsoft.com/office/drawing/2014/main" id="{5605A0EB-A31A-D2D4-5671-D1F763493E1F}"/>
                </a:ext>
              </a:extLst>
            </p:cNvPr>
            <p:cNvCxnSpPr>
              <a:cxnSpLocks/>
            </p:cNvCxnSpPr>
            <p:nvPr/>
          </p:nvCxnSpPr>
          <p:spPr>
            <a:xfrm rot="16200000">
              <a:off x="5934529" y="51760740"/>
              <a:ext cx="0" cy="729436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FEFE03D-E00E-B4FD-6765-44E55D5FA212}"/>
                </a:ext>
              </a:extLst>
            </p:cNvPr>
            <p:cNvCxnSpPr>
              <a:cxnSpLocks/>
            </p:cNvCxnSpPr>
            <p:nvPr/>
          </p:nvCxnSpPr>
          <p:spPr>
            <a:xfrm rot="16200000">
              <a:off x="11514714" y="53474916"/>
              <a:ext cx="0" cy="3866008"/>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6280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on the left">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F5A1967-7F8F-319E-2E67-BD9E4F074B05}"/>
              </a:ext>
            </a:extLst>
          </p:cNvPr>
          <p:cNvSpPr/>
          <p:nvPr userDrawn="1"/>
        </p:nvSpPr>
        <p:spPr>
          <a:xfrm>
            <a:off x="8115301" y="0"/>
            <a:ext cx="40766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solidFill>
                <a:schemeClr val="bg2"/>
              </a:solidFill>
            </a:endParaRPr>
          </a:p>
        </p:txBody>
      </p:sp>
      <p:grpSp>
        <p:nvGrpSpPr>
          <p:cNvPr id="19" name="Group 18">
            <a:extLst>
              <a:ext uri="{FF2B5EF4-FFF2-40B4-BE49-F238E27FC236}">
                <a16:creationId xmlns:a16="http://schemas.microsoft.com/office/drawing/2014/main" id="{52425424-7549-BE00-EA05-384DBD00F3B2}"/>
              </a:ext>
            </a:extLst>
          </p:cNvPr>
          <p:cNvGrpSpPr/>
          <p:nvPr userDrawn="1"/>
        </p:nvGrpSpPr>
        <p:grpSpPr>
          <a:xfrm>
            <a:off x="6317679" y="4564864"/>
            <a:ext cx="5858373" cy="385"/>
            <a:chOff x="5440605" y="5540787"/>
            <a:chExt cx="5858373" cy="385"/>
          </a:xfrm>
        </p:grpSpPr>
        <p:cxnSp>
          <p:nvCxnSpPr>
            <p:cNvPr id="20" name="Straight Connector 19">
              <a:extLst>
                <a:ext uri="{FF2B5EF4-FFF2-40B4-BE49-F238E27FC236}">
                  <a16:creationId xmlns:a16="http://schemas.microsoft.com/office/drawing/2014/main" id="{4D88329B-DC1A-F93F-7A3A-84FDE2989BB6}"/>
                </a:ext>
              </a:extLst>
            </p:cNvPr>
            <p:cNvCxnSpPr>
              <a:cxnSpLocks/>
            </p:cNvCxnSpPr>
            <p:nvPr/>
          </p:nvCxnSpPr>
          <p:spPr>
            <a:xfrm>
              <a:off x="5440605" y="5541172"/>
              <a:ext cx="179762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690B71-E252-7020-6DC7-F643767B2B78}"/>
                </a:ext>
              </a:extLst>
            </p:cNvPr>
            <p:cNvCxnSpPr>
              <a:cxnSpLocks/>
            </p:cNvCxnSpPr>
            <p:nvPr/>
          </p:nvCxnSpPr>
          <p:spPr>
            <a:xfrm>
              <a:off x="7237724" y="5540787"/>
              <a:ext cx="406125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217920" y="2514600"/>
            <a:ext cx="4846320" cy="1682749"/>
          </a:xfrm>
        </p:spPr>
        <p:txBody>
          <a:bodyPr/>
          <a:lstStyle>
            <a:lvl1pPr>
              <a:lnSpc>
                <a:spcPct val="10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30936"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30936" y="358444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365760" y="4123944"/>
            <a:ext cx="4754880" cy="941831"/>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22" name="Text Placeholder 10">
            <a:extLst>
              <a:ext uri="{FF2B5EF4-FFF2-40B4-BE49-F238E27FC236}">
                <a16:creationId xmlns:a16="http://schemas.microsoft.com/office/drawing/2014/main" id="{93287C28-1CA8-AEA5-1E16-BC0B1E99CD24}"/>
              </a:ext>
            </a:extLst>
          </p:cNvPr>
          <p:cNvSpPr>
            <a:spLocks noGrp="1"/>
          </p:cNvSpPr>
          <p:nvPr>
            <p:ph type="body" sz="quarter" idx="17"/>
          </p:nvPr>
        </p:nvSpPr>
        <p:spPr>
          <a:xfrm>
            <a:off x="630936" y="5065776"/>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3" name="Text Placeholder 13">
            <a:extLst>
              <a:ext uri="{FF2B5EF4-FFF2-40B4-BE49-F238E27FC236}">
                <a16:creationId xmlns:a16="http://schemas.microsoft.com/office/drawing/2014/main" id="{19920C32-5167-72B1-7B9E-709723F907CE}"/>
              </a:ext>
            </a:extLst>
          </p:cNvPr>
          <p:cNvSpPr>
            <a:spLocks noGrp="1"/>
          </p:cNvSpPr>
          <p:nvPr>
            <p:ph type="body" sz="quarter" idx="18"/>
          </p:nvPr>
        </p:nvSpPr>
        <p:spPr>
          <a:xfrm>
            <a:off x="365760" y="5605272"/>
            <a:ext cx="4754880" cy="1143254"/>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3775982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on the right">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5F7D9D8-A960-E038-84D2-764C7A50F698}"/>
              </a:ext>
            </a:extLst>
          </p:cNvPr>
          <p:cNvSpPr/>
          <p:nvPr userDrawn="1"/>
        </p:nvSpPr>
        <p:spPr>
          <a:xfrm>
            <a:off x="-12700" y="858"/>
            <a:ext cx="3060700" cy="685714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8932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89320" y="394106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40DF3371-342F-C17D-5A7F-EF76E89A55C5}"/>
              </a:ext>
            </a:extLst>
          </p:cNvPr>
          <p:cNvGrpSpPr/>
          <p:nvPr userDrawn="1"/>
        </p:nvGrpSpPr>
        <p:grpSpPr>
          <a:xfrm>
            <a:off x="-11882" y="3045007"/>
            <a:ext cx="4279082" cy="364"/>
            <a:chOff x="5475479" y="5537794"/>
            <a:chExt cx="4279082" cy="364"/>
          </a:xfrm>
        </p:grpSpPr>
        <p:cxnSp>
          <p:nvCxnSpPr>
            <p:cNvPr id="24" name="Straight Connector 23">
              <a:extLst>
                <a:ext uri="{FF2B5EF4-FFF2-40B4-BE49-F238E27FC236}">
                  <a16:creationId xmlns:a16="http://schemas.microsoft.com/office/drawing/2014/main" id="{84369914-5489-3EA1-5419-F83F6C7A150D}"/>
                </a:ext>
              </a:extLst>
            </p:cNvPr>
            <p:cNvCxnSpPr>
              <a:cxnSpLocks/>
            </p:cNvCxnSpPr>
            <p:nvPr/>
          </p:nvCxnSpPr>
          <p:spPr>
            <a:xfrm>
              <a:off x="5475479" y="5537976"/>
              <a:ext cx="30607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BDE23CC-0B75-F3A6-1882-265BF90D4AA1}"/>
                </a:ext>
              </a:extLst>
            </p:cNvPr>
            <p:cNvCxnSpPr>
              <a:cxnSpLocks/>
            </p:cNvCxnSpPr>
            <p:nvPr/>
          </p:nvCxnSpPr>
          <p:spPr>
            <a:xfrm flipV="1">
              <a:off x="8537690" y="5537794"/>
              <a:ext cx="1216871" cy="364"/>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909772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on the right dark">
    <p:bg>
      <p:bgPr>
        <a:solidFill>
          <a:schemeClr val="accent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749AEB6-4539-A203-D085-8EBE329C08E0}"/>
              </a:ext>
            </a:extLst>
          </p:cNvPr>
          <p:cNvSpPr/>
          <p:nvPr userDrawn="1"/>
        </p:nvSpPr>
        <p:spPr>
          <a:xfrm>
            <a:off x="3962399" y="858"/>
            <a:ext cx="8271641" cy="68571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2"/>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bg1"/>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accent4"/>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35331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71032" y="179222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71032" y="394106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0D78A0CF-0A37-4436-67C4-B32FD7703E96}"/>
              </a:ext>
            </a:extLst>
          </p:cNvPr>
          <p:cNvGrpSpPr/>
          <p:nvPr userDrawn="1"/>
        </p:nvGrpSpPr>
        <p:grpSpPr>
          <a:xfrm>
            <a:off x="-28308" y="2514621"/>
            <a:ext cx="5666632" cy="0"/>
            <a:chOff x="5464255" y="5541151"/>
            <a:chExt cx="5666632" cy="0"/>
          </a:xfrm>
        </p:grpSpPr>
        <p:cxnSp>
          <p:nvCxnSpPr>
            <p:cNvPr id="24" name="Straight Connector 23">
              <a:extLst>
                <a:ext uri="{FF2B5EF4-FFF2-40B4-BE49-F238E27FC236}">
                  <a16:creationId xmlns:a16="http://schemas.microsoft.com/office/drawing/2014/main" id="{8FC6D8A4-CA31-16C2-95B7-B98F65F29A69}"/>
                </a:ext>
              </a:extLst>
            </p:cNvPr>
            <p:cNvCxnSpPr>
              <a:cxnSpLocks/>
            </p:cNvCxnSpPr>
            <p:nvPr/>
          </p:nvCxnSpPr>
          <p:spPr>
            <a:xfrm>
              <a:off x="5464255" y="5541151"/>
              <a:ext cx="3991534"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2097A8D-64FC-CDBD-4497-5E32BC6AF9C2}"/>
                </a:ext>
              </a:extLst>
            </p:cNvPr>
            <p:cNvCxnSpPr>
              <a:cxnSpLocks/>
            </p:cNvCxnSpPr>
            <p:nvPr/>
          </p:nvCxnSpPr>
          <p:spPr>
            <a:xfrm>
              <a:off x="9454487" y="5541151"/>
              <a:ext cx="16764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193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2295144" y="1463040"/>
            <a:ext cx="7498080" cy="704088"/>
          </a:xfrm>
        </p:spPr>
        <p:txBody>
          <a:bodyPr/>
          <a:lstStyle>
            <a:lvl1pPr>
              <a:defRPr sz="5000"/>
            </a:lvl1pPr>
          </a:lstStyle>
          <a:p>
            <a:r>
              <a:rPr lang="en-US" noProof="0"/>
              <a:t>Click to edit Master title style</a:t>
            </a:r>
          </a:p>
        </p:txBody>
      </p:sp>
      <p:grpSp>
        <p:nvGrpSpPr>
          <p:cNvPr id="9" name="Group 8">
            <a:extLst>
              <a:ext uri="{FF2B5EF4-FFF2-40B4-BE49-F238E27FC236}">
                <a16:creationId xmlns:a16="http://schemas.microsoft.com/office/drawing/2014/main" id="{52784B99-8374-AA22-4161-578F9BF77E2B}"/>
              </a:ext>
            </a:extLst>
          </p:cNvPr>
          <p:cNvGrpSpPr/>
          <p:nvPr userDrawn="1"/>
        </p:nvGrpSpPr>
        <p:grpSpPr>
          <a:xfrm>
            <a:off x="2400300" y="2535841"/>
            <a:ext cx="9801127" cy="821"/>
            <a:chOff x="2286319" y="5546299"/>
            <a:chExt cx="9801127" cy="903"/>
          </a:xfrm>
        </p:grpSpPr>
        <p:cxnSp>
          <p:nvCxnSpPr>
            <p:cNvPr id="10" name="Straight Connector 9">
              <a:extLst>
                <a:ext uri="{FF2B5EF4-FFF2-40B4-BE49-F238E27FC236}">
                  <a16:creationId xmlns:a16="http://schemas.microsoft.com/office/drawing/2014/main" id="{F0F45B19-145D-7398-7A64-A88B28251AAD}"/>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29EB3C-D7BA-1FCE-3158-8F1116C6F5BE}"/>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2322576"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2322576" y="444398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2020824" y="3401568"/>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2020824" y="4901184"/>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178902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603504" y="1463040"/>
            <a:ext cx="10871708" cy="704088"/>
          </a:xfrm>
        </p:spPr>
        <p:txBody>
          <a:bodyPr/>
          <a:lstStyle>
            <a:lvl1pPr>
              <a:defRPr sz="5000"/>
            </a:lvl1pPr>
          </a:lstStyle>
          <a:p>
            <a:r>
              <a:rPr lang="en-US"/>
              <a:t>Click to edit Master title style</a:t>
            </a:r>
            <a:endParaRPr lang="en-PK" dirty="0"/>
          </a:p>
        </p:txBody>
      </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649224"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433425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365760"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4005072"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grpSp>
        <p:nvGrpSpPr>
          <p:cNvPr id="16" name="Group 15">
            <a:extLst>
              <a:ext uri="{FF2B5EF4-FFF2-40B4-BE49-F238E27FC236}">
                <a16:creationId xmlns:a16="http://schemas.microsoft.com/office/drawing/2014/main" id="{B8221A12-8B19-605A-2244-2D732269C955}"/>
              </a:ext>
            </a:extLst>
          </p:cNvPr>
          <p:cNvGrpSpPr/>
          <p:nvPr userDrawn="1"/>
        </p:nvGrpSpPr>
        <p:grpSpPr>
          <a:xfrm>
            <a:off x="716788" y="2527173"/>
            <a:ext cx="10758424" cy="1564"/>
            <a:chOff x="2792270" y="5541172"/>
            <a:chExt cx="11391900" cy="158"/>
          </a:xfrm>
        </p:grpSpPr>
        <p:cxnSp>
          <p:nvCxnSpPr>
            <p:cNvPr id="17" name="Straight Connector 16">
              <a:extLst>
                <a:ext uri="{FF2B5EF4-FFF2-40B4-BE49-F238E27FC236}">
                  <a16:creationId xmlns:a16="http://schemas.microsoft.com/office/drawing/2014/main" id="{A86C500B-5A93-298F-7CEF-ED445452E460}"/>
                </a:ext>
              </a:extLst>
            </p:cNvPr>
            <p:cNvCxnSpPr>
              <a:cxnSpLocks/>
            </p:cNvCxnSpPr>
            <p:nvPr/>
          </p:nvCxnSpPr>
          <p:spPr>
            <a:xfrm>
              <a:off x="2792270" y="5541172"/>
              <a:ext cx="676046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7A559BC-EF4A-29D4-CF56-6425516A5D91}"/>
                </a:ext>
              </a:extLst>
            </p:cNvPr>
            <p:cNvCxnSpPr>
              <a:cxnSpLocks/>
            </p:cNvCxnSpPr>
            <p:nvPr/>
          </p:nvCxnSpPr>
          <p:spPr>
            <a:xfrm>
              <a:off x="9552734" y="5541330"/>
              <a:ext cx="4631436"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9" name="Text Placeholder 10">
            <a:extLst>
              <a:ext uri="{FF2B5EF4-FFF2-40B4-BE49-F238E27FC236}">
                <a16:creationId xmlns:a16="http://schemas.microsoft.com/office/drawing/2014/main" id="{D2D34186-8505-57AE-F518-0C83BF1C06C9}"/>
              </a:ext>
            </a:extLst>
          </p:cNvPr>
          <p:cNvSpPr>
            <a:spLocks noGrp="1"/>
          </p:cNvSpPr>
          <p:nvPr>
            <p:ph type="body" sz="quarter" idx="17"/>
          </p:nvPr>
        </p:nvSpPr>
        <p:spPr>
          <a:xfrm>
            <a:off x="826617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0" name="Text Placeholder 13">
            <a:extLst>
              <a:ext uri="{FF2B5EF4-FFF2-40B4-BE49-F238E27FC236}">
                <a16:creationId xmlns:a16="http://schemas.microsoft.com/office/drawing/2014/main" id="{ABE767DA-9D93-94AD-D34D-2B8A51A76645}"/>
              </a:ext>
            </a:extLst>
          </p:cNvPr>
          <p:cNvSpPr>
            <a:spLocks noGrp="1"/>
          </p:cNvSpPr>
          <p:nvPr>
            <p:ph type="body" sz="quarter" idx="18"/>
          </p:nvPr>
        </p:nvSpPr>
        <p:spPr>
          <a:xfrm>
            <a:off x="7973568"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81475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6"/>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AE86B75-C16C-C033-D27D-FF84EFB71131}"/>
              </a:ext>
            </a:extLst>
          </p:cNvPr>
          <p:cNvSpPr/>
          <p:nvPr userDrawn="1"/>
        </p:nvSpPr>
        <p:spPr>
          <a:xfrm>
            <a:off x="0" y="0"/>
            <a:ext cx="100203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31443F-EAC2-06D1-A3D1-D73510EAF2A3}"/>
              </a:ext>
            </a:extLst>
          </p:cNvPr>
          <p:cNvSpPr>
            <a:spLocks noGrp="1"/>
          </p:cNvSpPr>
          <p:nvPr>
            <p:ph type="title"/>
          </p:nvPr>
        </p:nvSpPr>
        <p:spPr>
          <a:xfrm>
            <a:off x="2313432" y="1426464"/>
            <a:ext cx="6675120" cy="1702816"/>
          </a:xfrm>
        </p:spPr>
        <p:txBody>
          <a:bodyPr anchor="t"/>
          <a:lstStyle>
            <a:lvl1pPr>
              <a:lnSpc>
                <a:spcPct val="80000"/>
              </a:lnSpc>
              <a:defRPr sz="7200" cap="all" baseline="0">
                <a:solidFill>
                  <a:schemeClr val="bg1"/>
                </a:solidFill>
              </a:defRPr>
            </a:lvl1pPr>
          </a:lstStyle>
          <a:p>
            <a:r>
              <a:rPr lang="en-US"/>
              <a:t>Click to edit Master title style</a:t>
            </a:r>
            <a:endParaRPr lang="en-US" dirty="0"/>
          </a:p>
        </p:txBody>
      </p:sp>
      <p:grpSp>
        <p:nvGrpSpPr>
          <p:cNvPr id="7" name="Group 6">
            <a:extLst>
              <a:ext uri="{FF2B5EF4-FFF2-40B4-BE49-F238E27FC236}">
                <a16:creationId xmlns:a16="http://schemas.microsoft.com/office/drawing/2014/main" id="{D80535FC-1B0E-C4EB-FE55-190522219FEA}"/>
              </a:ext>
            </a:extLst>
          </p:cNvPr>
          <p:cNvGrpSpPr/>
          <p:nvPr userDrawn="1"/>
        </p:nvGrpSpPr>
        <p:grpSpPr>
          <a:xfrm>
            <a:off x="3979533" y="5799270"/>
            <a:ext cx="8212467" cy="0"/>
            <a:chOff x="3733800" y="5537385"/>
            <a:chExt cx="8212467" cy="0"/>
          </a:xfrm>
        </p:grpSpPr>
        <p:cxnSp>
          <p:nvCxnSpPr>
            <p:cNvPr id="8" name="Straight Connector 7">
              <a:extLst>
                <a:ext uri="{FF2B5EF4-FFF2-40B4-BE49-F238E27FC236}">
                  <a16:creationId xmlns:a16="http://schemas.microsoft.com/office/drawing/2014/main" id="{9CA6B206-18E0-06D2-958F-E859A1428A57}"/>
                </a:ext>
              </a:extLst>
            </p:cNvPr>
            <p:cNvCxnSpPr>
              <a:cxnSpLocks/>
            </p:cNvCxnSpPr>
            <p:nvPr/>
          </p:nvCxnSpPr>
          <p:spPr>
            <a:xfrm>
              <a:off x="3733800" y="5537385"/>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47EEA7-F856-F6C0-18DD-5D37FD51D45B}"/>
                </a:ext>
              </a:extLst>
            </p:cNvPr>
            <p:cNvCxnSpPr>
              <a:cxnSpLocks/>
            </p:cNvCxnSpPr>
            <p:nvPr/>
          </p:nvCxnSpPr>
          <p:spPr>
            <a:xfrm>
              <a:off x="9774567" y="5537385"/>
              <a:ext cx="217170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Text Placeholder 10">
            <a:extLst>
              <a:ext uri="{FF2B5EF4-FFF2-40B4-BE49-F238E27FC236}">
                <a16:creationId xmlns:a16="http://schemas.microsoft.com/office/drawing/2014/main" id="{A9C909AE-4D54-F197-103E-29E9C2597F56}"/>
              </a:ext>
            </a:extLst>
          </p:cNvPr>
          <p:cNvSpPr>
            <a:spLocks noGrp="1"/>
          </p:cNvSpPr>
          <p:nvPr>
            <p:ph type="body" sz="quarter" idx="10"/>
          </p:nvPr>
        </p:nvSpPr>
        <p:spPr>
          <a:xfrm>
            <a:off x="3877056" y="3383280"/>
            <a:ext cx="4754880" cy="2057400"/>
          </a:xfrm>
        </p:spPr>
        <p:txBody>
          <a:bodyPr/>
          <a:lstStyle>
            <a:lvl1pPr marL="0" indent="0">
              <a:lnSpc>
                <a:spcPct val="150000"/>
              </a:lnSpc>
              <a:spcBef>
                <a:spcPts val="0"/>
              </a:spcBef>
              <a:buNone/>
              <a:defRPr sz="2200" b="1">
                <a:solidFill>
                  <a:schemeClr val="bg1"/>
                </a:solidFill>
              </a:defRPr>
            </a:lvl1pPr>
            <a:lvl2pPr marL="0" indent="0">
              <a:lnSpc>
                <a:spcPct val="150000"/>
              </a:lnSpc>
              <a:spcBef>
                <a:spcPts val="0"/>
              </a:spcBef>
              <a:buNone/>
              <a:defRPr sz="2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25968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C28C00-D101-DFF8-7E0A-1AEBF0DBE72B}"/>
              </a:ext>
            </a:extLst>
          </p:cNvPr>
          <p:cNvSpPr>
            <a:spLocks noGrp="1"/>
          </p:cNvSpPr>
          <p:nvPr>
            <p:ph type="dt" sz="half" idx="10"/>
          </p:nvPr>
        </p:nvSpPr>
        <p:spPr/>
        <p:txBody>
          <a:bodyPr/>
          <a:lstStyle/>
          <a:p>
            <a:endParaRPr lang="en-US" noProof="0" dirty="0"/>
          </a:p>
        </p:txBody>
      </p:sp>
      <p:sp>
        <p:nvSpPr>
          <p:cNvPr id="4" name="Footer Placeholder 3">
            <a:extLst>
              <a:ext uri="{FF2B5EF4-FFF2-40B4-BE49-F238E27FC236}">
                <a16:creationId xmlns:a16="http://schemas.microsoft.com/office/drawing/2014/main" id="{D74C5F1F-F8B7-6C5F-6A7F-5F8F6128A1C8}"/>
              </a:ext>
            </a:extLst>
          </p:cNvPr>
          <p:cNvSpPr>
            <a:spLocks noGrp="1"/>
          </p:cNvSpPr>
          <p:nvPr>
            <p:ph type="ftr" sz="quarter" idx="11"/>
          </p:nvPr>
        </p:nvSpPr>
        <p:spPr/>
        <p:txBody>
          <a:bodyPr/>
          <a:lstStyle/>
          <a:p>
            <a:r>
              <a:rPr lang="en-US" dirty="0"/>
              <a:t>Presentation title</a:t>
            </a:r>
            <a:endParaRPr lang="en-PK"/>
          </a:p>
        </p:txBody>
      </p:sp>
      <p:sp>
        <p:nvSpPr>
          <p:cNvPr id="5" name="Slide Number Placeholder 4">
            <a:extLst>
              <a:ext uri="{FF2B5EF4-FFF2-40B4-BE49-F238E27FC236}">
                <a16:creationId xmlns:a16="http://schemas.microsoft.com/office/drawing/2014/main" id="{EFD9287E-E726-E0E6-2871-FE77159B5E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6" name="Title 5">
            <a:extLst>
              <a:ext uri="{FF2B5EF4-FFF2-40B4-BE49-F238E27FC236}">
                <a16:creationId xmlns:a16="http://schemas.microsoft.com/office/drawing/2014/main" id="{160592E8-155C-36FA-DA0A-52B23CE8AF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5763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64B432-06C2-E932-E96F-67CECC2E9658}"/>
              </a:ext>
            </a:extLst>
          </p:cNvPr>
          <p:cNvSpPr>
            <a:spLocks noGrp="1"/>
          </p:cNvSpPr>
          <p:nvPr>
            <p:ph type="dt" sz="half" idx="10"/>
          </p:nvPr>
        </p:nvSpPr>
        <p:spPr/>
        <p:txBody>
          <a:bodyPr/>
          <a:lstStyle/>
          <a:p>
            <a:endParaRPr lang="en-US" noProof="0" dirty="0"/>
          </a:p>
        </p:txBody>
      </p:sp>
      <p:sp>
        <p:nvSpPr>
          <p:cNvPr id="3" name="Footer Placeholder 2">
            <a:extLst>
              <a:ext uri="{FF2B5EF4-FFF2-40B4-BE49-F238E27FC236}">
                <a16:creationId xmlns:a16="http://schemas.microsoft.com/office/drawing/2014/main" id="{7F1F3471-B7F6-01DB-D712-136C1626DFAE}"/>
              </a:ext>
            </a:extLst>
          </p:cNvPr>
          <p:cNvSpPr>
            <a:spLocks noGrp="1"/>
          </p:cNvSpPr>
          <p:nvPr>
            <p:ph type="ftr" sz="quarter" idx="11"/>
          </p:nvPr>
        </p:nvSpPr>
        <p:spPr/>
        <p:txBody>
          <a:bodyPr/>
          <a:lstStyle/>
          <a:p>
            <a:r>
              <a:rPr lang="en-US" dirty="0"/>
              <a:t>Presentation title</a:t>
            </a:r>
            <a:endParaRPr lang="en-PK"/>
          </a:p>
        </p:txBody>
      </p:sp>
      <p:sp>
        <p:nvSpPr>
          <p:cNvPr id="4" name="Slide Number Placeholder 3">
            <a:extLst>
              <a:ext uri="{FF2B5EF4-FFF2-40B4-BE49-F238E27FC236}">
                <a16:creationId xmlns:a16="http://schemas.microsoft.com/office/drawing/2014/main" id="{32C05956-4CA5-988F-7C93-317A88D1202C}"/>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1856146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B670E-478C-D301-FCE5-E830024697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283B16CD-30BD-156F-11B4-9CF89A0642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0E3C54B0-9878-1911-8DE9-EC464D202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6493B1-79A4-1FA9-B462-853856DE870E}"/>
              </a:ext>
            </a:extLst>
          </p:cNvPr>
          <p:cNvSpPr>
            <a:spLocks noGrp="1"/>
          </p:cNvSpPr>
          <p:nvPr>
            <p:ph type="dt" sz="half" idx="10"/>
          </p:nvPr>
        </p:nvSpPr>
        <p:spPr/>
        <p:txBody>
          <a:bodyPr/>
          <a:lstStyle/>
          <a:p>
            <a:endParaRPr lang="en-US" noProof="0" dirty="0"/>
          </a:p>
        </p:txBody>
      </p:sp>
      <p:sp>
        <p:nvSpPr>
          <p:cNvPr id="6" name="Footer Placeholder 5">
            <a:extLst>
              <a:ext uri="{FF2B5EF4-FFF2-40B4-BE49-F238E27FC236}">
                <a16:creationId xmlns:a16="http://schemas.microsoft.com/office/drawing/2014/main" id="{A697EEE8-8F1E-8F14-E2ED-333A1FF24725}"/>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B9DFABEB-B6B7-2591-AE85-265A3F873192}"/>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2062309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52A6A-C17E-2616-3199-C8D78E7EE7EC}"/>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3" name="Picture Placeholder 2">
            <a:extLst>
              <a:ext uri="{FF2B5EF4-FFF2-40B4-BE49-F238E27FC236}">
                <a16:creationId xmlns:a16="http://schemas.microsoft.com/office/drawing/2014/main" id="{37705714-E101-08DD-6A13-D561A3EC2C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p>
        </p:txBody>
      </p:sp>
      <p:sp>
        <p:nvSpPr>
          <p:cNvPr id="4" name="Text Placeholder 3">
            <a:extLst>
              <a:ext uri="{FF2B5EF4-FFF2-40B4-BE49-F238E27FC236}">
                <a16:creationId xmlns:a16="http://schemas.microsoft.com/office/drawing/2014/main" id="{B16ECB26-D659-5BC3-C669-1B45225D27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a:extLst>
              <a:ext uri="{FF2B5EF4-FFF2-40B4-BE49-F238E27FC236}">
                <a16:creationId xmlns:a16="http://schemas.microsoft.com/office/drawing/2014/main" id="{D4464F27-6C3B-1E36-B1DC-ECB72DCF22AC}"/>
              </a:ext>
            </a:extLst>
          </p:cNvPr>
          <p:cNvSpPr>
            <a:spLocks noGrp="1"/>
          </p:cNvSpPr>
          <p:nvPr>
            <p:ph type="dt" sz="half" idx="10"/>
          </p:nvPr>
        </p:nvSpPr>
        <p:spPr/>
        <p:txBody>
          <a:bodyPr/>
          <a:lstStyle/>
          <a:p>
            <a:endParaRPr lang="en-US" noProof="0"/>
          </a:p>
        </p:txBody>
      </p:sp>
      <p:sp>
        <p:nvSpPr>
          <p:cNvPr id="6" name="Footer Placeholder 5">
            <a:extLst>
              <a:ext uri="{FF2B5EF4-FFF2-40B4-BE49-F238E27FC236}">
                <a16:creationId xmlns:a16="http://schemas.microsoft.com/office/drawing/2014/main" id="{1BC595AB-D292-D355-47CD-748C160B1BD3}"/>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CC1CEE5F-F44A-DD2C-EEC3-D4C76B69D15D}"/>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752938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6BC278-3A9A-4241-1DE5-469D2AB5E36B}"/>
              </a:ext>
            </a:extLst>
          </p:cNvPr>
          <p:cNvSpPr>
            <a:spLocks noGrp="1"/>
          </p:cNvSpPr>
          <p:nvPr>
            <p:ph type="title"/>
          </p:nvPr>
        </p:nvSpPr>
        <p:spPr>
          <a:xfrm>
            <a:off x="838200" y="1115367"/>
            <a:ext cx="10515600" cy="575321"/>
          </a:xfrm>
          <a:prstGeom prst="rect">
            <a:avLst/>
          </a:prstGeom>
        </p:spPr>
        <p:txBody>
          <a:bodyPr vert="horz" lIns="91440" tIns="45720" rIns="91440" bIns="45720" rtlCol="0" anchor="t">
            <a:no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38A5E58-5605-E2B6-AEBE-7EF159AAD7E2}"/>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221D507-72FD-CB53-B342-C69D562AF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tx1">
                    <a:tint val="75000"/>
                  </a:schemeClr>
                </a:solidFill>
              </a:defRPr>
            </a:lvl1pPr>
          </a:lstStyle>
          <a:p>
            <a:endParaRPr lang="en-US" noProof="0"/>
          </a:p>
        </p:txBody>
      </p:sp>
      <p:sp>
        <p:nvSpPr>
          <p:cNvPr id="5" name="Footer Placeholder 4">
            <a:extLst>
              <a:ext uri="{FF2B5EF4-FFF2-40B4-BE49-F238E27FC236}">
                <a16:creationId xmlns:a16="http://schemas.microsoft.com/office/drawing/2014/main" id="{01A3E9A7-861F-C5C4-DD4E-37AC66D867ED}"/>
              </a:ext>
            </a:extLst>
          </p:cNvPr>
          <p:cNvSpPr>
            <a:spLocks noGrp="1"/>
          </p:cNvSpPr>
          <p:nvPr>
            <p:ph type="ftr" sz="quarter" idx="3"/>
          </p:nvPr>
        </p:nvSpPr>
        <p:spPr>
          <a:xfrm>
            <a:off x="411480" y="301752"/>
            <a:ext cx="1828800" cy="274320"/>
          </a:xfrm>
          <a:prstGeom prst="rect">
            <a:avLst/>
          </a:prstGeom>
        </p:spPr>
        <p:txBody>
          <a:bodyPr vert="horz" lIns="91440" tIns="45720" rIns="91440" bIns="45720" rtlCol="0" anchor="ctr">
            <a:noAutofit/>
          </a:bodyPr>
          <a:lstStyle>
            <a:lvl1pPr algn="l">
              <a:defRPr sz="1200">
                <a:solidFill>
                  <a:schemeClr val="tx2"/>
                </a:solidFill>
              </a:defRPr>
            </a:lvl1pPr>
          </a:lstStyle>
          <a:p>
            <a:r>
              <a:rPr lang="en-US" dirty="0"/>
              <a:t>Presentation title</a:t>
            </a:r>
            <a:endParaRPr lang="en-PK" dirty="0"/>
          </a:p>
        </p:txBody>
      </p:sp>
      <p:sp>
        <p:nvSpPr>
          <p:cNvPr id="6" name="Slide Number Placeholder 5">
            <a:extLst>
              <a:ext uri="{FF2B5EF4-FFF2-40B4-BE49-F238E27FC236}">
                <a16:creationId xmlns:a16="http://schemas.microsoft.com/office/drawing/2014/main" id="{5877A1DC-56B8-6C78-5020-E45478D099C6}"/>
              </a:ext>
            </a:extLst>
          </p:cNvPr>
          <p:cNvSpPr>
            <a:spLocks noGrp="1"/>
          </p:cNvSpPr>
          <p:nvPr>
            <p:ph type="sldNum" sz="quarter" idx="4"/>
          </p:nvPr>
        </p:nvSpPr>
        <p:spPr>
          <a:xfrm>
            <a:off x="10122408" y="301752"/>
            <a:ext cx="1673352" cy="274320"/>
          </a:xfrm>
          <a:prstGeom prst="rect">
            <a:avLst/>
          </a:prstGeom>
        </p:spPr>
        <p:txBody>
          <a:bodyPr vert="horz" lIns="91440" tIns="45720" rIns="91440" bIns="45720" rtlCol="0" anchor="ctr">
            <a:noAutofit/>
          </a:bodyPr>
          <a:lstStyle>
            <a:lvl1pPr algn="r">
              <a:defRPr sz="1200">
                <a:solidFill>
                  <a:schemeClr val="tx2"/>
                </a:solidFill>
              </a:defRPr>
            </a:lvl1pPr>
          </a:lstStyle>
          <a:p>
            <a:fld id="{5BFCF61C-3B18-4C03-8326-CC3B32D710C9}" type="slidenum">
              <a:rPr lang="en-US" noProof="0" smtClean="0"/>
              <a:pPr/>
              <a:t>‹#›</a:t>
            </a:fld>
            <a:endParaRPr lang="en-US" noProof="0"/>
          </a:p>
        </p:txBody>
      </p:sp>
    </p:spTree>
    <p:extLst>
      <p:ext uri="{BB962C8B-B14F-4D97-AF65-F5344CB8AC3E}">
        <p14:creationId xmlns:p14="http://schemas.microsoft.com/office/powerpoint/2010/main" val="135068052"/>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51" r:id="rId3"/>
    <p:sldLayoutId id="2147483660" r:id="rId4"/>
    <p:sldLayoutId id="2147483661" r:id="rId5"/>
    <p:sldLayoutId id="2147483665" r:id="rId6"/>
    <p:sldLayoutId id="2147483662" r:id="rId7"/>
    <p:sldLayoutId id="2147483664" r:id="rId8"/>
    <p:sldLayoutId id="2147483663" r:id="rId9"/>
    <p:sldLayoutId id="2147483652" r:id="rId10"/>
    <p:sldLayoutId id="2147483666" r:id="rId11"/>
    <p:sldLayoutId id="2147483658" r:id="rId12"/>
    <p:sldLayoutId id="2147483654" r:id="rId13"/>
    <p:sldLayoutId id="2147483655" r:id="rId14"/>
    <p:sldLayoutId id="2147483656" r:id="rId15"/>
    <p:sldLayoutId id="2147483657" r:id="rId16"/>
  </p:sldLayoutIdLst>
  <p:hf hdr="0" dt="0"/>
  <p:txStyles>
    <p:titleStyle>
      <a:lvl1pPr algn="l" defTabSz="914400" rtl="0" eaLnBrk="1" latinLnBrk="0" hangingPunct="1">
        <a:lnSpc>
          <a:spcPct val="80000"/>
        </a:lnSpc>
        <a:spcBef>
          <a:spcPct val="0"/>
        </a:spcBef>
        <a:buNone/>
        <a:defRPr sz="4400" kern="1200" cap="all" baseline="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5.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4.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3.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4.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3.xml" /></Relationships>
</file>

<file path=ppt/slides/_rels/slide1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14.xml" /></Relationships>
</file>

<file path=ppt/slides/_rels/slide2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14.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14.xml" /></Relationships>
</file>

<file path=ppt/slides/_rels/slide23.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14.xml" /></Relationships>
</file>

<file path=ppt/slides/_rels/slide24.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14.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3.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4.xml" /></Relationships>
</file>

<file path=ppt/slides/_rels/slide28.xml.rels><?xml version="1.0" encoding="UTF-8" standalone="yes"?>
<Relationships xmlns="http://schemas.openxmlformats.org/package/2006/relationships"><Relationship Id="rId3" Type="http://schemas.openxmlformats.org/officeDocument/2006/relationships/hyperlink" Target="https://www.researchgate.net/publication/384122887_A_Comprehensive_Review_of_Deepfake_and_its_Detection_Techniques" TargetMode="External" /><Relationship Id="rId2" Type="http://schemas.openxmlformats.org/officeDocument/2006/relationships/hyperlink" Target="https://arxiv.org/abs/2208.00788" TargetMode="External"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04B07C7A-8E1D-7BF7-31C8-5C68C6D2F9CF}"/>
              </a:ext>
            </a:extLst>
          </p:cNvPr>
          <p:cNvSpPr>
            <a:spLocks noGrp="1"/>
          </p:cNvSpPr>
          <p:nvPr>
            <p:ph type="ctrTitle"/>
          </p:nvPr>
        </p:nvSpPr>
        <p:spPr>
          <a:xfrm>
            <a:off x="777436" y="237614"/>
            <a:ext cx="10637128" cy="2387600"/>
          </a:xfrm>
        </p:spPr>
        <p:txBody>
          <a:bodyPr>
            <a:noAutofit/>
          </a:bodyPr>
          <a:lstStyle/>
          <a:p>
            <a:pPr algn="ctr"/>
            <a:r>
              <a:rPr lang="en-US" b="1" cap="none" dirty="0">
                <a:latin typeface="Calibri" panose="020F0502020204030204" pitchFamily="34" charset="0"/>
                <a:cs typeface="Calibri" panose="020F0502020204030204" pitchFamily="34" charset="0"/>
              </a:rPr>
              <a:t>Statistical detection of deepfake videos and images</a:t>
            </a:r>
          </a:p>
        </p:txBody>
      </p:sp>
      <p:sp>
        <p:nvSpPr>
          <p:cNvPr id="11" name="Subtitle 10">
            <a:extLst>
              <a:ext uri="{FF2B5EF4-FFF2-40B4-BE49-F238E27FC236}">
                <a16:creationId xmlns:a16="http://schemas.microsoft.com/office/drawing/2014/main" id="{EF3A7BFE-9123-98C4-791C-9A3FE773CF97}"/>
              </a:ext>
            </a:extLst>
          </p:cNvPr>
          <p:cNvSpPr>
            <a:spLocks noGrp="1"/>
          </p:cNvSpPr>
          <p:nvPr>
            <p:ph type="subTitle" idx="1"/>
          </p:nvPr>
        </p:nvSpPr>
        <p:spPr>
          <a:xfrm>
            <a:off x="2637503" y="3134033"/>
            <a:ext cx="9293942" cy="1759188"/>
          </a:xfrm>
        </p:spPr>
        <p:txBody>
          <a:bodyPr/>
          <a:lstStyle/>
          <a:p>
            <a:r>
              <a:rPr lang="en-US" sz="3200" u="sng" dirty="0">
                <a:latin typeface="Calibri" panose="020F0502020204030204" pitchFamily="34" charset="0"/>
                <a:cs typeface="Calibri" panose="020F0502020204030204" pitchFamily="34" charset="0"/>
              </a:rPr>
              <a:t>Guided By</a:t>
            </a:r>
            <a:r>
              <a:rPr lang="en-US" sz="3200" dirty="0">
                <a:latin typeface="Calibri" panose="020F0502020204030204" pitchFamily="34" charset="0"/>
                <a:cs typeface="Calibri" panose="020F0502020204030204" pitchFamily="34" charset="0"/>
              </a:rPr>
              <a:t>:- Dr. Gayatri Behere Mam</a:t>
            </a:r>
          </a:p>
          <a:p>
            <a:endParaRPr lang="en-US" dirty="0"/>
          </a:p>
          <a:p>
            <a:pPr algn="ctr">
              <a:lnSpc>
                <a:spcPct val="100000"/>
              </a:lnSpc>
            </a:pPr>
            <a:r>
              <a:rPr lang="en-US" b="0" dirty="0"/>
              <a:t>    </a:t>
            </a:r>
            <a:r>
              <a:rPr lang="en-US" sz="2800" u="sng" dirty="0">
                <a:latin typeface="Calibri" panose="020F0502020204030204" pitchFamily="34" charset="0"/>
                <a:cs typeface="Calibri" panose="020F0502020204030204" pitchFamily="34" charset="0"/>
              </a:rPr>
              <a:t>Presented By</a:t>
            </a:r>
            <a:r>
              <a:rPr lang="en-US" sz="2800" dirty="0">
                <a:latin typeface="Calibri" panose="020F0502020204030204" pitchFamily="34" charset="0"/>
                <a:cs typeface="Calibri" panose="020F0502020204030204" pitchFamily="34" charset="0"/>
              </a:rPr>
              <a:t>:- </a:t>
            </a:r>
          </a:p>
          <a:p>
            <a:pPr>
              <a:lnSpc>
                <a:spcPct val="100000"/>
              </a:lnSpc>
            </a:pPr>
            <a:r>
              <a:rPr lang="en-US" sz="2800" b="0" dirty="0">
                <a:latin typeface="Calibri" panose="020F0502020204030204" pitchFamily="34" charset="0"/>
                <a:cs typeface="Calibri" panose="020F0502020204030204" pitchFamily="34" charset="0"/>
              </a:rPr>
              <a:t>                                             Miss Disha .R. Sojrani</a:t>
            </a:r>
          </a:p>
          <a:p>
            <a:r>
              <a:rPr lang="en-US" sz="2800" b="0" dirty="0">
                <a:latin typeface="Calibri" panose="020F0502020204030204" pitchFamily="34" charset="0"/>
                <a:cs typeface="Calibri" panose="020F0502020204030204" pitchFamily="34" charset="0"/>
              </a:rPr>
              <a:t>                                             </a:t>
            </a:r>
            <a:r>
              <a:rPr lang="en-US" b="0" dirty="0"/>
              <a:t>M.Sc. Sem III, </a:t>
            </a:r>
            <a:endParaRPr lang="en-US" sz="2800" b="0" dirty="0"/>
          </a:p>
          <a:p>
            <a:r>
              <a:rPr lang="en-US" b="0" dirty="0"/>
              <a:t>                                           Department of Statistics </a:t>
            </a:r>
            <a:endParaRPr lang="en-US" sz="2800" b="0" dirty="0"/>
          </a:p>
          <a:p>
            <a:r>
              <a:rPr lang="en-US" b="0" dirty="0"/>
              <a:t>                                           Institute of Science, Nagpur</a:t>
            </a:r>
            <a:endParaRPr lang="en-US" sz="2800" b="0" dirty="0">
              <a:latin typeface="Calibri" panose="020F0502020204030204" pitchFamily="34" charset="0"/>
              <a:cs typeface="Calibri" panose="020F0502020204030204" pitchFamily="34" charset="0"/>
            </a:endParaRPr>
          </a:p>
          <a:p>
            <a:r>
              <a:rPr lang="en-US" b="0" dirty="0"/>
              <a:t>                             </a:t>
            </a:r>
            <a:endParaRPr lang="en-PK" b="0" dirty="0"/>
          </a:p>
        </p:txBody>
      </p:sp>
    </p:spTree>
    <p:extLst>
      <p:ext uri="{BB962C8B-B14F-4D97-AF65-F5344CB8AC3E}">
        <p14:creationId xmlns:p14="http://schemas.microsoft.com/office/powerpoint/2010/main" val="286310394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1000"/>
                                        <p:tgtEl>
                                          <p:spTgt spid="11">
                                            <p:txEl>
                                              <p:pRg st="0" end="0"/>
                                            </p:txEl>
                                          </p:spTgt>
                                        </p:tgtEl>
                                      </p:cBhvr>
                                    </p:animEffect>
                                    <p:anim calcmode="lin" valueType="num">
                                      <p:cBhvr>
                                        <p:cTn id="14"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animEffect transition="in" filter="fade">
                                      <p:cBhvr>
                                        <p:cTn id="18" dur="1000"/>
                                        <p:tgtEl>
                                          <p:spTgt spid="11">
                                            <p:txEl>
                                              <p:pRg st="2" end="2"/>
                                            </p:txEl>
                                          </p:spTgt>
                                        </p:tgtEl>
                                      </p:cBhvr>
                                    </p:animEffect>
                                    <p:anim calcmode="lin" valueType="num">
                                      <p:cBhvr>
                                        <p:cTn id="19"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11">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11">
                                            <p:txEl>
                                              <p:pRg st="3" end="3"/>
                                            </p:txEl>
                                          </p:spTgt>
                                        </p:tgtEl>
                                        <p:attrNameLst>
                                          <p:attrName>style.visibility</p:attrName>
                                        </p:attrNameLst>
                                      </p:cBhvr>
                                      <p:to>
                                        <p:strVal val="visible"/>
                                      </p:to>
                                    </p:set>
                                    <p:animEffect transition="in" filter="fade">
                                      <p:cBhvr>
                                        <p:cTn id="23" dur="1000"/>
                                        <p:tgtEl>
                                          <p:spTgt spid="11">
                                            <p:txEl>
                                              <p:pRg st="3" end="3"/>
                                            </p:txEl>
                                          </p:spTgt>
                                        </p:tgtEl>
                                      </p:cBhvr>
                                    </p:animEffect>
                                    <p:anim calcmode="lin" valueType="num">
                                      <p:cBhvr>
                                        <p:cTn id="24"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11">
                                            <p:txEl>
                                              <p:pRg st="3" end="3"/>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1">
                                            <p:txEl>
                                              <p:pRg st="4" end="4"/>
                                            </p:txEl>
                                          </p:spTgt>
                                        </p:tgtEl>
                                        <p:attrNameLst>
                                          <p:attrName>style.visibility</p:attrName>
                                        </p:attrNameLst>
                                      </p:cBhvr>
                                      <p:to>
                                        <p:strVal val="visible"/>
                                      </p:to>
                                    </p:set>
                                    <p:animEffect transition="in" filter="fade">
                                      <p:cBhvr>
                                        <p:cTn id="28" dur="1000"/>
                                        <p:tgtEl>
                                          <p:spTgt spid="11">
                                            <p:txEl>
                                              <p:pRg st="4" end="4"/>
                                            </p:txEl>
                                          </p:spTgt>
                                        </p:tgtEl>
                                      </p:cBhvr>
                                    </p:animEffect>
                                    <p:anim calcmode="lin" valueType="num">
                                      <p:cBhvr>
                                        <p:cTn id="29"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1">
                                            <p:txEl>
                                              <p:pRg st="4" end="4"/>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11">
                                            <p:txEl>
                                              <p:pRg st="5" end="5"/>
                                            </p:txEl>
                                          </p:spTgt>
                                        </p:tgtEl>
                                        <p:attrNameLst>
                                          <p:attrName>style.visibility</p:attrName>
                                        </p:attrNameLst>
                                      </p:cBhvr>
                                      <p:to>
                                        <p:strVal val="visible"/>
                                      </p:to>
                                    </p:set>
                                    <p:animEffect transition="in" filter="fade">
                                      <p:cBhvr>
                                        <p:cTn id="33" dur="1000"/>
                                        <p:tgtEl>
                                          <p:spTgt spid="11">
                                            <p:txEl>
                                              <p:pRg st="5" end="5"/>
                                            </p:txEl>
                                          </p:spTgt>
                                        </p:tgtEl>
                                      </p:cBhvr>
                                    </p:animEffect>
                                    <p:anim calcmode="lin" valueType="num">
                                      <p:cBhvr>
                                        <p:cTn id="34"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11">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11">
                                            <p:txEl>
                                              <p:pRg st="6" end="6"/>
                                            </p:txEl>
                                          </p:spTgt>
                                        </p:tgtEl>
                                        <p:attrNameLst>
                                          <p:attrName>style.visibility</p:attrName>
                                        </p:attrNameLst>
                                      </p:cBhvr>
                                      <p:to>
                                        <p:strVal val="visible"/>
                                      </p:to>
                                    </p:set>
                                    <p:animEffect transition="in" filter="fade">
                                      <p:cBhvr>
                                        <p:cTn id="38" dur="1000"/>
                                        <p:tgtEl>
                                          <p:spTgt spid="11">
                                            <p:txEl>
                                              <p:pRg st="6" end="6"/>
                                            </p:txEl>
                                          </p:spTgt>
                                        </p:tgtEl>
                                      </p:cBhvr>
                                    </p:animEffect>
                                    <p:anim calcmode="lin" valueType="num">
                                      <p:cBhvr>
                                        <p:cTn id="39"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11">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1">
                                            <p:txEl>
                                              <p:pRg st="7" end="7"/>
                                            </p:txEl>
                                          </p:spTgt>
                                        </p:tgtEl>
                                        <p:attrNameLst>
                                          <p:attrName>style.visibility</p:attrName>
                                        </p:attrNameLst>
                                      </p:cBhvr>
                                      <p:to>
                                        <p:strVal val="visible"/>
                                      </p:to>
                                    </p:set>
                                    <p:animEffect transition="in" filter="fade">
                                      <p:cBhvr>
                                        <p:cTn id="43" dur="1000"/>
                                        <p:tgtEl>
                                          <p:spTgt spid="11">
                                            <p:txEl>
                                              <p:pRg st="7" end="7"/>
                                            </p:txEl>
                                          </p:spTgt>
                                        </p:tgtEl>
                                      </p:cBhvr>
                                    </p:animEffect>
                                    <p:anim calcmode="lin" valueType="num">
                                      <p:cBhvr>
                                        <p:cTn id="44" dur="100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1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103A-7E0F-A503-491C-874CA2A16BC0}"/>
              </a:ext>
            </a:extLst>
          </p:cNvPr>
          <p:cNvSpPr>
            <a:spLocks noGrp="1"/>
          </p:cNvSpPr>
          <p:nvPr>
            <p:ph type="title"/>
          </p:nvPr>
        </p:nvSpPr>
        <p:spPr>
          <a:xfrm>
            <a:off x="2213663" y="1352031"/>
            <a:ext cx="7498080" cy="704088"/>
          </a:xfrm>
        </p:spPr>
        <p:txBody>
          <a:bodyPr/>
          <a:lstStyle/>
          <a:p>
            <a:pPr algn="ctr"/>
            <a:r>
              <a:rPr lang="en-US" sz="7200" b="1" dirty="0">
                <a:latin typeface="Bahnschrift" panose="020B0502040204020203" pitchFamily="34" charset="0"/>
              </a:rPr>
              <a:t>content</a:t>
            </a:r>
            <a:endParaRPr lang="en-US" b="1" dirty="0">
              <a:latin typeface="Bahnschrift" panose="020B0502040204020203" pitchFamily="34" charset="0"/>
            </a:endParaRPr>
          </a:p>
        </p:txBody>
      </p:sp>
      <p:sp>
        <p:nvSpPr>
          <p:cNvPr id="4" name="Slide Number Placeholder 3">
            <a:extLst>
              <a:ext uri="{FF2B5EF4-FFF2-40B4-BE49-F238E27FC236}">
                <a16:creationId xmlns:a16="http://schemas.microsoft.com/office/drawing/2014/main" id="{C0B85CC1-CC9E-26A5-C05A-E64ABEDD931D}"/>
              </a:ext>
            </a:extLst>
          </p:cNvPr>
          <p:cNvSpPr>
            <a:spLocks noGrp="1"/>
          </p:cNvSpPr>
          <p:nvPr>
            <p:ph type="sldNum" sz="quarter" idx="12"/>
          </p:nvPr>
        </p:nvSpPr>
        <p:spPr/>
        <p:txBody>
          <a:bodyPr/>
          <a:lstStyle/>
          <a:p>
            <a:fld id="{5BFCF61C-3B18-4C03-8326-CC3B32D710C9}" type="slidenum">
              <a:rPr lang="en-US" smtClean="0"/>
              <a:pPr/>
              <a:t>2</a:t>
            </a:fld>
            <a:endParaRPr lang="en-US"/>
          </a:p>
        </p:txBody>
      </p:sp>
      <p:sp>
        <p:nvSpPr>
          <p:cNvPr id="5" name="Content Placeholder 4">
            <a:extLst>
              <a:ext uri="{FF2B5EF4-FFF2-40B4-BE49-F238E27FC236}">
                <a16:creationId xmlns:a16="http://schemas.microsoft.com/office/drawing/2014/main" id="{DA7A49E4-DCE3-62DE-B6D1-539EBFFFE689}"/>
              </a:ext>
            </a:extLst>
          </p:cNvPr>
          <p:cNvSpPr>
            <a:spLocks noGrp="1"/>
          </p:cNvSpPr>
          <p:nvPr>
            <p:ph idx="1"/>
          </p:nvPr>
        </p:nvSpPr>
        <p:spPr/>
        <p:txBody>
          <a:bodyPr/>
          <a:lstStyle/>
          <a:p>
            <a:endParaRPr lang="en-US" dirty="0"/>
          </a:p>
          <a:p>
            <a:endParaRPr lang="en-US" dirty="0"/>
          </a:p>
        </p:txBody>
      </p:sp>
      <p:sp>
        <p:nvSpPr>
          <p:cNvPr id="6" name="TextBox 5">
            <a:extLst>
              <a:ext uri="{FF2B5EF4-FFF2-40B4-BE49-F238E27FC236}">
                <a16:creationId xmlns:a16="http://schemas.microsoft.com/office/drawing/2014/main" id="{76FF4805-FB59-DB6D-9BF8-6701239F5336}"/>
              </a:ext>
            </a:extLst>
          </p:cNvPr>
          <p:cNvSpPr txBox="1"/>
          <p:nvPr/>
        </p:nvSpPr>
        <p:spPr>
          <a:xfrm>
            <a:off x="2516407" y="2832078"/>
            <a:ext cx="9180671" cy="3539430"/>
          </a:xfrm>
          <a:prstGeom prst="rect">
            <a:avLst/>
          </a:prstGeom>
          <a:noFill/>
        </p:spPr>
        <p:txBody>
          <a:bodyPr wrap="square" rtlCol="0">
            <a:spAutoFit/>
          </a:bodyPr>
          <a:lstStyle/>
          <a:p>
            <a:pPr marL="285750" indent="-285750">
              <a:buFont typeface="Wingdings" panose="05000000000000000000" pitchFamily="2" charset="2"/>
              <a:buChar char="v"/>
            </a:pPr>
            <a:r>
              <a:rPr lang="en-US" sz="3200" dirty="0">
                <a:latin typeface="Calibri" panose="020F0502020204030204" pitchFamily="34" charset="0"/>
                <a:cs typeface="Calibri" panose="020F0502020204030204" pitchFamily="34" charset="0"/>
              </a:rPr>
              <a:t>Introduction</a:t>
            </a:r>
          </a:p>
          <a:p>
            <a:pPr marL="285750" indent="-285750">
              <a:buFont typeface="Wingdings" panose="05000000000000000000" pitchFamily="2" charset="2"/>
              <a:buChar char="v"/>
            </a:pPr>
            <a:r>
              <a:rPr lang="en-US" sz="3200" dirty="0">
                <a:latin typeface="Calibri" panose="020F0502020204030204" pitchFamily="34" charset="0"/>
                <a:cs typeface="Calibri" panose="020F0502020204030204" pitchFamily="34" charset="0"/>
              </a:rPr>
              <a:t>Primary Goal</a:t>
            </a:r>
          </a:p>
          <a:p>
            <a:pPr marL="285750" indent="-285750">
              <a:buFont typeface="Wingdings" panose="05000000000000000000" pitchFamily="2" charset="2"/>
              <a:buChar char="v"/>
            </a:pPr>
            <a:r>
              <a:rPr lang="en-US" sz="3200" dirty="0">
                <a:latin typeface="Calibri" panose="020F0502020204030204" pitchFamily="34" charset="0"/>
                <a:cs typeface="Calibri" panose="020F0502020204030204" pitchFamily="34" charset="0"/>
              </a:rPr>
              <a:t>Objectives</a:t>
            </a:r>
          </a:p>
          <a:p>
            <a:pPr marL="285750" indent="-285750">
              <a:buFont typeface="Wingdings" panose="05000000000000000000" pitchFamily="2" charset="2"/>
              <a:buChar char="v"/>
            </a:pPr>
            <a:r>
              <a:rPr lang="en-US" sz="3200" dirty="0">
                <a:latin typeface="Calibri" panose="020F0502020204030204" pitchFamily="34" charset="0"/>
                <a:ea typeface="Calibri" panose="020F0502020204030204" pitchFamily="34" charset="0"/>
                <a:cs typeface="Calibri" panose="020F0502020204030204" pitchFamily="34" charset="0"/>
              </a:rPr>
              <a:t>Algorithm Steps</a:t>
            </a:r>
          </a:p>
          <a:p>
            <a:pPr marL="285750" indent="-285750">
              <a:buFont typeface="Wingdings" panose="05000000000000000000" pitchFamily="2" charset="2"/>
              <a:buChar char="v"/>
            </a:pPr>
            <a:r>
              <a:rPr lang="en-US" sz="3200" dirty="0">
                <a:latin typeface="Calibri" panose="020F0502020204030204" pitchFamily="34" charset="0"/>
                <a:ea typeface="Calibri" panose="020F0502020204030204" pitchFamily="34" charset="0"/>
                <a:cs typeface="Calibri" panose="020F0502020204030204" pitchFamily="34" charset="0"/>
              </a:rPr>
              <a:t>Data Analysis using Statistical Tools</a:t>
            </a:r>
          </a:p>
          <a:p>
            <a:pPr marL="285750" indent="-285750">
              <a:buFont typeface="Wingdings" panose="05000000000000000000" pitchFamily="2" charset="2"/>
              <a:buChar char="v"/>
            </a:pPr>
            <a:r>
              <a:rPr lang="en-US" sz="3200" dirty="0">
                <a:latin typeface="Calibri" panose="020F0502020204030204" pitchFamily="34" charset="0"/>
                <a:cs typeface="Calibri" panose="020F0502020204030204" pitchFamily="34" charset="0"/>
              </a:rPr>
              <a:t>Conclusion</a:t>
            </a:r>
          </a:p>
          <a:p>
            <a:pPr marL="285750" indent="-285750">
              <a:buFont typeface="Wingdings" panose="05000000000000000000" pitchFamily="2" charset="2"/>
              <a:buChar char="v"/>
            </a:pPr>
            <a:r>
              <a:rPr lang="en-US" sz="3200" dirty="0">
                <a:latin typeface="Calibri" panose="020F0502020204030204" pitchFamily="34" charset="0"/>
                <a:cs typeface="Calibri" panose="020F0502020204030204" pitchFamily="34" charset="0"/>
              </a:rPr>
              <a:t>References</a:t>
            </a: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5179346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393CE-9363-72CB-FD40-73A65C0DCC57}"/>
              </a:ext>
            </a:extLst>
          </p:cNvPr>
          <p:cNvSpPr>
            <a:spLocks noGrp="1"/>
          </p:cNvSpPr>
          <p:nvPr>
            <p:ph type="title"/>
          </p:nvPr>
        </p:nvSpPr>
        <p:spPr>
          <a:xfrm>
            <a:off x="0" y="1901202"/>
            <a:ext cx="5193164" cy="1928851"/>
          </a:xfrm>
        </p:spPr>
        <p:txBody>
          <a:bodyPr/>
          <a:lstStyle/>
          <a:p>
            <a:r>
              <a:rPr lang="en-US" sz="5400" b="1" dirty="0">
                <a:latin typeface="Bahnschrift" panose="020B0502040204020203" pitchFamily="34" charset="0"/>
              </a:rPr>
              <a:t>introduction</a:t>
            </a:r>
            <a:br>
              <a:rPr lang="en-US" sz="4000" b="1" dirty="0"/>
            </a:br>
            <a:endParaRPr lang="en-US" sz="4000" b="1" dirty="0"/>
          </a:p>
        </p:txBody>
      </p:sp>
      <p:sp>
        <p:nvSpPr>
          <p:cNvPr id="13" name="Slide Number Placeholder 12">
            <a:extLst>
              <a:ext uri="{FF2B5EF4-FFF2-40B4-BE49-F238E27FC236}">
                <a16:creationId xmlns:a16="http://schemas.microsoft.com/office/drawing/2014/main" id="{CB0BAE21-4E4A-BE6E-EE84-D535446B94CD}"/>
              </a:ext>
            </a:extLst>
          </p:cNvPr>
          <p:cNvSpPr>
            <a:spLocks noGrp="1"/>
          </p:cNvSpPr>
          <p:nvPr>
            <p:ph type="sldNum" sz="quarter" idx="12"/>
          </p:nvPr>
        </p:nvSpPr>
        <p:spPr/>
        <p:txBody>
          <a:bodyPr/>
          <a:lstStyle/>
          <a:p>
            <a:fld id="{5BFCF61C-3B18-4C03-8326-CC3B32D710C9}" type="slidenum">
              <a:rPr lang="en-US" smtClean="0"/>
              <a:pPr/>
              <a:t>3</a:t>
            </a:fld>
            <a:endParaRPr lang="en-US"/>
          </a:p>
        </p:txBody>
      </p:sp>
      <p:sp>
        <p:nvSpPr>
          <p:cNvPr id="8" name="Text Placeholder 7">
            <a:extLst>
              <a:ext uri="{FF2B5EF4-FFF2-40B4-BE49-F238E27FC236}">
                <a16:creationId xmlns:a16="http://schemas.microsoft.com/office/drawing/2014/main" id="{C7514340-E56D-CF28-C9CA-1C1B1B6FD7C4}"/>
              </a:ext>
            </a:extLst>
          </p:cNvPr>
          <p:cNvSpPr>
            <a:spLocks noGrp="1"/>
          </p:cNvSpPr>
          <p:nvPr>
            <p:ph type="body" sz="quarter" idx="15"/>
          </p:nvPr>
        </p:nvSpPr>
        <p:spPr>
          <a:xfrm>
            <a:off x="4475748" y="219456"/>
            <a:ext cx="7496476" cy="6419088"/>
          </a:xfrm>
        </p:spPr>
        <p:txBody>
          <a:bodyPr/>
          <a:lstStyle/>
          <a:p>
            <a:pPr>
              <a:lnSpc>
                <a:spcPct val="100000"/>
              </a:lnSpc>
              <a:spcBef>
                <a:spcPts val="200"/>
              </a:spcBef>
              <a:spcAft>
                <a:spcPts val="200"/>
              </a:spcAft>
              <a:buFont typeface="Wingdings" panose="05000000000000000000" pitchFamily="2" charset="2"/>
              <a:buChar char="q"/>
            </a:pPr>
            <a:r>
              <a:rPr lang="en-GB" sz="1800" dirty="0">
                <a:solidFill>
                  <a:schemeClr val="tx1"/>
                </a:solidFill>
                <a:latin typeface="Calibri" panose="020F0502020204030204" pitchFamily="34" charset="0"/>
                <a:cs typeface="Calibri" panose="020F0502020204030204" pitchFamily="34" charset="0"/>
              </a:rPr>
              <a:t>Deepfakes—</a:t>
            </a:r>
            <a:r>
              <a:rPr lang="en-GB" sz="1800" b="1" dirty="0">
                <a:solidFill>
                  <a:schemeClr val="tx1"/>
                </a:solidFill>
                <a:latin typeface="Calibri" panose="020F0502020204030204" pitchFamily="34" charset="0"/>
                <a:cs typeface="Calibri" panose="020F0502020204030204" pitchFamily="34" charset="0"/>
              </a:rPr>
              <a:t>AI-generated or AI-manipulated images and videos</a:t>
            </a:r>
            <a:r>
              <a:rPr lang="en-GB" sz="1800" dirty="0">
                <a:solidFill>
                  <a:schemeClr val="tx1"/>
                </a:solidFill>
                <a:latin typeface="Calibri" panose="020F0502020204030204" pitchFamily="34" charset="0"/>
                <a:cs typeface="Calibri" panose="020F0502020204030204" pitchFamily="34" charset="0"/>
              </a:rPr>
              <a:t>—have become a serious threat to online trust and digital security. With advanced generative models, malicious actors can produce highly realistic media that is often indistinguishable from authentic content.</a:t>
            </a:r>
          </a:p>
          <a:p>
            <a:pPr>
              <a:lnSpc>
                <a:spcPct val="100000"/>
              </a:lnSpc>
              <a:spcBef>
                <a:spcPts val="200"/>
              </a:spcBef>
              <a:spcAft>
                <a:spcPts val="200"/>
              </a:spcAft>
              <a:buFont typeface="Wingdings" panose="05000000000000000000" pitchFamily="2" charset="2"/>
              <a:buChar char="q"/>
            </a:pPr>
            <a:r>
              <a:rPr lang="en-GB" sz="1800" dirty="0">
                <a:solidFill>
                  <a:schemeClr val="tx1"/>
                </a:solidFill>
                <a:latin typeface="Calibri" panose="020F0502020204030204" pitchFamily="34" charset="0"/>
                <a:cs typeface="Calibri" panose="020F0502020204030204" pitchFamily="34" charset="0"/>
              </a:rPr>
              <a:t>This project focuses on the </a:t>
            </a:r>
            <a:r>
              <a:rPr lang="en-GB" sz="1800" b="1" dirty="0">
                <a:solidFill>
                  <a:schemeClr val="tx1"/>
                </a:solidFill>
                <a:latin typeface="Calibri" panose="020F0502020204030204" pitchFamily="34" charset="0"/>
                <a:cs typeface="Calibri" panose="020F0502020204030204" pitchFamily="34" charset="0"/>
              </a:rPr>
              <a:t>statistical detection of deepfake videos and images</a:t>
            </a:r>
            <a:r>
              <a:rPr lang="en-GB" sz="1800" dirty="0">
                <a:solidFill>
                  <a:schemeClr val="tx1"/>
                </a:solidFill>
                <a:latin typeface="Calibri" panose="020F0502020204030204" pitchFamily="34" charset="0"/>
                <a:cs typeface="Calibri" panose="020F0502020204030204" pitchFamily="34" charset="0"/>
              </a:rPr>
              <a:t> using machine learning, combining classical signal-processing techniques with modern learning-based approaches to achieve reliable and scalable detection.</a:t>
            </a:r>
          </a:p>
          <a:p>
            <a:pPr>
              <a:lnSpc>
                <a:spcPct val="100000"/>
              </a:lnSpc>
              <a:spcBef>
                <a:spcPts val="200"/>
              </a:spcBef>
              <a:spcAft>
                <a:spcPts val="200"/>
              </a:spcAft>
              <a:buFont typeface="Wingdings" panose="05000000000000000000" pitchFamily="2" charset="2"/>
              <a:buChar char="q"/>
            </a:pPr>
            <a:r>
              <a:rPr lang="en-GB" sz="1800" dirty="0">
                <a:solidFill>
                  <a:schemeClr val="tx1"/>
                </a:solidFill>
                <a:latin typeface="Calibri" panose="020F0502020204030204" pitchFamily="34" charset="0"/>
                <a:cs typeface="Calibri" panose="020F0502020204030204" pitchFamily="34" charset="0"/>
              </a:rPr>
              <a:t>The study explores how </a:t>
            </a:r>
            <a:r>
              <a:rPr lang="en-GB" sz="1800" b="1" dirty="0">
                <a:solidFill>
                  <a:schemeClr val="tx1"/>
                </a:solidFill>
                <a:latin typeface="Calibri" panose="020F0502020204030204" pitchFamily="34" charset="0"/>
                <a:cs typeface="Calibri" panose="020F0502020204030204" pitchFamily="34" charset="0"/>
              </a:rPr>
              <a:t>statistical artifacts differ between real and manipulated media</a:t>
            </a:r>
            <a:r>
              <a:rPr lang="en-GB" sz="1800" dirty="0">
                <a:solidFill>
                  <a:schemeClr val="tx1"/>
                </a:solidFill>
                <a:latin typeface="Calibri" panose="020F0502020204030204" pitchFamily="34" charset="0"/>
                <a:cs typeface="Calibri" panose="020F0502020204030204" pitchFamily="34" charset="0"/>
              </a:rPr>
              <a:t>, by analyzing:</a:t>
            </a:r>
          </a:p>
          <a:p>
            <a:pPr>
              <a:spcBef>
                <a:spcPts val="200"/>
              </a:spcBef>
              <a:spcAft>
                <a:spcPts val="200"/>
              </a:spcAft>
            </a:pPr>
            <a:r>
              <a:rPr lang="en-GB" sz="1800" b="1" dirty="0">
                <a:solidFill>
                  <a:schemeClr val="tx1"/>
                </a:solidFill>
                <a:latin typeface="Calibri" panose="020F0502020204030204" pitchFamily="34" charset="0"/>
                <a:cs typeface="Calibri" panose="020F0502020204030204" pitchFamily="34" charset="0"/>
              </a:rPr>
              <a:t>Noise residuals</a:t>
            </a:r>
            <a:endParaRPr lang="en-GB" sz="1800" dirty="0">
              <a:solidFill>
                <a:schemeClr val="tx1"/>
              </a:solidFill>
              <a:latin typeface="Calibri" panose="020F0502020204030204" pitchFamily="34" charset="0"/>
              <a:cs typeface="Calibri" panose="020F0502020204030204" pitchFamily="34" charset="0"/>
            </a:endParaRPr>
          </a:p>
          <a:p>
            <a:pPr>
              <a:spcBef>
                <a:spcPts val="200"/>
              </a:spcBef>
              <a:spcAft>
                <a:spcPts val="200"/>
              </a:spcAft>
            </a:pPr>
            <a:r>
              <a:rPr lang="en-GB" sz="1800" b="1" dirty="0">
                <a:solidFill>
                  <a:schemeClr val="tx1"/>
                </a:solidFill>
                <a:latin typeface="Calibri" panose="020F0502020204030204" pitchFamily="34" charset="0"/>
                <a:cs typeface="Calibri" panose="020F0502020204030204" pitchFamily="34" charset="0"/>
              </a:rPr>
              <a:t>Frequency-domain patterns</a:t>
            </a:r>
            <a:r>
              <a:rPr lang="en-GB" sz="1800" dirty="0">
                <a:solidFill>
                  <a:schemeClr val="tx1"/>
                </a:solidFill>
                <a:latin typeface="Calibri" panose="020F0502020204030204" pitchFamily="34" charset="0"/>
                <a:cs typeface="Calibri" panose="020F0502020204030204" pitchFamily="34" charset="0"/>
              </a:rPr>
              <a:t> (DCT/FFT)</a:t>
            </a:r>
          </a:p>
          <a:p>
            <a:pPr>
              <a:spcBef>
                <a:spcPts val="200"/>
              </a:spcBef>
              <a:spcAft>
                <a:spcPts val="200"/>
              </a:spcAft>
            </a:pPr>
            <a:r>
              <a:rPr lang="en-GB" sz="1800" b="1" dirty="0">
                <a:solidFill>
                  <a:schemeClr val="tx1"/>
                </a:solidFill>
                <a:latin typeface="Calibri" panose="020F0502020204030204" pitchFamily="34" charset="0"/>
                <a:cs typeface="Calibri" panose="020F0502020204030204" pitchFamily="34" charset="0"/>
              </a:rPr>
              <a:t>Color channel inconsistencies</a:t>
            </a:r>
            <a:endParaRPr lang="en-GB" sz="1800" dirty="0">
              <a:solidFill>
                <a:schemeClr val="tx1"/>
              </a:solidFill>
              <a:latin typeface="Calibri" panose="020F0502020204030204" pitchFamily="34" charset="0"/>
              <a:cs typeface="Calibri" panose="020F0502020204030204" pitchFamily="34" charset="0"/>
            </a:endParaRPr>
          </a:p>
          <a:p>
            <a:pPr>
              <a:spcBef>
                <a:spcPts val="200"/>
              </a:spcBef>
              <a:spcAft>
                <a:spcPts val="200"/>
              </a:spcAft>
            </a:pPr>
            <a:r>
              <a:rPr lang="en-GB" sz="1800" b="1" dirty="0">
                <a:solidFill>
                  <a:schemeClr val="tx1"/>
                </a:solidFill>
                <a:latin typeface="Calibri" panose="020F0502020204030204" pitchFamily="34" charset="0"/>
                <a:cs typeface="Calibri" panose="020F0502020204030204" pitchFamily="34" charset="0"/>
              </a:rPr>
              <a:t>Compression signatures</a:t>
            </a:r>
            <a:endParaRPr lang="en-GB" sz="1800" dirty="0">
              <a:solidFill>
                <a:schemeClr val="tx1"/>
              </a:solidFill>
              <a:latin typeface="Calibri" panose="020F0502020204030204" pitchFamily="34" charset="0"/>
              <a:cs typeface="Calibri" panose="020F0502020204030204" pitchFamily="34" charset="0"/>
            </a:endParaRPr>
          </a:p>
          <a:p>
            <a:pPr>
              <a:spcBef>
                <a:spcPts val="200"/>
              </a:spcBef>
              <a:spcAft>
                <a:spcPts val="200"/>
              </a:spcAft>
            </a:pPr>
            <a:r>
              <a:rPr lang="en-GB" sz="1800" b="1" dirty="0">
                <a:solidFill>
                  <a:schemeClr val="tx1"/>
                </a:solidFill>
                <a:latin typeface="Calibri" panose="020F0502020204030204" pitchFamily="34" charset="0"/>
                <a:cs typeface="Calibri" panose="020F0502020204030204" pitchFamily="34" charset="0"/>
              </a:rPr>
              <a:t>Temporal cues</a:t>
            </a:r>
            <a:r>
              <a:rPr lang="en-GB" sz="1800" dirty="0">
                <a:solidFill>
                  <a:schemeClr val="tx1"/>
                </a:solidFill>
                <a:latin typeface="Calibri" panose="020F0502020204030204" pitchFamily="34" charset="0"/>
                <a:cs typeface="Calibri" panose="020F0502020204030204" pitchFamily="34" charset="0"/>
              </a:rPr>
              <a:t> (eye-blink rate, lip-sync mismatch)</a:t>
            </a:r>
          </a:p>
          <a:p>
            <a:pPr>
              <a:spcBef>
                <a:spcPts val="200"/>
              </a:spcBef>
              <a:spcAft>
                <a:spcPts val="200"/>
              </a:spcAft>
            </a:pPr>
            <a:r>
              <a:rPr lang="en-GB" sz="1800" b="1" dirty="0">
                <a:solidFill>
                  <a:schemeClr val="tx1"/>
                </a:solidFill>
                <a:latin typeface="Calibri" panose="020F0502020204030204" pitchFamily="34" charset="0"/>
                <a:cs typeface="Calibri" panose="020F0502020204030204" pitchFamily="34" charset="0"/>
              </a:rPr>
              <a:t>Physiological/geometry cues</a:t>
            </a:r>
            <a:r>
              <a:rPr lang="en-GB" sz="1800" dirty="0">
                <a:solidFill>
                  <a:schemeClr val="tx1"/>
                </a:solidFill>
                <a:latin typeface="Calibri" panose="020F0502020204030204" pitchFamily="34" charset="0"/>
                <a:cs typeface="Calibri" panose="020F0502020204030204" pitchFamily="34" charset="0"/>
              </a:rPr>
              <a:t> (head-pose, lighting, specular highlights)</a:t>
            </a:r>
          </a:p>
          <a:p>
            <a:pPr>
              <a:lnSpc>
                <a:spcPct val="100000"/>
              </a:lnSpc>
              <a:spcBef>
                <a:spcPts val="200"/>
              </a:spcBef>
              <a:spcAft>
                <a:spcPts val="200"/>
              </a:spcAft>
              <a:buFont typeface="Wingdings" panose="05000000000000000000" pitchFamily="2" charset="2"/>
              <a:buChar char="q"/>
            </a:pPr>
            <a:r>
              <a:rPr lang="en-GB" sz="1800" dirty="0">
                <a:solidFill>
                  <a:schemeClr val="tx1"/>
                </a:solidFill>
                <a:latin typeface="Calibri" panose="020F0502020204030204" pitchFamily="34" charset="0"/>
                <a:cs typeface="Calibri" panose="020F0502020204030204" pitchFamily="34" charset="0"/>
              </a:rPr>
              <a:t>These features are integrated into machine learning pipelines—ranging from </a:t>
            </a:r>
            <a:r>
              <a:rPr lang="en-GB" sz="1800" b="1" dirty="0">
                <a:solidFill>
                  <a:schemeClr val="tx1"/>
                </a:solidFill>
                <a:latin typeface="Calibri" panose="020F0502020204030204" pitchFamily="34" charset="0"/>
                <a:cs typeface="Calibri" panose="020F0502020204030204" pitchFamily="34" charset="0"/>
              </a:rPr>
              <a:t>traditional classifiers to deep neural networks</a:t>
            </a:r>
            <a:r>
              <a:rPr lang="en-GB" sz="1800" dirty="0">
                <a:solidFill>
                  <a:schemeClr val="tx1"/>
                </a:solidFill>
                <a:latin typeface="Calibri" panose="020F0502020204030204" pitchFamily="34" charset="0"/>
                <a:cs typeface="Calibri" panose="020F0502020204030204" pitchFamily="34" charset="0"/>
              </a:rPr>
              <a:t>—to establish robust decision boundaries for detecting forgery.</a:t>
            </a:r>
          </a:p>
          <a:p>
            <a:endParaRPr lang="en-IN" dirty="0"/>
          </a:p>
        </p:txBody>
      </p:sp>
    </p:spTree>
    <p:extLst>
      <p:ext uri="{BB962C8B-B14F-4D97-AF65-F5344CB8AC3E}">
        <p14:creationId xmlns:p14="http://schemas.microsoft.com/office/powerpoint/2010/main" val="41223962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arn(inVertical)">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barn(inVertical)">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barn(inVertical)">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barn(inVertical)">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barn(inVertical)">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barn(inVertical)">
                                      <p:cBhvr>
                                        <p:cTn id="37" dur="500"/>
                                        <p:tgtEl>
                                          <p:spTgt spid="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barn(inVertical)">
                                      <p:cBhvr>
                                        <p:cTn id="42" dur="500"/>
                                        <p:tgtEl>
                                          <p:spTgt spid="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8">
                                            <p:txEl>
                                              <p:pRg st="8" end="8"/>
                                            </p:txEl>
                                          </p:spTgt>
                                        </p:tgtEl>
                                        <p:attrNameLst>
                                          <p:attrName>style.visibility</p:attrName>
                                        </p:attrNameLst>
                                      </p:cBhvr>
                                      <p:to>
                                        <p:strVal val="visible"/>
                                      </p:to>
                                    </p:set>
                                    <p:animEffect transition="in" filter="barn(inVertical)">
                                      <p:cBhvr>
                                        <p:cTn id="47" dur="500"/>
                                        <p:tgtEl>
                                          <p:spTgt spid="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8">
                                            <p:txEl>
                                              <p:pRg st="9" end="9"/>
                                            </p:txEl>
                                          </p:spTgt>
                                        </p:tgtEl>
                                        <p:attrNameLst>
                                          <p:attrName>style.visibility</p:attrName>
                                        </p:attrNameLst>
                                      </p:cBhvr>
                                      <p:to>
                                        <p:strVal val="visible"/>
                                      </p:to>
                                    </p:set>
                                    <p:animEffect transition="in" filter="barn(inVertical)">
                                      <p:cBhvr>
                                        <p:cTn id="52" dur="500"/>
                                        <p:tgtEl>
                                          <p:spTgt spid="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fade">
                                      <p:cBhvr>
                                        <p:cTn id="5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941D71DF-7225-6C66-9D2B-FAACEFF20849}"/>
              </a:ext>
            </a:extLst>
          </p:cNvPr>
          <p:cNvSpPr>
            <a:spLocks noGrp="1"/>
          </p:cNvSpPr>
          <p:nvPr>
            <p:ph type="sldNum" sz="quarter" idx="12"/>
          </p:nvPr>
        </p:nvSpPr>
        <p:spPr/>
        <p:txBody>
          <a:bodyPr/>
          <a:lstStyle/>
          <a:p>
            <a:fld id="{5BFCF61C-3B18-4C03-8326-CC3B32D710C9}" type="slidenum">
              <a:rPr lang="en-US" smtClean="0"/>
              <a:pPr/>
              <a:t>4</a:t>
            </a:fld>
            <a:endParaRPr lang="en-US"/>
          </a:p>
        </p:txBody>
      </p:sp>
      <p:sp>
        <p:nvSpPr>
          <p:cNvPr id="18" name="Title 17">
            <a:extLst>
              <a:ext uri="{FF2B5EF4-FFF2-40B4-BE49-F238E27FC236}">
                <a16:creationId xmlns:a16="http://schemas.microsoft.com/office/drawing/2014/main" id="{955C7EB0-5CF7-1207-FAE0-D83995EEC0EC}"/>
              </a:ext>
            </a:extLst>
          </p:cNvPr>
          <p:cNvSpPr>
            <a:spLocks noGrp="1"/>
          </p:cNvSpPr>
          <p:nvPr>
            <p:ph type="title"/>
          </p:nvPr>
        </p:nvSpPr>
        <p:spPr>
          <a:xfrm>
            <a:off x="838200" y="1431172"/>
            <a:ext cx="10515600" cy="854828"/>
          </a:xfrm>
        </p:spPr>
        <p:txBody>
          <a:bodyPr/>
          <a:lstStyle/>
          <a:p>
            <a:pPr algn="ctr"/>
            <a:r>
              <a:rPr lang="en-US" sz="6600" b="1" dirty="0">
                <a:latin typeface="Bahnschrift" panose="020B0502040204020203" pitchFamily="34" charset="0"/>
              </a:rPr>
              <a:t>Primary goals</a:t>
            </a:r>
            <a:endParaRPr lang="en-IN" sz="6600" b="1" dirty="0">
              <a:latin typeface="Bahnschrift" panose="020B0502040204020203" pitchFamily="34" charset="0"/>
            </a:endParaRPr>
          </a:p>
        </p:txBody>
      </p:sp>
      <p:sp>
        <p:nvSpPr>
          <p:cNvPr id="19" name="TextBox 18">
            <a:extLst>
              <a:ext uri="{FF2B5EF4-FFF2-40B4-BE49-F238E27FC236}">
                <a16:creationId xmlns:a16="http://schemas.microsoft.com/office/drawing/2014/main" id="{5892A450-5E45-59D9-C148-FCA0A389676B}"/>
              </a:ext>
            </a:extLst>
          </p:cNvPr>
          <p:cNvSpPr txBox="1"/>
          <p:nvPr/>
        </p:nvSpPr>
        <p:spPr>
          <a:xfrm>
            <a:off x="500462" y="2630049"/>
            <a:ext cx="11191076" cy="3785652"/>
          </a:xfrm>
          <a:prstGeom prst="rect">
            <a:avLst/>
          </a:prstGeom>
          <a:noFill/>
        </p:spPr>
        <p:txBody>
          <a:bodyPr wrap="square" rtlCol="0">
            <a:spAutoFit/>
          </a:bodyPr>
          <a:lstStyle/>
          <a:p>
            <a:pPr algn="just"/>
            <a:r>
              <a:rPr lang="en-GB" sz="2000" dirty="0">
                <a:latin typeface="Calibri" panose="020F0502020204030204" pitchFamily="34" charset="0"/>
                <a:cs typeface="Calibri" panose="020F0502020204030204" pitchFamily="34" charset="0"/>
              </a:rPr>
              <a:t>The project aims to:</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Identify patterns</a:t>
            </a:r>
            <a:r>
              <a:rPr lang="en-GB" sz="2000" dirty="0">
                <a:latin typeface="Calibri" panose="020F0502020204030204" pitchFamily="34" charset="0"/>
                <a:cs typeface="Calibri" panose="020F0502020204030204" pitchFamily="34" charset="0"/>
              </a:rPr>
              <a:t> that reliably distinguish authentic from manipulated media.</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Evaluate robustness</a:t>
            </a:r>
            <a:r>
              <a:rPr lang="en-GB" sz="2000" dirty="0">
                <a:latin typeface="Calibri" panose="020F0502020204030204" pitchFamily="34" charset="0"/>
                <a:cs typeface="Calibri" panose="020F0502020204030204" pitchFamily="34" charset="0"/>
              </a:rPr>
              <a:t> of detection models under common post-processing (compression, scaling, filtering) and across different deepfake generation methods.</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Predict forgery likelihood</a:t>
            </a:r>
            <a:r>
              <a:rPr lang="en-GB" sz="2000" dirty="0">
                <a:latin typeface="Calibri" panose="020F0502020204030204" pitchFamily="34" charset="0"/>
                <a:cs typeface="Calibri" panose="020F0502020204030204" pitchFamily="34" charset="0"/>
              </a:rPr>
              <a:t> on unseen samples, ensuring practical applicability.</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Assess generalization</a:t>
            </a:r>
            <a:r>
              <a:rPr lang="en-GB" sz="2000" dirty="0">
                <a:latin typeface="Calibri" panose="020F0502020204030204" pitchFamily="34" charset="0"/>
                <a:cs typeface="Calibri" panose="020F0502020204030204" pitchFamily="34" charset="0"/>
              </a:rPr>
              <a:t> of models trained on one type of deepfake when applied to others, especially in low-quality, user-generated content.</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Compare feature families and model types</a:t>
            </a:r>
            <a:r>
              <a:rPr lang="en-GB" sz="2000" dirty="0">
                <a:latin typeface="Calibri" panose="020F0502020204030204" pitchFamily="34" charset="0"/>
                <a:cs typeface="Calibri" panose="020F0502020204030204" pitchFamily="34" charset="0"/>
              </a:rPr>
              <a:t> (statistical, spatial, temporal; ML vs. DL) for both images and videos.</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Report evaluation metrics</a:t>
            </a:r>
            <a:r>
              <a:rPr lang="en-GB" sz="2000" dirty="0">
                <a:latin typeface="Calibri" panose="020F0502020204030204" pitchFamily="34" charset="0"/>
                <a:cs typeface="Calibri" panose="020F0502020204030204" pitchFamily="34" charset="0"/>
              </a:rPr>
              <a:t> such as Accuracy, Precision, Recall, F1-score, and ROC-AUC.</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Consider practical aspects</a:t>
            </a:r>
            <a:r>
              <a:rPr lang="en-GB" sz="2000" dirty="0">
                <a:latin typeface="Calibri" panose="020F0502020204030204" pitchFamily="34" charset="0"/>
                <a:cs typeface="Calibri" panose="020F0502020204030204" pitchFamily="34" charset="0"/>
              </a:rPr>
              <a:t> like inference speed, scalability, and deployment feasibility</a:t>
            </a:r>
            <a:r>
              <a:rPr lang="en-GB" sz="2000" dirty="0"/>
              <a:t>.</a:t>
            </a:r>
          </a:p>
          <a:p>
            <a:pPr marL="285750" indent="-285750">
              <a:buFont typeface="Arial" panose="020B0604020202020204" pitchFamily="34" charset="0"/>
              <a:buChar char="•"/>
            </a:pPr>
            <a:endParaRPr lang="en-I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7919406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circle(in)">
                                      <p:cBhvr>
                                        <p:cTn id="14"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F8FC4DAD-8F22-40DC-8133-22BF52217FB8}"/>
              </a:ext>
            </a:extLst>
          </p:cNvPr>
          <p:cNvSpPr>
            <a:spLocks noGrp="1"/>
          </p:cNvSpPr>
          <p:nvPr>
            <p:ph type="sldNum" sz="quarter" idx="4294967295"/>
          </p:nvPr>
        </p:nvSpPr>
        <p:spPr>
          <a:xfrm>
            <a:off x="10518775" y="301625"/>
            <a:ext cx="1673225" cy="274638"/>
          </a:xfrm>
        </p:spPr>
        <p:txBody>
          <a:bodyPr/>
          <a:lstStyle/>
          <a:p>
            <a:fld id="{5BFCF61C-3B18-4C03-8326-CC3B32D710C9}" type="slidenum">
              <a:rPr lang="en-US" smtClean="0"/>
              <a:pPr/>
              <a:t>5</a:t>
            </a:fld>
            <a:endParaRPr lang="en-US"/>
          </a:p>
        </p:txBody>
      </p:sp>
      <p:sp>
        <p:nvSpPr>
          <p:cNvPr id="14" name="TextBox 13">
            <a:extLst>
              <a:ext uri="{FF2B5EF4-FFF2-40B4-BE49-F238E27FC236}">
                <a16:creationId xmlns:a16="http://schemas.microsoft.com/office/drawing/2014/main" id="{58B02E52-8349-2451-F384-4E68A92427BB}"/>
              </a:ext>
            </a:extLst>
          </p:cNvPr>
          <p:cNvSpPr txBox="1"/>
          <p:nvPr/>
        </p:nvSpPr>
        <p:spPr>
          <a:xfrm>
            <a:off x="3021867" y="160764"/>
            <a:ext cx="6386052" cy="1015663"/>
          </a:xfrm>
          <a:prstGeom prst="rect">
            <a:avLst/>
          </a:prstGeom>
          <a:noFill/>
        </p:spPr>
        <p:txBody>
          <a:bodyPr wrap="square" rtlCol="0">
            <a:spAutoFit/>
          </a:bodyPr>
          <a:lstStyle/>
          <a:p>
            <a:pPr algn="ctr"/>
            <a:r>
              <a:rPr lang="en-US" sz="6000" b="1" dirty="0">
                <a:solidFill>
                  <a:schemeClr val="accent3">
                    <a:lumMod val="20000"/>
                    <a:lumOff val="80000"/>
                  </a:schemeClr>
                </a:solidFill>
                <a:latin typeface="Bahnschrift" panose="020B0502040204020203" pitchFamily="34" charset="0"/>
              </a:rPr>
              <a:t>OBJECTIVES</a:t>
            </a:r>
            <a:endParaRPr lang="en-IN" sz="6000" b="1" dirty="0">
              <a:solidFill>
                <a:schemeClr val="accent3">
                  <a:lumMod val="20000"/>
                  <a:lumOff val="80000"/>
                </a:schemeClr>
              </a:solidFill>
              <a:latin typeface="Bahnschrift" panose="020B0502040204020203" pitchFamily="34" charset="0"/>
            </a:endParaRPr>
          </a:p>
        </p:txBody>
      </p:sp>
      <p:sp>
        <p:nvSpPr>
          <p:cNvPr id="3" name="TextBox 2">
            <a:extLst>
              <a:ext uri="{FF2B5EF4-FFF2-40B4-BE49-F238E27FC236}">
                <a16:creationId xmlns:a16="http://schemas.microsoft.com/office/drawing/2014/main" id="{A726826F-4D47-A8B8-6D3E-212B32862A4E}"/>
              </a:ext>
            </a:extLst>
          </p:cNvPr>
          <p:cNvSpPr txBox="1"/>
          <p:nvPr/>
        </p:nvSpPr>
        <p:spPr>
          <a:xfrm>
            <a:off x="705852" y="1295179"/>
            <a:ext cx="10780295" cy="4524315"/>
          </a:xfrm>
          <a:prstGeom prst="rect">
            <a:avLst/>
          </a:prstGeom>
          <a:noFill/>
        </p:spPr>
        <p:txBody>
          <a:bodyPr wrap="square">
            <a:spAutoFit/>
          </a:bodyPr>
          <a:lstStyle/>
          <a:p>
            <a:pPr algn="just">
              <a:spcBef>
                <a:spcPts val="300"/>
              </a:spcBef>
              <a:spcAft>
                <a:spcPts val="300"/>
              </a:spcAft>
            </a:pPr>
            <a:r>
              <a:rPr lang="en-GB" sz="2400" dirty="0">
                <a:solidFill>
                  <a:schemeClr val="bg1"/>
                </a:solidFill>
                <a:latin typeface="Calibri" panose="020F0502020204030204" pitchFamily="34" charset="0"/>
                <a:cs typeface="Calibri" panose="020F0502020204030204" pitchFamily="34" charset="0"/>
              </a:rPr>
              <a:t>The main objective of this work is to analyze the statistical characteristics of real and manipulated media by extracting features such as noise residuals, frequency components, and color inconsistencies. Machine learning models will be designed and implemented to classify images and videos as authentic or deepfake, with a comparison of algorithms like SVM, Random Forest, CNN, and RNN. The study further aims to evaluate model robustness under different conditions such as compression, scaling, noise, and low resolution, while also investigating the effectiveness of temporal features such as lip-sync mismatch, eye-blink rate, and head movement in video-based detection. Finally, the research seeks to identify the most effective feature sets (statistical, spatial, or temporal) and develop a real-time predictive framework for flagging suspicious media across different datasets and deep fake generation techniques.</a:t>
            </a:r>
            <a:endParaRPr lang="en-US" sz="24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015262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C1C9AB-6D03-CD41-A2B4-967608869C0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05278128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EDE830D-3934-27DB-1C01-C67FB4D8CE97}"/>
              </a:ext>
            </a:extLst>
          </p:cNvPr>
          <p:cNvSpPr>
            <a:spLocks noGrp="1"/>
          </p:cNvSpPr>
          <p:nvPr>
            <p:ph type="sldNum" sz="quarter" idx="12"/>
          </p:nvPr>
        </p:nvSpPr>
        <p:spPr/>
        <p:txBody>
          <a:bodyPr/>
          <a:lstStyle/>
          <a:p>
            <a:fld id="{5BFCF61C-3B18-4C03-8326-CC3B32D710C9}" type="slidenum">
              <a:rPr lang="en-US" noProof="0" smtClean="0"/>
              <a:t>7</a:t>
            </a:fld>
            <a:endParaRPr lang="en-US" noProof="0"/>
          </a:p>
        </p:txBody>
      </p:sp>
      <p:sp>
        <p:nvSpPr>
          <p:cNvPr id="4" name="Title 3">
            <a:extLst>
              <a:ext uri="{FF2B5EF4-FFF2-40B4-BE49-F238E27FC236}">
                <a16:creationId xmlns:a16="http://schemas.microsoft.com/office/drawing/2014/main" id="{60588225-A2D2-5B7C-B6AB-A923E148D147}"/>
              </a:ext>
            </a:extLst>
          </p:cNvPr>
          <p:cNvSpPr>
            <a:spLocks noGrp="1"/>
          </p:cNvSpPr>
          <p:nvPr>
            <p:ph type="title"/>
          </p:nvPr>
        </p:nvSpPr>
        <p:spPr>
          <a:xfrm>
            <a:off x="2234395" y="1440026"/>
            <a:ext cx="7498080" cy="704088"/>
          </a:xfrm>
        </p:spPr>
        <p:txBody>
          <a:bodyPr/>
          <a:lstStyle/>
          <a:p>
            <a:r>
              <a:rPr lang="en-IN" sz="7200" b="1" dirty="0">
                <a:latin typeface="Calibri" panose="020F0502020204030204" pitchFamily="34" charset="0"/>
                <a:ea typeface="Calibri" panose="020F0502020204030204" pitchFamily="34" charset="0"/>
                <a:cs typeface="Calibri" panose="020F0502020204030204" pitchFamily="34" charset="0"/>
              </a:rPr>
              <a:t>Algorithm Steps</a:t>
            </a:r>
            <a:br>
              <a:rPr lang="en-IN" b="1" dirty="0"/>
            </a:br>
            <a:endParaRPr lang="en-IN" sz="5400" dirty="0"/>
          </a:p>
        </p:txBody>
      </p:sp>
      <p:sp>
        <p:nvSpPr>
          <p:cNvPr id="9" name="TextBox 8">
            <a:extLst>
              <a:ext uri="{FF2B5EF4-FFF2-40B4-BE49-F238E27FC236}">
                <a16:creationId xmlns:a16="http://schemas.microsoft.com/office/drawing/2014/main" id="{A082801B-9589-A20E-58A1-6A4A4A35F3A6}"/>
              </a:ext>
            </a:extLst>
          </p:cNvPr>
          <p:cNvSpPr txBox="1"/>
          <p:nvPr/>
        </p:nvSpPr>
        <p:spPr>
          <a:xfrm>
            <a:off x="2346960" y="2535823"/>
            <a:ext cx="7385515" cy="4255267"/>
          </a:xfrm>
          <a:prstGeom prst="rect">
            <a:avLst/>
          </a:prstGeom>
          <a:noFill/>
        </p:spPr>
        <p:txBody>
          <a:bodyPr wrap="square">
            <a:spAutoFit/>
          </a:bodyPr>
          <a:lstStyle/>
          <a:p>
            <a:pPr>
              <a:lnSpc>
                <a:spcPct val="150000"/>
              </a:lnSpc>
              <a:buNone/>
            </a:pPr>
            <a:r>
              <a:rPr lang="en-IN" b="1" dirty="0">
                <a:effectLst/>
                <a:latin typeface="Calibri" panose="020F0502020204030204" pitchFamily="34" charset="0"/>
                <a:ea typeface="Calibri" panose="020F0502020204030204" pitchFamily="34" charset="0"/>
                <a:cs typeface="Calibri" panose="020F0502020204030204" pitchFamily="34" charset="0"/>
              </a:rPr>
              <a:t>Step 1: Dataset Collection</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50000"/>
              </a:lnSpc>
              <a:buSzPts val="1000"/>
              <a:buFont typeface="Symbol" panose="05050102010706020507" pitchFamily="18" charset="2"/>
              <a:buChar char=""/>
              <a:tabLst>
                <a:tab pos="457200" algn="l"/>
              </a:tabLst>
            </a:pPr>
            <a:r>
              <a:rPr lang="en-IN" sz="1600" dirty="0">
                <a:effectLst/>
                <a:latin typeface="Calibri" panose="020F0502020204030204" pitchFamily="34" charset="0"/>
                <a:ea typeface="Calibri" panose="020F0502020204030204" pitchFamily="34" charset="0"/>
                <a:cs typeface="Calibri" panose="020F0502020204030204" pitchFamily="34" charset="0"/>
              </a:rPr>
              <a:t>Collect real and fake images from datasets such as FaceForensics++, Celeb-DF, or DFDC.</a:t>
            </a:r>
          </a:p>
          <a:p>
            <a:pPr>
              <a:lnSpc>
                <a:spcPct val="150000"/>
              </a:lnSpc>
              <a:buNone/>
            </a:pPr>
            <a:r>
              <a:rPr lang="en-IN" b="1" dirty="0">
                <a:effectLst/>
                <a:latin typeface="Calibri" panose="020F0502020204030204" pitchFamily="34" charset="0"/>
                <a:ea typeface="Calibri" panose="020F0502020204030204" pitchFamily="34" charset="0"/>
                <a:cs typeface="Calibri" panose="020F0502020204030204" pitchFamily="34" charset="0"/>
              </a:rPr>
              <a:t>Step 2: Data Preprocessing</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50000"/>
              </a:lnSpc>
              <a:buSzPts val="1000"/>
              <a:buFont typeface="Symbol" panose="05050102010706020507" pitchFamily="18" charset="2"/>
              <a:buChar char=""/>
              <a:tabLst>
                <a:tab pos="457200" algn="l"/>
              </a:tabLst>
            </a:pPr>
            <a:r>
              <a:rPr lang="en-IN" sz="1600" dirty="0">
                <a:effectLst/>
                <a:latin typeface="Calibri" panose="020F0502020204030204" pitchFamily="34" charset="0"/>
                <a:ea typeface="Calibri" panose="020F0502020204030204" pitchFamily="34" charset="0"/>
                <a:cs typeface="Calibri" panose="020F0502020204030204" pitchFamily="34" charset="0"/>
              </a:rPr>
              <a:t>Detect face region from each image.</a:t>
            </a:r>
          </a:p>
          <a:p>
            <a:pPr marL="342900" lvl="0" indent="-342900">
              <a:lnSpc>
                <a:spcPct val="150000"/>
              </a:lnSpc>
              <a:buSzPts val="1000"/>
              <a:buFont typeface="Symbol" panose="05050102010706020507" pitchFamily="18" charset="2"/>
              <a:buChar char=""/>
              <a:tabLst>
                <a:tab pos="457200" algn="l"/>
              </a:tabLst>
            </a:pPr>
            <a:r>
              <a:rPr lang="en-IN" sz="1600" dirty="0">
                <a:effectLst/>
                <a:latin typeface="Calibri" panose="020F0502020204030204" pitchFamily="34" charset="0"/>
                <a:ea typeface="Calibri" panose="020F0502020204030204" pitchFamily="34" charset="0"/>
                <a:cs typeface="Calibri" panose="020F0502020204030204" pitchFamily="34" charset="0"/>
              </a:rPr>
              <a:t>Crop and resize to fixed dimensions (e.g., 224×224).</a:t>
            </a:r>
          </a:p>
          <a:p>
            <a:pPr marL="342900" lvl="0" indent="-342900">
              <a:lnSpc>
                <a:spcPct val="150000"/>
              </a:lnSpc>
              <a:buSzPts val="1000"/>
              <a:buFont typeface="Symbol" panose="05050102010706020507" pitchFamily="18" charset="2"/>
              <a:buChar char=""/>
              <a:tabLst>
                <a:tab pos="457200" algn="l"/>
              </a:tabLst>
            </a:pPr>
            <a:r>
              <a:rPr lang="en-IN" sz="1600" dirty="0">
                <a:effectLst/>
                <a:latin typeface="Calibri" panose="020F0502020204030204" pitchFamily="34" charset="0"/>
                <a:ea typeface="Calibri" panose="020F0502020204030204" pitchFamily="34" charset="0"/>
                <a:cs typeface="Calibri" panose="020F0502020204030204" pitchFamily="34" charset="0"/>
              </a:rPr>
              <a:t>Normalize pixel values.</a:t>
            </a:r>
          </a:p>
          <a:p>
            <a:pPr marL="342900" lvl="0" indent="-342900">
              <a:lnSpc>
                <a:spcPct val="150000"/>
              </a:lnSpc>
              <a:buSzPts val="1000"/>
              <a:buFont typeface="Symbol" panose="05050102010706020507" pitchFamily="18" charset="2"/>
              <a:buChar char=""/>
              <a:tabLst>
                <a:tab pos="457200" algn="l"/>
              </a:tabLst>
            </a:pPr>
            <a:r>
              <a:rPr lang="en-IN" sz="1600" dirty="0">
                <a:effectLst/>
                <a:latin typeface="Calibri" panose="020F0502020204030204" pitchFamily="34" charset="0"/>
                <a:ea typeface="Calibri" panose="020F0502020204030204" pitchFamily="34" charset="0"/>
                <a:cs typeface="Calibri" panose="020F0502020204030204" pitchFamily="34" charset="0"/>
              </a:rPr>
              <a:t>Apply augmentation techniques.</a:t>
            </a:r>
          </a:p>
          <a:p>
            <a:pPr>
              <a:lnSpc>
                <a:spcPct val="150000"/>
              </a:lnSpc>
              <a:buNone/>
            </a:pPr>
            <a:r>
              <a:rPr lang="en-IN" b="1" dirty="0">
                <a:effectLst/>
                <a:latin typeface="Calibri" panose="020F0502020204030204" pitchFamily="34" charset="0"/>
                <a:ea typeface="Calibri" panose="020F0502020204030204" pitchFamily="34" charset="0"/>
                <a:cs typeface="Calibri" panose="020F0502020204030204" pitchFamily="34" charset="0"/>
              </a:rPr>
              <a:t>Step 3: Feature Extraction</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50000"/>
              </a:lnSpc>
              <a:buSzPts val="1000"/>
              <a:buFont typeface="Symbol" panose="05050102010706020507" pitchFamily="18" charset="2"/>
              <a:buChar char=""/>
              <a:tabLst>
                <a:tab pos="457200" algn="l"/>
              </a:tabLst>
            </a:pPr>
            <a:r>
              <a:rPr lang="en-IN" sz="1600" dirty="0">
                <a:effectLst/>
                <a:latin typeface="Calibri" panose="020F0502020204030204" pitchFamily="34" charset="0"/>
                <a:ea typeface="Calibri" panose="020F0502020204030204" pitchFamily="34" charset="0"/>
                <a:cs typeface="Calibri" panose="020F0502020204030204" pitchFamily="34" charset="0"/>
              </a:rPr>
              <a:t>Use CNN layers (convolutions, pooling) to extract features.</a:t>
            </a:r>
          </a:p>
          <a:p>
            <a:pPr marL="342900" lvl="0" indent="-342900">
              <a:lnSpc>
                <a:spcPct val="150000"/>
              </a:lnSpc>
              <a:buSzPts val="1000"/>
              <a:buFont typeface="Symbol" panose="05050102010706020507" pitchFamily="18" charset="2"/>
              <a:buChar char=""/>
              <a:tabLst>
                <a:tab pos="457200" algn="l"/>
              </a:tabLst>
            </a:pPr>
            <a:r>
              <a:rPr lang="en-IN" sz="1600" dirty="0">
                <a:effectLst/>
                <a:latin typeface="Calibri" panose="020F0502020204030204" pitchFamily="34" charset="0"/>
                <a:ea typeface="Calibri" panose="020F0502020204030204" pitchFamily="34" charset="0"/>
                <a:cs typeface="Calibri" panose="020F0502020204030204" pitchFamily="34" charset="0"/>
              </a:rPr>
              <a:t>Optionally, extract handcrafted features (LBP, DCT, or frequency artifacts).</a:t>
            </a:r>
          </a:p>
        </p:txBody>
      </p:sp>
    </p:spTree>
    <p:extLst>
      <p:ext uri="{BB962C8B-B14F-4D97-AF65-F5344CB8AC3E}">
        <p14:creationId xmlns:p14="http://schemas.microsoft.com/office/powerpoint/2010/main" val="359682836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0ADBC69-D19A-A66A-E048-E78AB60E095B}"/>
              </a:ext>
            </a:extLst>
          </p:cNvPr>
          <p:cNvSpPr>
            <a:spLocks noGrp="1"/>
          </p:cNvSpPr>
          <p:nvPr>
            <p:ph type="sldNum" sz="quarter" idx="12"/>
          </p:nvPr>
        </p:nvSpPr>
        <p:spPr/>
        <p:txBody>
          <a:bodyPr/>
          <a:lstStyle/>
          <a:p>
            <a:fld id="{5BFCF61C-3B18-4C03-8326-CC3B32D710C9}" type="slidenum">
              <a:rPr lang="en-US" noProof="0" smtClean="0"/>
              <a:t>8</a:t>
            </a:fld>
            <a:endParaRPr lang="en-US" noProof="0"/>
          </a:p>
        </p:txBody>
      </p:sp>
      <p:sp>
        <p:nvSpPr>
          <p:cNvPr id="4" name="Title 3">
            <a:extLst>
              <a:ext uri="{FF2B5EF4-FFF2-40B4-BE49-F238E27FC236}">
                <a16:creationId xmlns:a16="http://schemas.microsoft.com/office/drawing/2014/main" id="{A5429074-7441-6D41-764C-9CDD22F715DE}"/>
              </a:ext>
            </a:extLst>
          </p:cNvPr>
          <p:cNvSpPr>
            <a:spLocks noGrp="1"/>
          </p:cNvSpPr>
          <p:nvPr>
            <p:ph type="title"/>
          </p:nvPr>
        </p:nvSpPr>
        <p:spPr>
          <a:xfrm>
            <a:off x="2419386" y="1525632"/>
            <a:ext cx="7553785" cy="728405"/>
          </a:xfrm>
        </p:spPr>
        <p:txBody>
          <a:bodyPr/>
          <a:lstStyle/>
          <a:p>
            <a:r>
              <a:rPr lang="en-IN" sz="7200" b="1" dirty="0">
                <a:latin typeface="Calibri" panose="020F0502020204030204" pitchFamily="34" charset="0"/>
                <a:ea typeface="Calibri" panose="020F0502020204030204" pitchFamily="34" charset="0"/>
                <a:cs typeface="Calibri" panose="020F0502020204030204" pitchFamily="34" charset="0"/>
              </a:rPr>
              <a:t>Algorithm Steps</a:t>
            </a:r>
            <a:endParaRPr lang="en-IN" sz="7200" dirty="0"/>
          </a:p>
        </p:txBody>
      </p:sp>
      <p:sp>
        <p:nvSpPr>
          <p:cNvPr id="10" name="TextBox 9">
            <a:extLst>
              <a:ext uri="{FF2B5EF4-FFF2-40B4-BE49-F238E27FC236}">
                <a16:creationId xmlns:a16="http://schemas.microsoft.com/office/drawing/2014/main" id="{AED9512E-796C-9585-3BB3-A4CE3D0FA140}"/>
              </a:ext>
            </a:extLst>
          </p:cNvPr>
          <p:cNvSpPr txBox="1"/>
          <p:nvPr/>
        </p:nvSpPr>
        <p:spPr>
          <a:xfrm>
            <a:off x="1355834" y="2955262"/>
            <a:ext cx="9869214" cy="728405"/>
          </a:xfrm>
          <a:prstGeom prst="rect">
            <a:avLst/>
          </a:prstGeom>
          <a:noFill/>
        </p:spPr>
        <p:txBody>
          <a:bodyPr wrap="square" rtlCol="0">
            <a:spAutoFit/>
          </a:bodyPr>
          <a:lstStyle/>
          <a:p>
            <a:pPr>
              <a:spcBef>
                <a:spcPts val="400"/>
              </a:spcBef>
              <a:spcAft>
                <a:spcPts val="400"/>
              </a:spcAft>
            </a:pPr>
            <a:endParaRPr lang="en-US" sz="2000" dirty="0">
              <a:latin typeface="Calibri" panose="020F0502020204030204" pitchFamily="34" charset="0"/>
              <a:cs typeface="Calibri" panose="020F0502020204030204" pitchFamily="34" charset="0"/>
            </a:endParaRPr>
          </a:p>
          <a:p>
            <a:endParaRPr lang="en-IN" dirty="0"/>
          </a:p>
        </p:txBody>
      </p:sp>
      <p:sp>
        <p:nvSpPr>
          <p:cNvPr id="5" name="TextBox 4">
            <a:extLst>
              <a:ext uri="{FF2B5EF4-FFF2-40B4-BE49-F238E27FC236}">
                <a16:creationId xmlns:a16="http://schemas.microsoft.com/office/drawing/2014/main" id="{FE63276E-E324-7980-629C-A3E99AAB3884}"/>
              </a:ext>
            </a:extLst>
          </p:cNvPr>
          <p:cNvSpPr txBox="1"/>
          <p:nvPr/>
        </p:nvSpPr>
        <p:spPr>
          <a:xfrm>
            <a:off x="2419386" y="2573769"/>
            <a:ext cx="6543545" cy="4255267"/>
          </a:xfrm>
          <a:prstGeom prst="rect">
            <a:avLst/>
          </a:prstGeom>
          <a:noFill/>
        </p:spPr>
        <p:txBody>
          <a:bodyPr wrap="square">
            <a:spAutoFit/>
          </a:bodyPr>
          <a:lstStyle/>
          <a:p>
            <a:pPr>
              <a:lnSpc>
                <a:spcPct val="150000"/>
              </a:lnSpc>
              <a:buNone/>
            </a:pPr>
            <a:r>
              <a:rPr lang="en-IN" b="1" dirty="0">
                <a:effectLst/>
                <a:latin typeface="Calibri" panose="020F0502020204030204" pitchFamily="34" charset="0"/>
                <a:ea typeface="Calibri" panose="020F0502020204030204" pitchFamily="34" charset="0"/>
                <a:cs typeface="Calibri" panose="020F0502020204030204" pitchFamily="34" charset="0"/>
              </a:rPr>
              <a:t>Step 4: Model Training</a:t>
            </a:r>
          </a:p>
          <a:p>
            <a:pPr marL="342900" lvl="0" indent="-342900">
              <a:lnSpc>
                <a:spcPct val="150000"/>
              </a:lnSpc>
              <a:buSzPts val="1000"/>
              <a:buFont typeface="Symbol" panose="05050102010706020507" pitchFamily="18" charset="2"/>
              <a:buChar char=""/>
              <a:tabLst>
                <a:tab pos="457200" algn="l"/>
              </a:tabLst>
            </a:pPr>
            <a:r>
              <a:rPr lang="en-IN" sz="1600" dirty="0">
                <a:effectLst/>
                <a:latin typeface="Calibri" panose="020F0502020204030204" pitchFamily="34" charset="0"/>
                <a:ea typeface="Calibri" panose="020F0502020204030204" pitchFamily="34" charset="0"/>
                <a:cs typeface="Calibri" panose="020F0502020204030204" pitchFamily="34" charset="0"/>
              </a:rPr>
              <a:t>Split dataset into train, validation, and test sets.</a:t>
            </a:r>
          </a:p>
          <a:p>
            <a:pPr marL="342900" lvl="0" indent="-342900">
              <a:lnSpc>
                <a:spcPct val="150000"/>
              </a:lnSpc>
              <a:buSzPts val="1000"/>
              <a:buFont typeface="Symbol" panose="05050102010706020507" pitchFamily="18" charset="2"/>
              <a:buChar char=""/>
              <a:tabLst>
                <a:tab pos="457200" algn="l"/>
              </a:tabLst>
            </a:pPr>
            <a:r>
              <a:rPr lang="en-IN" sz="1600" dirty="0">
                <a:effectLst/>
                <a:latin typeface="Calibri" panose="020F0502020204030204" pitchFamily="34" charset="0"/>
                <a:ea typeface="Calibri" panose="020F0502020204030204" pitchFamily="34" charset="0"/>
                <a:cs typeface="Calibri" panose="020F0502020204030204" pitchFamily="34" charset="0"/>
              </a:rPr>
              <a:t>Train CNN (or chosen deep learning model) with forward + backpropagation.</a:t>
            </a:r>
          </a:p>
          <a:p>
            <a:pPr marL="342900" lvl="0" indent="-342900">
              <a:lnSpc>
                <a:spcPct val="150000"/>
              </a:lnSpc>
              <a:buSzPts val="1000"/>
              <a:buFont typeface="Symbol" panose="05050102010706020507" pitchFamily="18" charset="2"/>
              <a:buChar char=""/>
              <a:tabLst>
                <a:tab pos="457200" algn="l"/>
              </a:tabLst>
            </a:pPr>
            <a:r>
              <a:rPr lang="en-IN" sz="1600" dirty="0">
                <a:effectLst/>
                <a:latin typeface="Calibri" panose="020F0502020204030204" pitchFamily="34" charset="0"/>
                <a:ea typeface="Calibri" panose="020F0502020204030204" pitchFamily="34" charset="0"/>
                <a:cs typeface="Calibri" panose="020F0502020204030204" pitchFamily="34" charset="0"/>
              </a:rPr>
              <a:t>Optimize loss using Adam/SGD.</a:t>
            </a:r>
          </a:p>
          <a:p>
            <a:pPr marL="342900" lvl="0" indent="-342900">
              <a:lnSpc>
                <a:spcPct val="150000"/>
              </a:lnSpc>
              <a:buSzPts val="1000"/>
              <a:buFont typeface="Symbol" panose="05050102010706020507" pitchFamily="18" charset="2"/>
              <a:buChar char=""/>
              <a:tabLst>
                <a:tab pos="457200" algn="l"/>
              </a:tabLst>
            </a:pPr>
            <a:r>
              <a:rPr lang="en-IN" sz="1600" dirty="0">
                <a:effectLst/>
                <a:latin typeface="Calibri" panose="020F0502020204030204" pitchFamily="34" charset="0"/>
                <a:ea typeface="Calibri" panose="020F0502020204030204" pitchFamily="34" charset="0"/>
                <a:cs typeface="Calibri" panose="020F0502020204030204" pitchFamily="34" charset="0"/>
              </a:rPr>
              <a:t>Apply dropout to prevent overfitting.</a:t>
            </a:r>
          </a:p>
          <a:p>
            <a:pPr>
              <a:lnSpc>
                <a:spcPct val="150000"/>
              </a:lnSpc>
              <a:buNone/>
            </a:pPr>
            <a:r>
              <a:rPr lang="en-IN" b="1" dirty="0">
                <a:effectLst/>
                <a:latin typeface="Calibri" panose="020F0502020204030204" pitchFamily="34" charset="0"/>
                <a:ea typeface="Calibri" panose="020F0502020204030204" pitchFamily="34" charset="0"/>
                <a:cs typeface="Calibri" panose="020F0502020204030204" pitchFamily="34" charset="0"/>
              </a:rPr>
              <a:t>Step 5: Validation</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50000"/>
              </a:lnSpc>
              <a:buSzPts val="1000"/>
              <a:buFont typeface="Symbol" panose="05050102010706020507" pitchFamily="18" charset="2"/>
              <a:buChar char=""/>
              <a:tabLst>
                <a:tab pos="457200" algn="l"/>
              </a:tabLst>
            </a:pPr>
            <a:r>
              <a:rPr lang="en-IN" sz="1600" dirty="0">
                <a:effectLst/>
                <a:latin typeface="Calibri" panose="020F0502020204030204" pitchFamily="34" charset="0"/>
                <a:ea typeface="Calibri" panose="020F0502020204030204" pitchFamily="34" charset="0"/>
                <a:cs typeface="Calibri" panose="020F0502020204030204" pitchFamily="34" charset="0"/>
              </a:rPr>
              <a:t>Test on validation set.</a:t>
            </a:r>
          </a:p>
          <a:p>
            <a:pPr marL="342900" lvl="0" indent="-342900">
              <a:lnSpc>
                <a:spcPct val="150000"/>
              </a:lnSpc>
              <a:buSzPts val="1000"/>
              <a:buFont typeface="Symbol" panose="05050102010706020507" pitchFamily="18" charset="2"/>
              <a:buChar char=""/>
              <a:tabLst>
                <a:tab pos="457200" algn="l"/>
              </a:tabLst>
            </a:pPr>
            <a:r>
              <a:rPr lang="en-IN" sz="1600" dirty="0">
                <a:effectLst/>
                <a:latin typeface="Calibri" panose="020F0502020204030204" pitchFamily="34" charset="0"/>
                <a:ea typeface="Calibri" panose="020F0502020204030204" pitchFamily="34" charset="0"/>
                <a:cs typeface="Calibri" panose="020F0502020204030204" pitchFamily="34" charset="0"/>
              </a:rPr>
              <a:t>Tune hyperparameters for best performance.</a:t>
            </a:r>
          </a:p>
          <a:p>
            <a:pPr>
              <a:lnSpc>
                <a:spcPct val="150000"/>
              </a:lnSpc>
              <a:buNone/>
            </a:pPr>
            <a:r>
              <a:rPr lang="en-IN" b="1" dirty="0">
                <a:effectLst/>
                <a:latin typeface="Calibri" panose="020F0502020204030204" pitchFamily="34" charset="0"/>
                <a:ea typeface="Calibri" panose="020F0502020204030204" pitchFamily="34" charset="0"/>
                <a:cs typeface="Calibri" panose="020F0502020204030204" pitchFamily="34" charset="0"/>
              </a:rPr>
              <a:t>Step 6: Testing &amp; Classification</a:t>
            </a:r>
          </a:p>
          <a:p>
            <a:pPr marL="342900" lvl="0" indent="-342900">
              <a:lnSpc>
                <a:spcPct val="150000"/>
              </a:lnSpc>
              <a:buSzPts val="1000"/>
              <a:buFont typeface="Symbol" panose="05050102010706020507" pitchFamily="18" charset="2"/>
              <a:buChar char=""/>
              <a:tabLst>
                <a:tab pos="457200" algn="l"/>
              </a:tabLst>
            </a:pPr>
            <a:r>
              <a:rPr lang="en-IN" sz="1600" dirty="0">
                <a:effectLst/>
                <a:latin typeface="Calibri" panose="020F0502020204030204" pitchFamily="34" charset="0"/>
                <a:ea typeface="Calibri" panose="020F0502020204030204" pitchFamily="34" charset="0"/>
                <a:cs typeface="Calibri" panose="020F0502020204030204" pitchFamily="34" charset="0"/>
              </a:rPr>
              <a:t>Input test image to model.</a:t>
            </a:r>
          </a:p>
        </p:txBody>
      </p:sp>
    </p:spTree>
    <p:extLst>
      <p:ext uri="{BB962C8B-B14F-4D97-AF65-F5344CB8AC3E}">
        <p14:creationId xmlns:p14="http://schemas.microsoft.com/office/powerpoint/2010/main" val="30780003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4E57065-5A6C-3635-EE24-91AA806175DD}"/>
              </a:ext>
            </a:extLst>
          </p:cNvPr>
          <p:cNvSpPr>
            <a:spLocks noGrp="1"/>
          </p:cNvSpPr>
          <p:nvPr>
            <p:ph type="sldNum" sz="quarter" idx="12"/>
          </p:nvPr>
        </p:nvSpPr>
        <p:spPr/>
        <p:txBody>
          <a:bodyPr/>
          <a:lstStyle/>
          <a:p>
            <a:fld id="{5BFCF61C-3B18-4C03-8326-CC3B32D710C9}" type="slidenum">
              <a:rPr lang="en-US" noProof="0" smtClean="0"/>
              <a:t>9</a:t>
            </a:fld>
            <a:endParaRPr lang="en-US" noProof="0"/>
          </a:p>
        </p:txBody>
      </p:sp>
      <p:sp>
        <p:nvSpPr>
          <p:cNvPr id="4" name="Title 3">
            <a:extLst>
              <a:ext uri="{FF2B5EF4-FFF2-40B4-BE49-F238E27FC236}">
                <a16:creationId xmlns:a16="http://schemas.microsoft.com/office/drawing/2014/main" id="{E9AA184C-1AF1-6574-AE55-CFD126D49237}"/>
              </a:ext>
            </a:extLst>
          </p:cNvPr>
          <p:cNvSpPr>
            <a:spLocks noGrp="1"/>
          </p:cNvSpPr>
          <p:nvPr>
            <p:ph type="title"/>
          </p:nvPr>
        </p:nvSpPr>
        <p:spPr>
          <a:xfrm>
            <a:off x="2346960" y="1562628"/>
            <a:ext cx="7498080" cy="704088"/>
          </a:xfrm>
        </p:spPr>
        <p:txBody>
          <a:bodyPr/>
          <a:lstStyle/>
          <a:p>
            <a:r>
              <a:rPr lang="en-IN" sz="7200" b="1" dirty="0">
                <a:latin typeface="Calibri" panose="020F0502020204030204" pitchFamily="34" charset="0"/>
                <a:ea typeface="Calibri" panose="020F0502020204030204" pitchFamily="34" charset="0"/>
                <a:cs typeface="Calibri" panose="020F0502020204030204" pitchFamily="34" charset="0"/>
              </a:rPr>
              <a:t>Algorithm Steps</a:t>
            </a:r>
            <a:endParaRPr lang="en-IN" sz="7200" dirty="0"/>
          </a:p>
        </p:txBody>
      </p:sp>
      <p:sp>
        <p:nvSpPr>
          <p:cNvPr id="10" name="TextBox 9">
            <a:extLst>
              <a:ext uri="{FF2B5EF4-FFF2-40B4-BE49-F238E27FC236}">
                <a16:creationId xmlns:a16="http://schemas.microsoft.com/office/drawing/2014/main" id="{96A54E13-FA63-E718-69EF-7CD943047FE4}"/>
              </a:ext>
            </a:extLst>
          </p:cNvPr>
          <p:cNvSpPr txBox="1"/>
          <p:nvPr/>
        </p:nvSpPr>
        <p:spPr>
          <a:xfrm>
            <a:off x="2346960" y="2688268"/>
            <a:ext cx="6115616" cy="3696525"/>
          </a:xfrm>
          <a:prstGeom prst="rect">
            <a:avLst/>
          </a:prstGeom>
          <a:noFill/>
        </p:spPr>
        <p:txBody>
          <a:bodyPr wrap="square">
            <a:spAutoFit/>
          </a:bodyPr>
          <a:lstStyle/>
          <a:p>
            <a:pPr marL="342900" lvl="0" indent="-342900">
              <a:lnSpc>
                <a:spcPct val="150000"/>
              </a:lnSpc>
              <a:buSzPts val="1000"/>
              <a:buFont typeface="Symbol" panose="05050102010706020507" pitchFamily="18" charset="2"/>
              <a:buChar char=""/>
              <a:tabLst>
                <a:tab pos="457200" algn="l"/>
              </a:tabLst>
            </a:pPr>
            <a:r>
              <a:rPr lang="en-IN" sz="2000" dirty="0">
                <a:effectLst/>
                <a:latin typeface="Calibri" panose="020F0502020204030204" pitchFamily="34" charset="0"/>
                <a:ea typeface="Calibri" panose="020F0502020204030204" pitchFamily="34" charset="0"/>
                <a:cs typeface="Calibri" panose="020F0502020204030204" pitchFamily="34" charset="0"/>
              </a:rPr>
              <a:t>If probability &gt; threshold → classify as Fake.</a:t>
            </a:r>
          </a:p>
          <a:p>
            <a:pPr marL="342900" lvl="0" indent="-342900">
              <a:lnSpc>
                <a:spcPct val="150000"/>
              </a:lnSpc>
              <a:buSzPts val="1000"/>
              <a:buFont typeface="Symbol" panose="05050102010706020507" pitchFamily="18" charset="2"/>
              <a:buChar char=""/>
              <a:tabLst>
                <a:tab pos="457200" algn="l"/>
              </a:tabLst>
            </a:pPr>
            <a:r>
              <a:rPr lang="en-IN" sz="2000" dirty="0">
                <a:effectLst/>
                <a:latin typeface="Calibri" panose="020F0502020204030204" pitchFamily="34" charset="0"/>
                <a:ea typeface="Calibri" panose="020F0502020204030204" pitchFamily="34" charset="0"/>
                <a:cs typeface="Calibri" panose="020F0502020204030204" pitchFamily="34" charset="0"/>
              </a:rPr>
              <a:t>Else classify as Real.</a:t>
            </a:r>
          </a:p>
          <a:p>
            <a:pPr>
              <a:lnSpc>
                <a:spcPct val="150000"/>
              </a:lnSpc>
              <a:buNone/>
            </a:pPr>
            <a:r>
              <a:rPr lang="en-IN" sz="2000" b="1" dirty="0">
                <a:effectLst/>
                <a:latin typeface="Calibri" panose="020F0502020204030204" pitchFamily="34" charset="0"/>
                <a:ea typeface="Calibri" panose="020F0502020204030204" pitchFamily="34" charset="0"/>
                <a:cs typeface="Calibri" panose="020F0502020204030204" pitchFamily="34" charset="0"/>
              </a:rPr>
              <a:t>Step 7: Output Results</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50000"/>
              </a:lnSpc>
              <a:buSzPts val="1000"/>
              <a:buFont typeface="Symbol" panose="05050102010706020507" pitchFamily="18" charset="2"/>
              <a:buChar char=""/>
              <a:tabLst>
                <a:tab pos="457200" algn="l"/>
              </a:tabLst>
            </a:pPr>
            <a:r>
              <a:rPr lang="en-IN" sz="2000" dirty="0">
                <a:effectLst/>
                <a:latin typeface="Calibri" panose="020F0502020204030204" pitchFamily="34" charset="0"/>
                <a:ea typeface="Calibri" panose="020F0502020204030204" pitchFamily="34" charset="0"/>
                <a:cs typeface="Calibri" panose="020F0502020204030204" pitchFamily="34" charset="0"/>
              </a:rPr>
              <a:t>Show classification label with confidence score.</a:t>
            </a:r>
          </a:p>
          <a:p>
            <a:pPr>
              <a:lnSpc>
                <a:spcPct val="150000"/>
              </a:lnSpc>
              <a:buNone/>
            </a:pPr>
            <a:r>
              <a:rPr lang="en-IN" sz="2000" b="1" dirty="0">
                <a:effectLst/>
                <a:latin typeface="Calibri" panose="020F0502020204030204" pitchFamily="34" charset="0"/>
                <a:ea typeface="Calibri" panose="020F0502020204030204" pitchFamily="34" charset="0"/>
                <a:cs typeface="Calibri" panose="020F0502020204030204" pitchFamily="34" charset="0"/>
              </a:rPr>
              <a:t>Step 8: Deployment</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50000"/>
              </a:lnSpc>
              <a:buSzPts val="1000"/>
              <a:buFont typeface="Symbol" panose="05050102010706020507" pitchFamily="18" charset="2"/>
              <a:buChar char=""/>
              <a:tabLst>
                <a:tab pos="457200" algn="l"/>
              </a:tabLst>
            </a:pPr>
            <a:r>
              <a:rPr lang="en-IN" sz="2000" dirty="0">
                <a:effectLst/>
                <a:latin typeface="Calibri" panose="020F0502020204030204" pitchFamily="34" charset="0"/>
                <a:ea typeface="Calibri" panose="020F0502020204030204" pitchFamily="34" charset="0"/>
                <a:cs typeface="Calibri" panose="020F0502020204030204" pitchFamily="34" charset="0"/>
              </a:rPr>
              <a:t>Integrate model into application (real-time or batch mode).</a:t>
            </a:r>
          </a:p>
          <a:p>
            <a:pPr>
              <a:lnSpc>
                <a:spcPct val="150000"/>
              </a:lnSpc>
              <a:spcAft>
                <a:spcPts val="1000"/>
              </a:spcAft>
              <a:buNone/>
            </a:pPr>
            <a:r>
              <a:rPr lang="en-IN" dirty="0">
                <a:effectLst/>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2037903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83E68DE-3756-7E72-3F5A-34338BB312B3}"/>
              </a:ext>
            </a:extLst>
          </p:cNvPr>
          <p:cNvSpPr>
            <a:spLocks noGrp="1"/>
          </p:cNvSpPr>
          <p:nvPr>
            <p:ph type="sldNum" sz="quarter" idx="12"/>
          </p:nvPr>
        </p:nvSpPr>
        <p:spPr/>
        <p:txBody>
          <a:bodyPr/>
          <a:lstStyle/>
          <a:p>
            <a:fld id="{5BFCF61C-3B18-4C03-8326-CC3B32D710C9}" type="slidenum">
              <a:rPr lang="en-US" smtClean="0"/>
              <a:t>10</a:t>
            </a:fld>
            <a:endParaRPr lang="en-US" dirty="0"/>
          </a:p>
        </p:txBody>
      </p:sp>
      <p:sp>
        <p:nvSpPr>
          <p:cNvPr id="4" name="Title 3">
            <a:extLst>
              <a:ext uri="{FF2B5EF4-FFF2-40B4-BE49-F238E27FC236}">
                <a16:creationId xmlns:a16="http://schemas.microsoft.com/office/drawing/2014/main" id="{62C85805-79DB-07ED-6BDE-11B8962D463A}"/>
              </a:ext>
            </a:extLst>
          </p:cNvPr>
          <p:cNvSpPr>
            <a:spLocks noGrp="1"/>
          </p:cNvSpPr>
          <p:nvPr>
            <p:ph type="title"/>
          </p:nvPr>
        </p:nvSpPr>
        <p:spPr/>
        <p:txBody>
          <a:bodyPr/>
          <a:lstStyle/>
          <a:p>
            <a:pPr algn="ctr"/>
            <a:r>
              <a:rPr lang="en-US" sz="5400" b="1" dirty="0">
                <a:solidFill>
                  <a:schemeClr val="tx2"/>
                </a:solidFill>
                <a:latin typeface="Bahnschrift" panose="020B0502040204020203" pitchFamily="34" charset="0"/>
                <a:cs typeface="Arial" panose="020B0604020202020204" pitchFamily="34" charset="0"/>
              </a:rPr>
              <a:t>dataset</a:t>
            </a:r>
            <a:br>
              <a:rPr lang="en-US" sz="5000" dirty="0">
                <a:solidFill>
                  <a:schemeClr val="tx2"/>
                </a:solidFill>
                <a:latin typeface="Arial" panose="020B0604020202020204" pitchFamily="34" charset="0"/>
                <a:cs typeface="Arial" panose="020B0604020202020204" pitchFamily="34" charset="0"/>
              </a:rPr>
            </a:br>
            <a:endParaRPr lang="en-US" dirty="0"/>
          </a:p>
        </p:txBody>
      </p:sp>
      <p:sp>
        <p:nvSpPr>
          <p:cNvPr id="24" name="TextBox 23">
            <a:extLst>
              <a:ext uri="{FF2B5EF4-FFF2-40B4-BE49-F238E27FC236}">
                <a16:creationId xmlns:a16="http://schemas.microsoft.com/office/drawing/2014/main" id="{6DAC4ADB-7633-B842-54D4-044593F1165E}"/>
              </a:ext>
            </a:extLst>
          </p:cNvPr>
          <p:cNvSpPr txBox="1"/>
          <p:nvPr/>
        </p:nvSpPr>
        <p:spPr>
          <a:xfrm>
            <a:off x="482571" y="2950667"/>
            <a:ext cx="10191464" cy="3737946"/>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en-IN" sz="2000" dirty="0">
                <a:latin typeface="Calibri" panose="020F0502020204030204" pitchFamily="34" charset="0"/>
                <a:cs typeface="Calibri" panose="020F0502020204030204" pitchFamily="34" charset="0"/>
              </a:rPr>
              <a:t>Collected dataset includes real and deepfake images/videos.</a:t>
            </a:r>
          </a:p>
          <a:p>
            <a:pPr marL="342900" indent="-342900">
              <a:lnSpc>
                <a:spcPct val="150000"/>
              </a:lnSpc>
              <a:buFont typeface="Wingdings" panose="05000000000000000000" pitchFamily="2" charset="2"/>
              <a:buChar char="q"/>
            </a:pPr>
            <a:r>
              <a:rPr lang="en-IN" sz="2000" dirty="0">
                <a:latin typeface="Calibri" panose="020F0502020204030204" pitchFamily="34" charset="0"/>
                <a:cs typeface="Calibri" panose="020F0502020204030204" pitchFamily="34" charset="0"/>
              </a:rPr>
              <a:t>Real media: original, unaltered images/videos of multiple subjects.</a:t>
            </a:r>
          </a:p>
          <a:p>
            <a:pPr marL="342900" indent="-342900">
              <a:lnSpc>
                <a:spcPct val="150000"/>
              </a:lnSpc>
              <a:buFont typeface="Wingdings" panose="05000000000000000000" pitchFamily="2" charset="2"/>
              <a:buChar char="q"/>
            </a:pPr>
            <a:r>
              <a:rPr lang="en-IN" sz="2000" dirty="0">
                <a:latin typeface="Calibri" panose="020F0502020204030204" pitchFamily="34" charset="0"/>
                <a:cs typeface="Calibri" panose="020F0502020204030204" pitchFamily="34" charset="0"/>
              </a:rPr>
              <a:t>Deepfake media: generated using GANs, face-swapping, lip-sync, expression manipulation.</a:t>
            </a:r>
          </a:p>
          <a:p>
            <a:pPr marL="342900" indent="-342900">
              <a:lnSpc>
                <a:spcPct val="150000"/>
              </a:lnSpc>
              <a:buFont typeface="Wingdings" panose="05000000000000000000" pitchFamily="2" charset="2"/>
              <a:buChar char="q"/>
            </a:pPr>
            <a:r>
              <a:rPr lang="en-IN" sz="2000" dirty="0">
                <a:latin typeface="Calibri" panose="020F0502020204030204" pitchFamily="34" charset="0"/>
                <a:cs typeface="Calibri" panose="020F0502020204030204" pitchFamily="34" charset="0"/>
              </a:rPr>
              <a:t>Balanced dataset for training (equal number of real &amp; fake samples).</a:t>
            </a:r>
          </a:p>
          <a:p>
            <a:pPr marL="342900" indent="-342900">
              <a:lnSpc>
                <a:spcPct val="150000"/>
              </a:lnSpc>
              <a:buFont typeface="Wingdings" panose="05000000000000000000" pitchFamily="2" charset="2"/>
              <a:buChar char="q"/>
            </a:pPr>
            <a:r>
              <a:rPr lang="en-IN" sz="2000" dirty="0">
                <a:latin typeface="Calibri" panose="020F0502020204030204" pitchFamily="34" charset="0"/>
                <a:cs typeface="Calibri" panose="020F0502020204030204" pitchFamily="34" charset="0"/>
              </a:rPr>
              <a:t>Used publicly available datasets:</a:t>
            </a:r>
          </a:p>
          <a:p>
            <a:pPr marL="800100" lvl="1" indent="-342900">
              <a:lnSpc>
                <a:spcPct val="150000"/>
              </a:lnSpc>
              <a:buFont typeface="Courier New" panose="02070309020205020404" pitchFamily="49" charset="0"/>
              <a:buChar char="o"/>
            </a:pPr>
            <a:r>
              <a:rPr lang="en-IN" sz="2000" dirty="0">
                <a:latin typeface="Calibri" panose="020F0502020204030204" pitchFamily="34" charset="0"/>
                <a:cs typeface="Calibri" panose="020F0502020204030204" pitchFamily="34" charset="0"/>
              </a:rPr>
              <a:t>FaceForensics++</a:t>
            </a:r>
          </a:p>
          <a:p>
            <a:pPr marL="800100" lvl="1" indent="-342900">
              <a:lnSpc>
                <a:spcPct val="150000"/>
              </a:lnSpc>
              <a:buFont typeface="Courier New" panose="02070309020205020404" pitchFamily="49" charset="0"/>
              <a:buChar char="o"/>
            </a:pPr>
            <a:r>
              <a:rPr lang="en-IN" sz="2000" dirty="0">
                <a:latin typeface="Calibri" panose="020F0502020204030204" pitchFamily="34" charset="0"/>
                <a:cs typeface="Calibri" panose="020F0502020204030204" pitchFamily="34" charset="0"/>
              </a:rPr>
              <a:t>Celeb-DF (v2)</a:t>
            </a:r>
          </a:p>
          <a:p>
            <a:pPr marL="800100" lvl="1" indent="-342900">
              <a:lnSpc>
                <a:spcPct val="150000"/>
              </a:lnSpc>
              <a:buFont typeface="Courier New" panose="02070309020205020404" pitchFamily="49" charset="0"/>
              <a:buChar char="o"/>
            </a:pPr>
            <a:r>
              <a:rPr lang="en-IN" sz="2000" dirty="0">
                <a:latin typeface="Calibri" panose="020F0502020204030204" pitchFamily="34" charset="0"/>
                <a:cs typeface="Calibri" panose="020F0502020204030204" pitchFamily="34" charset="0"/>
              </a:rPr>
              <a:t>Deepfake Detection Challenge (DFDC)</a:t>
            </a:r>
          </a:p>
        </p:txBody>
      </p:sp>
      <p:sp>
        <p:nvSpPr>
          <p:cNvPr id="15" name="TextBox 14">
            <a:extLst>
              <a:ext uri="{FF2B5EF4-FFF2-40B4-BE49-F238E27FC236}">
                <a16:creationId xmlns:a16="http://schemas.microsoft.com/office/drawing/2014/main" id="{E5B7A0B2-F3EB-0EDD-F7C3-9926C2D8486A}"/>
              </a:ext>
            </a:extLst>
          </p:cNvPr>
          <p:cNvSpPr txBox="1"/>
          <p:nvPr/>
        </p:nvSpPr>
        <p:spPr>
          <a:xfrm>
            <a:off x="3965418" y="1463040"/>
            <a:ext cx="3865830" cy="1107996"/>
          </a:xfrm>
          <a:prstGeom prst="rect">
            <a:avLst/>
          </a:prstGeom>
          <a:noFill/>
        </p:spPr>
        <p:txBody>
          <a:bodyPr wrap="square" rtlCol="0">
            <a:spAutoFit/>
          </a:bodyPr>
          <a:lstStyle/>
          <a:p>
            <a:r>
              <a:rPr lang="en-US" sz="6600" b="1" dirty="0">
                <a:solidFill>
                  <a:schemeClr val="bg1"/>
                </a:solidFill>
                <a:latin typeface="Calibri" panose="020F0502020204030204" pitchFamily="34" charset="0"/>
                <a:ea typeface="Calibri" panose="020F0502020204030204" pitchFamily="34" charset="0"/>
                <a:cs typeface="Calibri" panose="020F0502020204030204" pitchFamily="34" charset="0"/>
              </a:rPr>
              <a:t>DATASET</a:t>
            </a:r>
            <a:endParaRPr lang="en-IN"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7661497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randombar(horizontal)">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098E534-EB31-6078-7138-F84DA2FF4C61}"/>
              </a:ext>
            </a:extLst>
          </p:cNvPr>
          <p:cNvSpPr>
            <a:spLocks noGrp="1"/>
          </p:cNvSpPr>
          <p:nvPr>
            <p:ph type="sldNum" sz="quarter" idx="12"/>
          </p:nvPr>
        </p:nvSpPr>
        <p:spPr/>
        <p:txBody>
          <a:bodyPr/>
          <a:lstStyle/>
          <a:p>
            <a:fld id="{5BFCF61C-3B18-4C03-8326-CC3B32D710C9}" type="slidenum">
              <a:rPr lang="en-US" noProof="0" smtClean="0"/>
              <a:pPr/>
              <a:t>11</a:t>
            </a:fld>
            <a:endParaRPr lang="en-US" noProof="0"/>
          </a:p>
        </p:txBody>
      </p:sp>
      <p:sp>
        <p:nvSpPr>
          <p:cNvPr id="10" name="Title 9">
            <a:extLst>
              <a:ext uri="{FF2B5EF4-FFF2-40B4-BE49-F238E27FC236}">
                <a16:creationId xmlns:a16="http://schemas.microsoft.com/office/drawing/2014/main" id="{C67D474F-EB94-6B4D-BA2E-ECA07B2A23C4}"/>
              </a:ext>
            </a:extLst>
          </p:cNvPr>
          <p:cNvSpPr>
            <a:spLocks noGrp="1"/>
          </p:cNvSpPr>
          <p:nvPr>
            <p:ph type="title"/>
          </p:nvPr>
        </p:nvSpPr>
        <p:spPr/>
        <p:txBody>
          <a:bodyPr/>
          <a:lstStyle/>
          <a:p>
            <a:r>
              <a:rPr lang="en-US" sz="5400" b="1" dirty="0">
                <a:latin typeface="Calibri" panose="020F0502020204030204" pitchFamily="34" charset="0"/>
                <a:ea typeface="Calibri" panose="020F0502020204030204" pitchFamily="34" charset="0"/>
                <a:cs typeface="Calibri" panose="020F0502020204030204" pitchFamily="34" charset="0"/>
              </a:rPr>
              <a:t>CNN:-</a:t>
            </a:r>
            <a:r>
              <a:rPr lang="en-US" sz="5400" b="1" cap="none" dirty="0">
                <a:latin typeface="Calibri" panose="020F0502020204030204" pitchFamily="34" charset="0"/>
                <a:ea typeface="Calibri" panose="020F0502020204030204" pitchFamily="34" charset="0"/>
                <a:cs typeface="Calibri" panose="020F0502020204030204" pitchFamily="34" charset="0"/>
              </a:rPr>
              <a:t>Convolutional neural network</a:t>
            </a:r>
            <a:endParaRPr lang="en-IN" sz="5400" b="1" dirty="0">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E9CE0FD2-E6CB-EE31-16D6-F79589A08D6E}"/>
              </a:ext>
            </a:extLst>
          </p:cNvPr>
          <p:cNvSpPr txBox="1"/>
          <p:nvPr/>
        </p:nvSpPr>
        <p:spPr>
          <a:xfrm>
            <a:off x="351578" y="2631198"/>
            <a:ext cx="11943030" cy="3416320"/>
          </a:xfrm>
          <a:prstGeom prst="rect">
            <a:avLst/>
          </a:prstGeom>
          <a:noFill/>
        </p:spPr>
        <p:txBody>
          <a:bodyPr wrap="square">
            <a:spAutoFit/>
          </a:bodyPr>
          <a:lstStyle/>
          <a:p>
            <a:pPr>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 What is it?</a:t>
            </a:r>
            <a:br>
              <a:rPr lang="en-US"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A deep learning model designed specially for image and video analysis.</a:t>
            </a:r>
          </a:p>
          <a:p>
            <a:pPr>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 Why was it used?</a:t>
            </a:r>
            <a:br>
              <a:rPr lang="en-US"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Because deepfake images contain tiny </a:t>
            </a:r>
            <a:r>
              <a:rPr lang="en-US" sz="1600" b="1" dirty="0">
                <a:latin typeface="Calibri" panose="020F0502020204030204" pitchFamily="34" charset="0"/>
                <a:ea typeface="Calibri" panose="020F0502020204030204" pitchFamily="34" charset="0"/>
                <a:cs typeface="Calibri" panose="020F0502020204030204" pitchFamily="34" charset="0"/>
              </a:rPr>
              <a:t>patterns, textures, and artifacts</a:t>
            </a:r>
            <a:r>
              <a:rPr lang="en-US" sz="1600" dirty="0">
                <a:latin typeface="Calibri" panose="020F0502020204030204" pitchFamily="34" charset="0"/>
                <a:ea typeface="Calibri" panose="020F0502020204030204" pitchFamily="34" charset="0"/>
                <a:cs typeface="Calibri" panose="020F0502020204030204" pitchFamily="34" charset="0"/>
              </a:rPr>
              <a:t> that are hard for humans to notice. CNN can automatically capture these hidden features.</a:t>
            </a:r>
          </a:p>
          <a:p>
            <a:pPr>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 Purpose in our project:</a:t>
            </a:r>
            <a:br>
              <a:rPr lang="en-US"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To distinguish between </a:t>
            </a:r>
            <a:r>
              <a:rPr lang="en-US" sz="1600" b="1" dirty="0">
                <a:latin typeface="Calibri" panose="020F0502020204030204" pitchFamily="34" charset="0"/>
                <a:ea typeface="Calibri" panose="020F0502020204030204" pitchFamily="34" charset="0"/>
                <a:cs typeface="Calibri" panose="020F0502020204030204" pitchFamily="34" charset="0"/>
              </a:rPr>
              <a:t>real and fake images</a:t>
            </a:r>
            <a:r>
              <a:rPr lang="en-US" sz="1600" dirty="0">
                <a:latin typeface="Calibri" panose="020F0502020204030204" pitchFamily="34" charset="0"/>
                <a:ea typeface="Calibri" panose="020F0502020204030204" pitchFamily="34" charset="0"/>
                <a:cs typeface="Calibri" panose="020F0502020204030204" pitchFamily="34" charset="0"/>
              </a:rPr>
              <a:t> by detecting subtle differences like noise, edges, and compression artifacts.</a:t>
            </a:r>
          </a:p>
          <a:p>
            <a:pPr>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 How it works:</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Convolution layers</a:t>
            </a:r>
            <a:r>
              <a:rPr lang="en-US" sz="1600" dirty="0">
                <a:latin typeface="Calibri" panose="020F0502020204030204" pitchFamily="34" charset="0"/>
                <a:ea typeface="Calibri" panose="020F0502020204030204" pitchFamily="34" charset="0"/>
                <a:cs typeface="Calibri" panose="020F0502020204030204" pitchFamily="34" charset="0"/>
              </a:rPr>
              <a:t> → extract important features (edges, shapes, patterns).</a:t>
            </a:r>
          </a:p>
          <a:p>
            <a:pPr marL="742950" lvl="1" indent="-2857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Pooling layers</a:t>
            </a:r>
            <a:r>
              <a:rPr lang="en-US" sz="1600" dirty="0">
                <a:latin typeface="Calibri" panose="020F0502020204030204" pitchFamily="34" charset="0"/>
                <a:ea typeface="Calibri" panose="020F0502020204030204" pitchFamily="34" charset="0"/>
                <a:cs typeface="Calibri" panose="020F0502020204030204" pitchFamily="34" charset="0"/>
              </a:rPr>
              <a:t> → reduce size while keeping key information.</a:t>
            </a:r>
          </a:p>
          <a:p>
            <a:pPr marL="742950" lvl="1" indent="-2857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Dense layers</a:t>
            </a:r>
            <a:r>
              <a:rPr lang="en-US" sz="1600" dirty="0">
                <a:latin typeface="Calibri" panose="020F0502020204030204" pitchFamily="34" charset="0"/>
                <a:ea typeface="Calibri" panose="020F0502020204030204" pitchFamily="34" charset="0"/>
                <a:cs typeface="Calibri" panose="020F0502020204030204" pitchFamily="34" charset="0"/>
              </a:rPr>
              <a:t> → combine features to make decisions.</a:t>
            </a:r>
          </a:p>
          <a:p>
            <a:pPr marL="742950" lvl="1" indent="-2857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Output layer</a:t>
            </a:r>
            <a:r>
              <a:rPr lang="en-US" sz="1600" dirty="0">
                <a:latin typeface="Calibri" panose="020F0502020204030204" pitchFamily="34" charset="0"/>
                <a:ea typeface="Calibri" panose="020F0502020204030204" pitchFamily="34" charset="0"/>
                <a:cs typeface="Calibri" panose="020F0502020204030204" pitchFamily="34" charset="0"/>
              </a:rPr>
              <a:t> → gives probability: </a:t>
            </a:r>
            <a:r>
              <a:rPr lang="en-US" sz="1600" b="1" dirty="0">
                <a:latin typeface="Calibri" panose="020F0502020204030204" pitchFamily="34" charset="0"/>
                <a:ea typeface="Calibri" panose="020F0502020204030204" pitchFamily="34" charset="0"/>
                <a:cs typeface="Calibri" panose="020F0502020204030204" pitchFamily="34" charset="0"/>
              </a:rPr>
              <a:t>Fake (0)</a:t>
            </a:r>
            <a:r>
              <a:rPr lang="en-US" sz="1600" dirty="0">
                <a:latin typeface="Calibri" panose="020F0502020204030204" pitchFamily="34" charset="0"/>
                <a:ea typeface="Calibri" panose="020F0502020204030204" pitchFamily="34" charset="0"/>
                <a:cs typeface="Calibri" panose="020F0502020204030204" pitchFamily="34" charset="0"/>
              </a:rPr>
              <a:t> or </a:t>
            </a:r>
            <a:r>
              <a:rPr lang="en-US" sz="1600" b="1" dirty="0">
                <a:latin typeface="Calibri" panose="020F0502020204030204" pitchFamily="34" charset="0"/>
                <a:ea typeface="Calibri" panose="020F0502020204030204" pitchFamily="34" charset="0"/>
                <a:cs typeface="Calibri" panose="020F0502020204030204" pitchFamily="34" charset="0"/>
              </a:rPr>
              <a:t>Real (1)</a:t>
            </a:r>
            <a:r>
              <a:rPr lang="en-US" sz="1600" dirty="0">
                <a:latin typeface="Calibri" panose="020F0502020204030204" pitchFamily="34" charset="0"/>
                <a:ea typeface="Calibri" panose="020F0502020204030204" pitchFamily="34" charset="0"/>
                <a:cs typeface="Calibri" panose="020F0502020204030204" pitchFamily="34" charset="0"/>
              </a:rPr>
              <a:t>.</a:t>
            </a:r>
          </a:p>
          <a:p>
            <a:pPr>
              <a:buNone/>
            </a:pPr>
            <a:r>
              <a:rPr lang="en-US" sz="1600" dirty="0">
                <a:latin typeface="Calibri" panose="020F0502020204030204" pitchFamily="34" charset="0"/>
                <a:ea typeface="Calibri" panose="020F0502020204030204" pitchFamily="34" charset="0"/>
                <a:cs typeface="Calibri" panose="020F0502020204030204" pitchFamily="34" charset="0"/>
              </a:rPr>
              <a:t>“CNN is an image-focused neural network that automatically detects hidden artifacts in deepfakes, which makes it ideal for our project.”</a:t>
            </a:r>
          </a:p>
        </p:txBody>
      </p:sp>
    </p:spTree>
    <p:extLst>
      <p:ext uri="{BB962C8B-B14F-4D97-AF65-F5344CB8AC3E}">
        <p14:creationId xmlns:p14="http://schemas.microsoft.com/office/powerpoint/2010/main" val="2826357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62C4D-3F97-1652-3A4A-C989986D9B65}"/>
              </a:ext>
            </a:extLst>
          </p:cNvPr>
          <p:cNvSpPr>
            <a:spLocks noGrp="1"/>
          </p:cNvSpPr>
          <p:nvPr>
            <p:ph type="title"/>
          </p:nvPr>
        </p:nvSpPr>
        <p:spPr>
          <a:xfrm>
            <a:off x="0" y="1032512"/>
            <a:ext cx="4984955" cy="1682749"/>
          </a:xfrm>
        </p:spPr>
        <p:txBody>
          <a:bodyPr/>
          <a:lstStyle/>
          <a:p>
            <a:r>
              <a:rPr lang="en-US" sz="6000" b="1" dirty="0">
                <a:latin typeface="Calibri" panose="020F0502020204030204" pitchFamily="34" charset="0"/>
                <a:ea typeface="Calibri" panose="020F0502020204030204" pitchFamily="34" charset="0"/>
                <a:cs typeface="Calibri" panose="020F0502020204030204" pitchFamily="34" charset="0"/>
              </a:rPr>
              <a:t>Data analysis</a:t>
            </a:r>
          </a:p>
        </p:txBody>
      </p:sp>
      <p:sp>
        <p:nvSpPr>
          <p:cNvPr id="13" name="Slide Number Placeholder 12">
            <a:extLst>
              <a:ext uri="{FF2B5EF4-FFF2-40B4-BE49-F238E27FC236}">
                <a16:creationId xmlns:a16="http://schemas.microsoft.com/office/drawing/2014/main" id="{208378E4-1369-B8BE-D097-D0A68C992F75}"/>
              </a:ext>
            </a:extLst>
          </p:cNvPr>
          <p:cNvSpPr>
            <a:spLocks noGrp="1"/>
          </p:cNvSpPr>
          <p:nvPr>
            <p:ph type="sldNum" sz="quarter" idx="12"/>
          </p:nvPr>
        </p:nvSpPr>
        <p:spPr/>
        <p:txBody>
          <a:bodyPr/>
          <a:lstStyle/>
          <a:p>
            <a:fld id="{5BFCF61C-3B18-4C03-8326-CC3B32D710C9}" type="slidenum">
              <a:rPr lang="en-US" smtClean="0"/>
              <a:pPr/>
              <a:t>12</a:t>
            </a:fld>
            <a:endParaRPr lang="en-US"/>
          </a:p>
        </p:txBody>
      </p:sp>
      <p:sp>
        <p:nvSpPr>
          <p:cNvPr id="4" name="TextBox 3">
            <a:extLst>
              <a:ext uri="{FF2B5EF4-FFF2-40B4-BE49-F238E27FC236}">
                <a16:creationId xmlns:a16="http://schemas.microsoft.com/office/drawing/2014/main" id="{D7E9792B-824B-9F47-5589-4A6425232BC4}"/>
              </a:ext>
            </a:extLst>
          </p:cNvPr>
          <p:cNvSpPr txBox="1"/>
          <p:nvPr/>
        </p:nvSpPr>
        <p:spPr>
          <a:xfrm>
            <a:off x="4535787" y="165950"/>
            <a:ext cx="7469109" cy="6124754"/>
          </a:xfrm>
          <a:prstGeom prst="rect">
            <a:avLst/>
          </a:prstGeom>
          <a:noFill/>
        </p:spPr>
        <p:txBody>
          <a:bodyPr wrap="square">
            <a:spAutoFit/>
          </a:bodyPr>
          <a:lstStyle/>
          <a:p>
            <a:pPr marL="457200" indent="-457200">
              <a:buFont typeface="+mj-lt"/>
              <a:buAutoNum type="arabicPeriod"/>
            </a:pPr>
            <a:r>
              <a:rPr lang="en-IN" sz="2800" b="1" u="sng" dirty="0">
                <a:solidFill>
                  <a:schemeClr val="bg1"/>
                </a:solidFill>
                <a:latin typeface="Calibri" panose="020F0502020204030204" pitchFamily="34" charset="0"/>
                <a:ea typeface="Calibri" panose="020F0502020204030204" pitchFamily="34" charset="0"/>
                <a:cs typeface="Calibri" panose="020F0502020204030204" pitchFamily="34" charset="0"/>
              </a:rPr>
              <a:t>Importing Required Libraries</a:t>
            </a:r>
          </a:p>
          <a:p>
            <a:endParaRPr lang="en-IN"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import tensorflow as tf </a:t>
            </a:r>
          </a:p>
          <a:p>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from tensorflow.keras.models import Sequential </a:t>
            </a:r>
          </a:p>
          <a:p>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from tensorflow.keras.layers import Conv2D, MaxPooling2D, Flatten, Dense, Dropout </a:t>
            </a:r>
          </a:p>
          <a:p>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from tensorflow.keras.preprocessing.image import ImageDataGenerator </a:t>
            </a:r>
          </a:p>
          <a:p>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import matplotlib.pyplot as plt </a:t>
            </a:r>
          </a:p>
          <a:p>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from sklearn.metrics import classification_report, confusion_matrix, </a:t>
            </a:r>
          </a:p>
          <a:p>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roc_curve, auc, precision_recall_curve, average_precision_score </a:t>
            </a:r>
          </a:p>
          <a:p>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import os </a:t>
            </a:r>
          </a:p>
          <a:p>
            <a:pPr marL="342900" indent="-342900">
              <a:buFont typeface="Arial" panose="020B0604020202020204" pitchFamily="34" charset="0"/>
              <a:buChar char="•"/>
            </a:pPr>
            <a:r>
              <a:rPr lang="en-IN" sz="2000" b="1" dirty="0">
                <a:solidFill>
                  <a:schemeClr val="bg1"/>
                </a:solidFill>
                <a:latin typeface="Calibri" panose="020F0502020204030204" pitchFamily="34" charset="0"/>
                <a:ea typeface="Calibri" panose="020F0502020204030204" pitchFamily="34" charset="0"/>
                <a:cs typeface="Calibri" panose="020F0502020204030204" pitchFamily="34" charset="0"/>
              </a:rPr>
              <a:t>TensorFlow/Keras </a:t>
            </a:r>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 For building and training the CNN model. </a:t>
            </a:r>
          </a:p>
          <a:p>
            <a:pPr marL="342900" indent="-342900">
              <a:buFont typeface="Arial" panose="020B0604020202020204" pitchFamily="34" charset="0"/>
              <a:buChar char="•"/>
            </a:pPr>
            <a:r>
              <a:rPr lang="en-IN" sz="2000" b="1" dirty="0">
                <a:solidFill>
                  <a:schemeClr val="bg1"/>
                </a:solidFill>
                <a:latin typeface="Calibri" panose="020F0502020204030204" pitchFamily="34" charset="0"/>
                <a:ea typeface="Calibri" panose="020F0502020204030204" pitchFamily="34" charset="0"/>
                <a:cs typeface="Calibri" panose="020F0502020204030204" pitchFamily="34" charset="0"/>
              </a:rPr>
              <a:t>ImageDataGenerator</a:t>
            </a:r>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 → For preprocessing images (rescaling, augmentation). </a:t>
            </a:r>
          </a:p>
          <a:p>
            <a:pPr marL="342900" indent="-342900">
              <a:buFont typeface="Arial" panose="020B0604020202020204" pitchFamily="34" charset="0"/>
              <a:buChar char="•"/>
            </a:pPr>
            <a:r>
              <a:rPr lang="en-IN" sz="2000" b="1" dirty="0">
                <a:solidFill>
                  <a:schemeClr val="bg1"/>
                </a:solidFill>
                <a:latin typeface="Calibri" panose="020F0502020204030204" pitchFamily="34" charset="0"/>
                <a:ea typeface="Calibri" panose="020F0502020204030204" pitchFamily="34" charset="0"/>
                <a:cs typeface="Calibri" panose="020F0502020204030204" pitchFamily="34" charset="0"/>
              </a:rPr>
              <a:t>Matplotlib/Seaborn </a:t>
            </a:r>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 For plotting graphs and evaluation metrics. </a:t>
            </a:r>
          </a:p>
          <a:p>
            <a:pPr marL="342900" indent="-342900">
              <a:buFont typeface="Arial" panose="020B0604020202020204" pitchFamily="34" charset="0"/>
              <a:buChar char="•"/>
            </a:pPr>
            <a:r>
              <a:rPr lang="en-IN" sz="2000" b="1" dirty="0">
                <a:solidFill>
                  <a:schemeClr val="bg1"/>
                </a:solidFill>
                <a:latin typeface="Calibri" panose="020F0502020204030204" pitchFamily="34" charset="0"/>
                <a:ea typeface="Calibri" panose="020F0502020204030204" pitchFamily="34" charset="0"/>
                <a:cs typeface="Calibri" panose="020F0502020204030204" pitchFamily="34" charset="0"/>
              </a:rPr>
              <a:t>Sklearn Metrics </a:t>
            </a:r>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 For performance evaluation (confusion matrix, ROC, precisionrecall, etc.). </a:t>
            </a:r>
          </a:p>
          <a:p>
            <a:pPr marL="342900" indent="-342900">
              <a:buFont typeface="Arial" panose="020B0604020202020204" pitchFamily="34" charset="0"/>
              <a:buChar char="•"/>
            </a:pPr>
            <a:r>
              <a:rPr lang="en-IN" sz="2000" b="1" dirty="0">
                <a:solidFill>
                  <a:schemeClr val="bg1"/>
                </a:solidFill>
                <a:latin typeface="Calibri" panose="020F0502020204030204" pitchFamily="34" charset="0"/>
                <a:ea typeface="Calibri" panose="020F0502020204030204" pitchFamily="34" charset="0"/>
                <a:cs typeface="Calibri" panose="020F0502020204030204" pitchFamily="34" charset="0"/>
              </a:rPr>
              <a:t>OS</a:t>
            </a:r>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 → For creating folders and managing file saving.</a:t>
            </a:r>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1635514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down)">
                                      <p:cBhvr>
                                        <p:cTn id="12" dur="500"/>
                                        <p:tgtEl>
                                          <p:spTgt spid="4">
                                            <p:txEl>
                                              <p:pRg st="0" end="0"/>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down)">
                                      <p:cBhvr>
                                        <p:cTn id="15" dur="500"/>
                                        <p:tgtEl>
                                          <p:spTgt spid="4">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wipe(down)">
                                      <p:cBhvr>
                                        <p:cTn id="18" dur="500"/>
                                        <p:tgtEl>
                                          <p:spTgt spid="4">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wipe(down)">
                                      <p:cBhvr>
                                        <p:cTn id="21" dur="500"/>
                                        <p:tgtEl>
                                          <p:spTgt spid="4">
                                            <p:txEl>
                                              <p:pRg st="4" end="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wipe(down)">
                                      <p:cBhvr>
                                        <p:cTn id="24" dur="500"/>
                                        <p:tgtEl>
                                          <p:spTgt spid="4">
                                            <p:txEl>
                                              <p:pRg st="5" end="5"/>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wipe(down)">
                                      <p:cBhvr>
                                        <p:cTn id="27" dur="500"/>
                                        <p:tgtEl>
                                          <p:spTgt spid="4">
                                            <p:txEl>
                                              <p:pRg st="6" end="6"/>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4">
                                            <p:txEl>
                                              <p:pRg st="7" end="7"/>
                                            </p:txEl>
                                          </p:spTgt>
                                        </p:tgtEl>
                                        <p:attrNameLst>
                                          <p:attrName>style.visibility</p:attrName>
                                        </p:attrNameLst>
                                      </p:cBhvr>
                                      <p:to>
                                        <p:strVal val="visible"/>
                                      </p:to>
                                    </p:set>
                                    <p:animEffect transition="in" filter="wipe(down)">
                                      <p:cBhvr>
                                        <p:cTn id="30" dur="500"/>
                                        <p:tgtEl>
                                          <p:spTgt spid="4">
                                            <p:txEl>
                                              <p:pRg st="7" end="7"/>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animEffect transition="in" filter="wipe(down)">
                                      <p:cBhvr>
                                        <p:cTn id="33" dur="500"/>
                                        <p:tgtEl>
                                          <p:spTgt spid="4">
                                            <p:txEl>
                                              <p:pRg st="8" end="8"/>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4">
                                            <p:txEl>
                                              <p:pRg st="9" end="9"/>
                                            </p:txEl>
                                          </p:spTgt>
                                        </p:tgtEl>
                                        <p:attrNameLst>
                                          <p:attrName>style.visibility</p:attrName>
                                        </p:attrNameLst>
                                      </p:cBhvr>
                                      <p:to>
                                        <p:strVal val="visible"/>
                                      </p:to>
                                    </p:set>
                                    <p:animEffect transition="in" filter="wipe(down)">
                                      <p:cBhvr>
                                        <p:cTn id="36" dur="500"/>
                                        <p:tgtEl>
                                          <p:spTgt spid="4">
                                            <p:txEl>
                                              <p:pRg st="9" end="9"/>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animEffect transition="in" filter="wipe(down)">
                                      <p:cBhvr>
                                        <p:cTn id="39" dur="500"/>
                                        <p:tgtEl>
                                          <p:spTgt spid="4">
                                            <p:txEl>
                                              <p:pRg st="10" end="10"/>
                                            </p:tx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4">
                                            <p:txEl>
                                              <p:pRg st="11" end="11"/>
                                            </p:txEl>
                                          </p:spTgt>
                                        </p:tgtEl>
                                        <p:attrNameLst>
                                          <p:attrName>style.visibility</p:attrName>
                                        </p:attrNameLst>
                                      </p:cBhvr>
                                      <p:to>
                                        <p:strVal val="visible"/>
                                      </p:to>
                                    </p:set>
                                    <p:animEffect transition="in" filter="wipe(down)">
                                      <p:cBhvr>
                                        <p:cTn id="42" dur="500"/>
                                        <p:tgtEl>
                                          <p:spTgt spid="4">
                                            <p:txEl>
                                              <p:pRg st="11" end="11"/>
                                            </p:txEl>
                                          </p:spTgt>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4">
                                            <p:txEl>
                                              <p:pRg st="12" end="12"/>
                                            </p:txEl>
                                          </p:spTgt>
                                        </p:tgtEl>
                                        <p:attrNameLst>
                                          <p:attrName>style.visibility</p:attrName>
                                        </p:attrNameLst>
                                      </p:cBhvr>
                                      <p:to>
                                        <p:strVal val="visible"/>
                                      </p:to>
                                    </p:set>
                                    <p:animEffect transition="in" filter="wipe(down)">
                                      <p:cBhvr>
                                        <p:cTn id="45" dur="500"/>
                                        <p:tgtEl>
                                          <p:spTgt spid="4">
                                            <p:txEl>
                                              <p:pRg st="12" end="12"/>
                                            </p:txEl>
                                          </p:spTgt>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4">
                                            <p:txEl>
                                              <p:pRg st="13" end="13"/>
                                            </p:txEl>
                                          </p:spTgt>
                                        </p:tgtEl>
                                        <p:attrNameLst>
                                          <p:attrName>style.visibility</p:attrName>
                                        </p:attrNameLst>
                                      </p:cBhvr>
                                      <p:to>
                                        <p:strVal val="visible"/>
                                      </p:to>
                                    </p:set>
                                    <p:animEffect transition="in" filter="wipe(down)">
                                      <p:cBhvr>
                                        <p:cTn id="48" dur="500"/>
                                        <p:tgtEl>
                                          <p:spTgt spid="4">
                                            <p:txEl>
                                              <p:pRg st="13" end="13"/>
                                            </p:txEl>
                                          </p:spTgt>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4">
                                            <p:txEl>
                                              <p:pRg st="14" end="14"/>
                                            </p:txEl>
                                          </p:spTgt>
                                        </p:tgtEl>
                                        <p:attrNameLst>
                                          <p:attrName>style.visibility</p:attrName>
                                        </p:attrNameLst>
                                      </p:cBhvr>
                                      <p:to>
                                        <p:strVal val="visible"/>
                                      </p:to>
                                    </p:set>
                                    <p:animEffect transition="in" filter="wipe(down)">
                                      <p:cBhvr>
                                        <p:cTn id="51" dur="500"/>
                                        <p:tgtEl>
                                          <p:spTgt spid="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B2DB87A-E79C-392C-A6EC-96EB3E36F0D5}"/>
              </a:ext>
            </a:extLst>
          </p:cNvPr>
          <p:cNvSpPr txBox="1"/>
          <p:nvPr/>
        </p:nvSpPr>
        <p:spPr>
          <a:xfrm>
            <a:off x="220299" y="144856"/>
            <a:ext cx="10227400" cy="6617196"/>
          </a:xfrm>
          <a:prstGeom prst="rect">
            <a:avLst/>
          </a:prstGeom>
          <a:noFill/>
        </p:spPr>
        <p:txBody>
          <a:bodyPr wrap="square">
            <a:spAutoFit/>
          </a:bodyPr>
          <a:lstStyle/>
          <a:p>
            <a:r>
              <a:rPr lang="en-IN" sz="2800" b="1" u="sng" dirty="0">
                <a:solidFill>
                  <a:schemeClr val="bg1"/>
                </a:solidFill>
                <a:latin typeface="Calibri" panose="020F0502020204030204" pitchFamily="34" charset="0"/>
                <a:ea typeface="Calibri" panose="020F0502020204030204" pitchFamily="34" charset="0"/>
                <a:cs typeface="Calibri" panose="020F0502020204030204" pitchFamily="34" charset="0"/>
              </a:rPr>
              <a:t>2. Project Setup </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PROJECT_TITLE = "Deepfake Image Detection using Machine Learning"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os.makedirs("results", exist_ok=True)</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342900" indent="-342900">
              <a:buFont typeface="Arial" panose="020B0604020202020204" pitchFamily="34" charset="0"/>
              <a:buChar char="•"/>
            </a:pP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A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project</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title</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is stored in a variable. </a:t>
            </a:r>
          </a:p>
          <a:p>
            <a:pPr marL="342900" indent="-342900">
              <a:buFont typeface="Arial" panose="020B0604020202020204" pitchFamily="34" charset="0"/>
              <a:buChar char="•"/>
            </a:pP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A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results</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folder</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is created to save plots and reports. </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2800" b="1" u="sng" dirty="0">
                <a:solidFill>
                  <a:schemeClr val="bg1"/>
                </a:solidFill>
                <a:latin typeface="Calibri" panose="020F0502020204030204" pitchFamily="34" charset="0"/>
                <a:ea typeface="Calibri" panose="020F0502020204030204" pitchFamily="34" charset="0"/>
                <a:cs typeface="Calibri" panose="020F0502020204030204" pitchFamily="34" charset="0"/>
              </a:rPr>
              <a:t>3. Helper Function to Save Plots </a:t>
            </a:r>
          </a:p>
          <a:p>
            <a:endPar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def save_plot(fig, filename, subtitle=""):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if subtitle: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fig.suptitle(f"{PROJECT_TITLE}\n{subtitle}", fontsize=14, fontweight="bold")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else: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fig.suptitle(PROJECT_TITLE, fontsize=14, fontweight="bold") </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safe_title = PROJECT_TITLE.replace(" ", "_").lower()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filename = f"{safe_title}_{filename}”</a:t>
            </a:r>
          </a:p>
          <a:p>
            <a:r>
              <a:rPr lang="en-IN" sz="1600" dirty="0">
                <a:solidFill>
                  <a:schemeClr val="bg1"/>
                </a:solidFill>
              </a:rPr>
              <a:t>fig.savefig(os.path.join("results", filename), bbox_inches="tight") </a:t>
            </a:r>
          </a:p>
          <a:p>
            <a:r>
              <a:rPr lang="en-IN" sz="1600" dirty="0">
                <a:solidFill>
                  <a:schemeClr val="bg1"/>
                </a:solidFill>
              </a:rPr>
              <a:t>plt.close(fig)</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Adds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title</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subtitle</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to each figure.</a:t>
            </a:r>
          </a:p>
          <a:p>
            <a:pPr marL="285750" indent="-285750">
              <a:buFont typeface="Arial" panose="020B0604020202020204" pitchFamily="34" charset="0"/>
              <a:buChar char="•"/>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Replaces spaces in the project title with underscores to create a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safe filename. </a:t>
            </a:r>
          </a:p>
          <a:p>
            <a:pPr marL="285750" indent="-285750">
              <a:buFont typeface="Arial" panose="020B0604020202020204" pitchFamily="34" charset="0"/>
              <a:buChar char="•"/>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Saves plots inside the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results folder. </a:t>
            </a:r>
          </a:p>
          <a:p>
            <a:pPr marL="285750" indent="-285750">
              <a:buFont typeface="Arial" panose="020B0604020202020204" pitchFamily="34" charset="0"/>
              <a:buChar char="•"/>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Closes the figure after saving to avoid memory issues.</a:t>
            </a:r>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2139013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8806B6-0410-9EFE-AB27-BE84C8888FA1}"/>
              </a:ext>
            </a:extLst>
          </p:cNvPr>
          <p:cNvSpPr txBox="1"/>
          <p:nvPr/>
        </p:nvSpPr>
        <p:spPr>
          <a:xfrm>
            <a:off x="541456" y="-36195"/>
            <a:ext cx="8811285" cy="6894195"/>
          </a:xfrm>
          <a:prstGeom prst="rect">
            <a:avLst/>
          </a:prstGeom>
          <a:noFill/>
        </p:spPr>
        <p:txBody>
          <a:bodyPr wrap="square">
            <a:spAutoFit/>
          </a:bodyPr>
          <a:lstStyle/>
          <a:p>
            <a:r>
              <a:rPr lang="en-IN" sz="2800" b="1" u="sng" dirty="0">
                <a:solidFill>
                  <a:schemeClr val="bg1"/>
                </a:solidFill>
                <a:latin typeface="Calibri" panose="020F0502020204030204" pitchFamily="34" charset="0"/>
                <a:ea typeface="Calibri" panose="020F0502020204030204" pitchFamily="34" charset="0"/>
                <a:cs typeface="Calibri" panose="020F0502020204030204" pitchFamily="34" charset="0"/>
              </a:rPr>
              <a:t>4. Dataset Preparation </a:t>
            </a:r>
          </a:p>
          <a:p>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train_dir = 'dataset/train’ </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val_dir = 'dataset/val’ </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img_size = (150, 150) </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batch_size = 32 </a:t>
            </a:r>
          </a:p>
          <a:p>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Dataset has </a:t>
            </a:r>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train</a:t>
            </a: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 and </a:t>
            </a:r>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validation</a:t>
            </a: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 folders. </a:t>
            </a:r>
          </a:p>
          <a:p>
            <a:pPr marL="285750" indent="-285750">
              <a:buFont typeface="Arial" panose="020B0604020202020204" pitchFamily="34" charset="0"/>
              <a:buChar char="•"/>
            </a:pP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Images are resized to </a:t>
            </a:r>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150×150</a:t>
            </a: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Mini-batches of </a:t>
            </a:r>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32</a:t>
            </a: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images</a:t>
            </a: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 are used during training. </a:t>
            </a:r>
          </a:p>
          <a:p>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train_datagen = ImageDataGenerator(rescale=1./255) </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val_datagen = ImageDataGenerator(rescale=1./255) </a:t>
            </a:r>
          </a:p>
          <a:p>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Rescaling</a:t>
            </a: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pixel</a:t>
            </a: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values</a:t>
            </a: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 from [0, 255] → [0, 1] (improves training stability). </a:t>
            </a:r>
          </a:p>
          <a:p>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train_data = train_datagen.flow_from_directory( train_dir, target_size=img_size, batch_size=batch_size, class_mode='binary’ ) </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val_data = val_datagen.flow_from_directory( val_dir, target_size=img_size, batch_size=batch_size, class_mode='binary', shuffle=False ) </a:t>
            </a:r>
          </a:p>
          <a:p>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flow_from_directory</a:t>
            </a: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 automatically assigns labels (0 for one folder, 1 for the other). </a:t>
            </a:r>
          </a:p>
          <a:p>
            <a:pPr marL="285750" indent="-285750">
              <a:buFont typeface="Arial" panose="020B0604020202020204" pitchFamily="34" charset="0"/>
              <a:buChar char="•"/>
            </a:pP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class_mode='binary' → Only 2 classes (real vs fake). </a:t>
            </a:r>
          </a:p>
          <a:p>
            <a:pPr marL="285750" indent="-285750">
              <a:buFont typeface="Arial" panose="020B0604020202020204" pitchFamily="34" charset="0"/>
              <a:buChar char="•"/>
            </a:pP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Validation set has </a:t>
            </a:r>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shuffle=False </a:t>
            </a: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to preserve order (important for metrics later). </a:t>
            </a:r>
          </a:p>
        </p:txBody>
      </p:sp>
    </p:spTree>
    <p:extLst>
      <p:ext uri="{BB962C8B-B14F-4D97-AF65-F5344CB8AC3E}">
        <p14:creationId xmlns:p14="http://schemas.microsoft.com/office/powerpoint/2010/main" val="824748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9AB6A9-D65D-4324-BE94-FE1A69FF0A9B}"/>
              </a:ext>
            </a:extLst>
          </p:cNvPr>
          <p:cNvSpPr txBox="1"/>
          <p:nvPr/>
        </p:nvSpPr>
        <p:spPr>
          <a:xfrm>
            <a:off x="359876" y="135791"/>
            <a:ext cx="10087824" cy="6709529"/>
          </a:xfrm>
          <a:prstGeom prst="rect">
            <a:avLst/>
          </a:prstGeom>
          <a:noFill/>
        </p:spPr>
        <p:txBody>
          <a:bodyPr wrap="square">
            <a:spAutoFit/>
          </a:bodyPr>
          <a:lstStyle/>
          <a:p>
            <a:r>
              <a:rPr lang="en-IN" sz="2800" b="1" u="sng" dirty="0">
                <a:solidFill>
                  <a:schemeClr val="bg1"/>
                </a:solidFill>
                <a:latin typeface="Calibri" panose="020F0502020204030204" pitchFamily="34" charset="0"/>
                <a:ea typeface="Calibri" panose="020F0502020204030204" pitchFamily="34" charset="0"/>
                <a:cs typeface="Calibri" panose="020F0502020204030204" pitchFamily="34" charset="0"/>
              </a:rPr>
              <a:t>5. Building CNN Model </a:t>
            </a:r>
          </a:p>
          <a:p>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model = Sequential([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Conv2D(32, (3, 3), activation='</a:t>
            </a:r>
            <a:r>
              <a:rPr lang="en-IN" sz="1600" dirty="0" err="1">
                <a:solidFill>
                  <a:schemeClr val="bg1"/>
                </a:solidFill>
                <a:latin typeface="Calibri" panose="020F0502020204030204" pitchFamily="34" charset="0"/>
                <a:ea typeface="Calibri" panose="020F0502020204030204" pitchFamily="34" charset="0"/>
                <a:cs typeface="Calibri" panose="020F0502020204030204" pitchFamily="34" charset="0"/>
              </a:rPr>
              <a:t>relu</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input_shape=(img_size[0],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img_size[1], 3)),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MaxPooling2D(2, 2),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Conv2D(64, (3, 3), activation='</a:t>
            </a:r>
            <a:r>
              <a:rPr lang="en-IN" sz="1600" dirty="0" err="1">
                <a:solidFill>
                  <a:schemeClr val="bg1"/>
                </a:solidFill>
                <a:latin typeface="Calibri" panose="020F0502020204030204" pitchFamily="34" charset="0"/>
                <a:ea typeface="Calibri" panose="020F0502020204030204" pitchFamily="34" charset="0"/>
                <a:cs typeface="Calibri" panose="020F0502020204030204" pitchFamily="34" charset="0"/>
              </a:rPr>
              <a:t>relu</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MaxPooling2D(2, 2),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Flatten(),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Dense(128, activation='</a:t>
            </a:r>
            <a:r>
              <a:rPr lang="en-IN" sz="1600" dirty="0" err="1">
                <a:solidFill>
                  <a:schemeClr val="bg1"/>
                </a:solidFill>
                <a:latin typeface="Calibri" panose="020F0502020204030204" pitchFamily="34" charset="0"/>
                <a:ea typeface="Calibri" panose="020F0502020204030204" pitchFamily="34" charset="0"/>
                <a:cs typeface="Calibri" panose="020F0502020204030204" pitchFamily="34" charset="0"/>
              </a:rPr>
              <a:t>relu</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Dropout(0.5),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Dense(1, activation='sigmoid') ]) </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Conv2D</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MaxPooling2D</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 Extracts image features (edges, shapes, patterns). </a:t>
            </a:r>
          </a:p>
          <a:p>
            <a:pPr marL="285750" indent="-285750">
              <a:buFont typeface="Arial" panose="020B0604020202020204" pitchFamily="34" charset="0"/>
              <a:buChar char="•"/>
            </a:pP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Flatten</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 Converts 2D feature maps into 1D vector. </a:t>
            </a:r>
          </a:p>
          <a:p>
            <a:pPr marL="285750" indent="-285750">
              <a:buFont typeface="Arial" panose="020B0604020202020204" pitchFamily="34" charset="0"/>
              <a:buChar char="•"/>
            </a:pP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Dense(128, </a:t>
            </a:r>
            <a:r>
              <a:rPr lang="en-IN" sz="1600" b="1" dirty="0" err="1">
                <a:solidFill>
                  <a:schemeClr val="bg1"/>
                </a:solidFill>
                <a:latin typeface="Calibri" panose="020F0502020204030204" pitchFamily="34" charset="0"/>
                <a:ea typeface="Calibri" panose="020F0502020204030204" pitchFamily="34" charset="0"/>
                <a:cs typeface="Calibri" panose="020F0502020204030204" pitchFamily="34" charset="0"/>
              </a:rPr>
              <a:t>relu</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 Fully connected hidden layer. </a:t>
            </a:r>
          </a:p>
          <a:p>
            <a:pPr marL="285750" indent="-285750">
              <a:buFont typeface="Arial" panose="020B0604020202020204" pitchFamily="34" charset="0"/>
              <a:buChar char="•"/>
            </a:pP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Dropout</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0.5</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 Prevents overfitting by randomly dropping neurons.</a:t>
            </a:r>
          </a:p>
          <a:p>
            <a:pPr marL="285750" indent="-285750">
              <a:buFont typeface="Arial" panose="020B0604020202020204" pitchFamily="34" charset="0"/>
              <a:buChar char="•"/>
            </a:pP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Dense(1, sigmoid</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 Final layer for binary classification (probability between 0 and 1).</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model.compile(optimizer='</a:t>
            </a:r>
            <a:r>
              <a:rPr lang="en-IN" sz="1600" dirty="0" err="1">
                <a:solidFill>
                  <a:schemeClr val="bg1"/>
                </a:solidFill>
                <a:latin typeface="Calibri" panose="020F0502020204030204" pitchFamily="34" charset="0"/>
                <a:ea typeface="Calibri" panose="020F0502020204030204" pitchFamily="34" charset="0"/>
                <a:cs typeface="Calibri" panose="020F0502020204030204" pitchFamily="34" charset="0"/>
              </a:rPr>
              <a:t>adam</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loss='binary_crossentropy’,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metrics=['accuracy’])</a:t>
            </a:r>
          </a:p>
          <a:p>
            <a:endPar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Adam optimizer</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 Adaptive learning. </a:t>
            </a:r>
          </a:p>
          <a:p>
            <a:pPr marL="285750" indent="-285750">
              <a:buFont typeface="Arial" panose="020B0604020202020204" pitchFamily="34" charset="0"/>
              <a:buChar char="•"/>
            </a:pP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Binary crossentropy </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Suitable loss for binary classification. </a:t>
            </a:r>
          </a:p>
          <a:p>
            <a:pPr marL="285750" indent="-285750">
              <a:buFont typeface="Arial" panose="020B0604020202020204" pitchFamily="34" charset="0"/>
              <a:buChar char="•"/>
            </a:pP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Metric: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accuracy</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81286806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12C97F-D714-A4BA-26CD-3AE21C91DE62}"/>
              </a:ext>
            </a:extLst>
          </p:cNvPr>
          <p:cNvSpPr txBox="1"/>
          <p:nvPr/>
        </p:nvSpPr>
        <p:spPr>
          <a:xfrm>
            <a:off x="251233" y="184790"/>
            <a:ext cx="6115616" cy="5693866"/>
          </a:xfrm>
          <a:prstGeom prst="rect">
            <a:avLst/>
          </a:prstGeom>
          <a:noFill/>
        </p:spPr>
        <p:txBody>
          <a:bodyPr wrap="square">
            <a:spAutoFit/>
          </a:bodyPr>
          <a:lstStyle/>
          <a:p>
            <a:r>
              <a:rPr lang="en-IN" sz="2800" b="1" u="sng" dirty="0">
                <a:solidFill>
                  <a:schemeClr val="bg1"/>
                </a:solidFill>
                <a:latin typeface="Calibri" panose="020F0502020204030204" pitchFamily="34" charset="0"/>
                <a:ea typeface="Calibri" panose="020F0502020204030204" pitchFamily="34" charset="0"/>
                <a:cs typeface="Calibri" panose="020F0502020204030204" pitchFamily="34" charset="0"/>
              </a:rPr>
              <a:t>6. Training the Model </a:t>
            </a:r>
          </a:p>
          <a:p>
            <a:endPar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history = model.fit(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train_data,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epochs=20,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validation_data=val_data )</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model.save("Deepfake_Detection.keras") </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Trains for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20</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epochs</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Saves trained model as Deepfake_Detection.keras.</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2800" b="1" u="sng" dirty="0">
                <a:solidFill>
                  <a:schemeClr val="bg1"/>
                </a:solidFill>
                <a:latin typeface="Calibri" panose="020F0502020204030204" pitchFamily="34" charset="0"/>
                <a:ea typeface="Calibri" panose="020F0502020204030204" pitchFamily="34" charset="0"/>
                <a:cs typeface="Calibri" panose="020F0502020204030204" pitchFamily="34" charset="0"/>
              </a:rPr>
              <a:t>7. Accuracy and Loss Curves </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plt.plot(history.history['accuracy'], label='Train Accuracy') plt.plot(history.history['val_accuracy'], label='Val Accuracy') plt.plot(history.history['loss'], label='Train Loss') plt.plot(history.history['val_loss'], label='Val Loss’) </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Plots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training vs validation accuracy/loss</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over epochs.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Helps detect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overfitting</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(train accuracy ↑ but val accuracy ↓).</a:t>
            </a:r>
          </a:p>
        </p:txBody>
      </p:sp>
    </p:spTree>
    <p:extLst>
      <p:ext uri="{BB962C8B-B14F-4D97-AF65-F5344CB8AC3E}">
        <p14:creationId xmlns:p14="http://schemas.microsoft.com/office/powerpoint/2010/main" val="30058963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22A5DB-6822-9711-B784-5DFF8EBE3617}"/>
              </a:ext>
            </a:extLst>
          </p:cNvPr>
          <p:cNvPicPr>
            <a:picLocks noChangeAspect="1"/>
          </p:cNvPicPr>
          <p:nvPr/>
        </p:nvPicPr>
        <p:blipFill>
          <a:blip r:embed="rId2"/>
          <a:stretch>
            <a:fillRect/>
          </a:stretch>
        </p:blipFill>
        <p:spPr>
          <a:xfrm>
            <a:off x="103238" y="117986"/>
            <a:ext cx="11975691" cy="5265175"/>
          </a:xfrm>
          <a:prstGeom prst="rect">
            <a:avLst/>
          </a:prstGeom>
        </p:spPr>
      </p:pic>
      <p:sp>
        <p:nvSpPr>
          <p:cNvPr id="6" name="Rectangle 5">
            <a:extLst>
              <a:ext uri="{FF2B5EF4-FFF2-40B4-BE49-F238E27FC236}">
                <a16:creationId xmlns:a16="http://schemas.microsoft.com/office/drawing/2014/main" id="{D4DE3E12-ABC4-DD2A-1C7E-C372AA128B0C}"/>
              </a:ext>
            </a:extLst>
          </p:cNvPr>
          <p:cNvSpPr/>
          <p:nvPr/>
        </p:nvSpPr>
        <p:spPr>
          <a:xfrm>
            <a:off x="486695" y="5545395"/>
            <a:ext cx="11208775" cy="119461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Calibri" panose="020F0502020204030204" pitchFamily="34" charset="0"/>
                <a:cs typeface="Calibri" panose="020F0502020204030204" pitchFamily="34" charset="0"/>
              </a:rPr>
              <a:t>The curves suggest that the model is performing extremely well with both training and validation data, showing fast convergence, high accuracy, and low loss.</a:t>
            </a:r>
            <a:endParaRPr lang="en-IN" sz="2800" dirty="0"/>
          </a:p>
        </p:txBody>
      </p:sp>
    </p:spTree>
    <p:extLst>
      <p:ext uri="{BB962C8B-B14F-4D97-AF65-F5344CB8AC3E}">
        <p14:creationId xmlns:p14="http://schemas.microsoft.com/office/powerpoint/2010/main" val="397899071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3596FC-4751-1B53-FBC6-9659F7D5C24E}"/>
              </a:ext>
            </a:extLst>
          </p:cNvPr>
          <p:cNvSpPr txBox="1"/>
          <p:nvPr/>
        </p:nvSpPr>
        <p:spPr>
          <a:xfrm>
            <a:off x="287446" y="133350"/>
            <a:ext cx="6939263" cy="6155531"/>
          </a:xfrm>
          <a:prstGeom prst="rect">
            <a:avLst/>
          </a:prstGeom>
          <a:noFill/>
        </p:spPr>
        <p:txBody>
          <a:bodyPr wrap="square">
            <a:spAutoFit/>
          </a:bodyPr>
          <a:lstStyle/>
          <a:p>
            <a:r>
              <a:rPr lang="en-IN" sz="2800" b="1" u="sng" dirty="0">
                <a:solidFill>
                  <a:schemeClr val="bg1"/>
                </a:solidFill>
                <a:latin typeface="Calibri" panose="020F0502020204030204" pitchFamily="34" charset="0"/>
                <a:ea typeface="Calibri" panose="020F0502020204030204" pitchFamily="34" charset="0"/>
                <a:cs typeface="Calibri" panose="020F0502020204030204" pitchFamily="34" charset="0"/>
              </a:rPr>
              <a:t>8. Predictions</a:t>
            </a:r>
          </a:p>
          <a:p>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Y_pred = model.predict(val_data) </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y_pred = (Y_pred &gt; 0.5).astype("int32").ravel() </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y_true = val_data.classes </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class_names = list(val_data.class_indices.keys()) </a:t>
            </a:r>
          </a:p>
          <a:p>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Y_pred = model probabilities for validation images.  </a:t>
            </a:r>
          </a:p>
          <a:p>
            <a:pPr marL="285750" indent="-285750">
              <a:buFont typeface="Arial" panose="020B0604020202020204" pitchFamily="34" charset="0"/>
              <a:buChar char="•"/>
            </a:pP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Threshold </a:t>
            </a:r>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0.5</a:t>
            </a: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 → class label (0 or 1). </a:t>
            </a:r>
          </a:p>
          <a:p>
            <a:pPr marL="285750" indent="-285750">
              <a:buFont typeface="Arial" panose="020B0604020202020204" pitchFamily="34" charset="0"/>
              <a:buChar char="•"/>
            </a:pP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y_true = actual labels from validation dataset. </a:t>
            </a:r>
          </a:p>
          <a:p>
            <a:pPr marL="285750" indent="-285750">
              <a:buFont typeface="Arial" panose="020B0604020202020204" pitchFamily="34" charset="0"/>
              <a:buChar char="•"/>
            </a:pP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class_names = ["Fake", "Real"] (order depends on folder names). </a:t>
            </a:r>
          </a:p>
          <a:p>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2400" b="1" u="sng" dirty="0">
                <a:solidFill>
                  <a:schemeClr val="bg1"/>
                </a:solidFill>
                <a:latin typeface="Calibri" panose="020F0502020204030204" pitchFamily="34" charset="0"/>
                <a:ea typeface="Calibri" panose="020F0502020204030204" pitchFamily="34" charset="0"/>
                <a:cs typeface="Calibri" panose="020F0502020204030204" pitchFamily="34" charset="0"/>
              </a:rPr>
              <a:t>9. Confusion Matrix </a:t>
            </a:r>
          </a:p>
          <a:p>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cm = confusion_matrix(y_true, y_pred) </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sns.heatmap(cm, annot=True, fmt="d", cmap="Blues",      xticklabels=class_names, yticklabels=class_names) </a:t>
            </a:r>
          </a:p>
          <a:p>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Displays </a:t>
            </a:r>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True Positives, True Negatives, False Positives, False Negatives.</a:t>
            </a: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Helps understand where the model is making mistakes.</a:t>
            </a:r>
          </a:p>
        </p:txBody>
      </p:sp>
    </p:spTree>
    <p:extLst>
      <p:ext uri="{BB962C8B-B14F-4D97-AF65-F5344CB8AC3E}">
        <p14:creationId xmlns:p14="http://schemas.microsoft.com/office/powerpoint/2010/main" val="37003833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6B40B6-B980-447F-3AC1-7EDA6696B1E8}"/>
              </a:ext>
            </a:extLst>
          </p:cNvPr>
          <p:cNvPicPr>
            <a:picLocks noChangeAspect="1"/>
          </p:cNvPicPr>
          <p:nvPr/>
        </p:nvPicPr>
        <p:blipFill>
          <a:blip r:embed="rId2"/>
          <a:stretch>
            <a:fillRect/>
          </a:stretch>
        </p:blipFill>
        <p:spPr>
          <a:xfrm>
            <a:off x="309716" y="176981"/>
            <a:ext cx="7374194" cy="5737122"/>
          </a:xfrm>
          <a:prstGeom prst="rect">
            <a:avLst/>
          </a:prstGeom>
        </p:spPr>
      </p:pic>
      <p:sp>
        <p:nvSpPr>
          <p:cNvPr id="7" name="TextBox 6">
            <a:extLst>
              <a:ext uri="{FF2B5EF4-FFF2-40B4-BE49-F238E27FC236}">
                <a16:creationId xmlns:a16="http://schemas.microsoft.com/office/drawing/2014/main" id="{71EAC08E-7A92-74ED-18B1-4BDF9BDB91D5}"/>
              </a:ext>
            </a:extLst>
          </p:cNvPr>
          <p:cNvSpPr txBox="1"/>
          <p:nvPr/>
        </p:nvSpPr>
        <p:spPr>
          <a:xfrm>
            <a:off x="870156" y="6034688"/>
            <a:ext cx="5619135" cy="646331"/>
          </a:xfrm>
          <a:prstGeom prst="rect">
            <a:avLst/>
          </a:prstGeom>
          <a:noFill/>
        </p:spPr>
        <p:txBody>
          <a:bodyPr wrap="square" rtlCol="0">
            <a:spAutoFit/>
          </a:bodyPr>
          <a:lstStyle/>
          <a:p>
            <a:r>
              <a:rPr lang="en-US" sz="3600" b="1" dirty="0">
                <a:latin typeface="Calibri" panose="020F0502020204030204" pitchFamily="34" charset="0"/>
                <a:cs typeface="Calibri" panose="020F0502020204030204" pitchFamily="34" charset="0"/>
              </a:rPr>
              <a:t>### Class Wise Accuracy ###</a:t>
            </a:r>
            <a:endParaRPr lang="en-IN" sz="3600" b="1" dirty="0">
              <a:latin typeface="Calibri" panose="020F0502020204030204" pitchFamily="34" charset="0"/>
              <a:cs typeface="Calibri" panose="020F0502020204030204" pitchFamily="34" charset="0"/>
            </a:endParaRPr>
          </a:p>
        </p:txBody>
      </p:sp>
      <p:sp>
        <p:nvSpPr>
          <p:cNvPr id="8" name="Cloud 7">
            <a:extLst>
              <a:ext uri="{FF2B5EF4-FFF2-40B4-BE49-F238E27FC236}">
                <a16:creationId xmlns:a16="http://schemas.microsoft.com/office/drawing/2014/main" id="{07D216CC-EA9E-5B76-17B5-91CDF48DC5AC}"/>
              </a:ext>
            </a:extLst>
          </p:cNvPr>
          <p:cNvSpPr/>
          <p:nvPr/>
        </p:nvSpPr>
        <p:spPr>
          <a:xfrm>
            <a:off x="7752734" y="1452716"/>
            <a:ext cx="4129550" cy="3952568"/>
          </a:xfrm>
          <a:prstGeom prst="cloud">
            <a:avLst/>
          </a:prstGeom>
          <a:solidFill>
            <a:srgbClr val="1989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Calibri" panose="020F0502020204030204" pitchFamily="34" charset="0"/>
                <a:cs typeface="Calibri" panose="020F0502020204030204" pitchFamily="34" charset="0"/>
              </a:rPr>
              <a:t>The model performs equally well on both classes (Fake and Real).There is no class imbalance issue where one class is learned better than the other</a:t>
            </a:r>
            <a:r>
              <a:rPr lang="en-US" dirty="0"/>
              <a:t>.</a:t>
            </a:r>
            <a:endParaRPr lang="en-IN" dirty="0"/>
          </a:p>
        </p:txBody>
      </p:sp>
    </p:spTree>
    <p:extLst>
      <p:ext uri="{BB962C8B-B14F-4D97-AF65-F5344CB8AC3E}">
        <p14:creationId xmlns:p14="http://schemas.microsoft.com/office/powerpoint/2010/main" val="108777793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0B1E28A-A4D8-BC76-886E-6C7E1AD666E5}"/>
              </a:ext>
            </a:extLst>
          </p:cNvPr>
          <p:cNvSpPr>
            <a:spLocks noGrp="1"/>
          </p:cNvSpPr>
          <p:nvPr>
            <p:ph type="sldNum" sz="quarter" idx="12"/>
          </p:nvPr>
        </p:nvSpPr>
        <p:spPr/>
        <p:txBody>
          <a:bodyPr/>
          <a:lstStyle/>
          <a:p>
            <a:fld id="{5BFCF61C-3B18-4C03-8326-CC3B32D710C9}" type="slidenum">
              <a:rPr lang="en-US" noProof="0" smtClean="0"/>
              <a:t>20</a:t>
            </a:fld>
            <a:endParaRPr lang="en-US" noProof="0"/>
          </a:p>
        </p:txBody>
      </p:sp>
      <p:pic>
        <p:nvPicPr>
          <p:cNvPr id="4" name="Picture 3">
            <a:extLst>
              <a:ext uri="{FF2B5EF4-FFF2-40B4-BE49-F238E27FC236}">
                <a16:creationId xmlns:a16="http://schemas.microsoft.com/office/drawing/2014/main" id="{F9E0192D-F723-9025-69B1-DEB3EF13F68E}"/>
              </a:ext>
            </a:extLst>
          </p:cNvPr>
          <p:cNvPicPr>
            <a:picLocks noChangeAspect="1"/>
          </p:cNvPicPr>
          <p:nvPr/>
        </p:nvPicPr>
        <p:blipFill>
          <a:blip r:embed="rId2"/>
          <a:stretch>
            <a:fillRect/>
          </a:stretch>
        </p:blipFill>
        <p:spPr>
          <a:xfrm>
            <a:off x="221226" y="139518"/>
            <a:ext cx="7138219" cy="5848327"/>
          </a:xfrm>
          <a:prstGeom prst="rect">
            <a:avLst/>
          </a:prstGeom>
        </p:spPr>
      </p:pic>
      <p:sp>
        <p:nvSpPr>
          <p:cNvPr id="6" name="TextBox 5">
            <a:extLst>
              <a:ext uri="{FF2B5EF4-FFF2-40B4-BE49-F238E27FC236}">
                <a16:creationId xmlns:a16="http://schemas.microsoft.com/office/drawing/2014/main" id="{A7488D05-F615-A0FD-F1FD-2D6C49C6F8BA}"/>
              </a:ext>
            </a:extLst>
          </p:cNvPr>
          <p:cNvSpPr txBox="1"/>
          <p:nvPr/>
        </p:nvSpPr>
        <p:spPr>
          <a:xfrm>
            <a:off x="707923" y="5987845"/>
            <a:ext cx="5388077" cy="646331"/>
          </a:xfrm>
          <a:prstGeom prst="rect">
            <a:avLst/>
          </a:prstGeom>
          <a:noFill/>
        </p:spPr>
        <p:txBody>
          <a:bodyPr wrap="square" rtlCol="0">
            <a:spAutoFit/>
          </a:bodyPr>
          <a:lstStyle/>
          <a:p>
            <a:r>
              <a:rPr lang="en-US" sz="3600" b="1" dirty="0">
                <a:latin typeface="Calibri" panose="020F0502020204030204" pitchFamily="34" charset="0"/>
                <a:cs typeface="Calibri" panose="020F0502020204030204" pitchFamily="34" charset="0"/>
              </a:rPr>
              <a:t>### Confusion Matrix ###</a:t>
            </a:r>
            <a:endParaRPr lang="en-IN" sz="3600" b="1" dirty="0">
              <a:latin typeface="Calibri" panose="020F0502020204030204" pitchFamily="34" charset="0"/>
              <a:cs typeface="Calibri" panose="020F0502020204030204" pitchFamily="34" charset="0"/>
            </a:endParaRPr>
          </a:p>
        </p:txBody>
      </p:sp>
      <p:sp>
        <p:nvSpPr>
          <p:cNvPr id="7" name="Cloud 6">
            <a:extLst>
              <a:ext uri="{FF2B5EF4-FFF2-40B4-BE49-F238E27FC236}">
                <a16:creationId xmlns:a16="http://schemas.microsoft.com/office/drawing/2014/main" id="{D4890620-080E-DE70-C42A-F910B675A0BB}"/>
              </a:ext>
            </a:extLst>
          </p:cNvPr>
          <p:cNvSpPr/>
          <p:nvPr/>
        </p:nvSpPr>
        <p:spPr>
          <a:xfrm>
            <a:off x="7359446" y="870156"/>
            <a:ext cx="4719484" cy="4365522"/>
          </a:xfrm>
          <a:prstGeom prst="cloud">
            <a:avLst/>
          </a:prstGeom>
          <a:solidFill>
            <a:srgbClr val="988E0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libri" panose="020F0502020204030204" pitchFamily="34" charset="0"/>
                <a:cs typeface="Calibri" panose="020F0502020204030204" pitchFamily="34" charset="0"/>
              </a:rPr>
              <a:t>The model achieved perfect classification on this evaluation dataset. It correctly identified all Fake (8/8) and all Real (10/10) images. No misclassifications (false positives or false negatives).</a:t>
            </a:r>
          </a:p>
          <a:p>
            <a:pPr algn="ctr"/>
            <a:r>
              <a:rPr lang="en-US" b="1" dirty="0">
                <a:solidFill>
                  <a:schemeClr val="tx1"/>
                </a:solidFill>
                <a:latin typeface="Calibri" panose="020F0502020204030204" pitchFamily="34" charset="0"/>
                <a:cs typeface="Calibri" panose="020F0502020204030204" pitchFamily="34" charset="0"/>
              </a:rPr>
              <a:t>Model performs flawlessly on the given dataset (100% accuracy, precision, recall, and F1-score).</a:t>
            </a:r>
            <a:endParaRPr lang="en-IN"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128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6EAA2B1-9606-D602-610B-AD60F3999D0B}"/>
              </a:ext>
            </a:extLst>
          </p:cNvPr>
          <p:cNvSpPr txBox="1"/>
          <p:nvPr/>
        </p:nvSpPr>
        <p:spPr>
          <a:xfrm>
            <a:off x="301173" y="366623"/>
            <a:ext cx="8562608" cy="6370975"/>
          </a:xfrm>
          <a:prstGeom prst="rect">
            <a:avLst/>
          </a:prstGeom>
          <a:noFill/>
        </p:spPr>
        <p:txBody>
          <a:bodyPr wrap="square">
            <a:spAutoFit/>
          </a:bodyPr>
          <a:lstStyle/>
          <a:p>
            <a:r>
              <a:rPr lang="en-IN" sz="2400" b="1" u="sng" dirty="0">
                <a:solidFill>
                  <a:schemeClr val="bg1"/>
                </a:solidFill>
                <a:latin typeface="Calibri" panose="020F0502020204030204" pitchFamily="34" charset="0"/>
                <a:ea typeface="Calibri" panose="020F0502020204030204" pitchFamily="34" charset="0"/>
                <a:cs typeface="Calibri" panose="020F0502020204030204" pitchFamily="34" charset="0"/>
              </a:rPr>
              <a:t>10. Classification Report</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report_text = classification_report(y_true, y_pred, target_names=class_names)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print(report_text) </a:t>
            </a:r>
          </a:p>
          <a:p>
            <a:endPar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Shows precision, recall, f1-score, and support </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for each class. </a:t>
            </a:r>
          </a:p>
          <a:p>
            <a:pPr marL="285750" indent="-285750">
              <a:buFont typeface="Arial" panose="020B0604020202020204" pitchFamily="34" charset="0"/>
              <a:buChar char="•"/>
            </a:pP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Also saves it into a text file in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results</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2400" b="1" u="sng" dirty="0">
                <a:solidFill>
                  <a:schemeClr val="bg1"/>
                </a:solidFill>
                <a:latin typeface="Calibri" panose="020F0502020204030204" pitchFamily="34" charset="0"/>
                <a:ea typeface="Calibri" panose="020F0502020204030204" pitchFamily="34" charset="0"/>
                <a:cs typeface="Calibri" panose="020F0502020204030204" pitchFamily="34" charset="0"/>
              </a:rPr>
              <a:t>11. ROC Curve </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fpr, tpr, _ = roc_curve(y_true, Y_pred) </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roc_auc = auc(fpr, tpr) </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ROC</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curve</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plots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True</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Positive</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Rate</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vs</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False</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Positive</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Rate</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AUC</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Area</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Under</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Curve</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indicates performance (1.0 = perfect, 0.5 = random guess).</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2400" b="1" u="sng" dirty="0">
                <a:solidFill>
                  <a:schemeClr val="bg1"/>
                </a:solidFill>
                <a:latin typeface="Calibri" panose="020F0502020204030204" pitchFamily="34" charset="0"/>
                <a:ea typeface="Calibri" panose="020F0502020204030204" pitchFamily="34" charset="0"/>
                <a:cs typeface="Calibri" panose="020F0502020204030204" pitchFamily="34" charset="0"/>
              </a:rPr>
              <a:t>12. Precision-Recall Curve </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precision, recall, _ = precision_recall_curve(y_true, Y_pred)</a:t>
            </a:r>
          </a:p>
          <a:p>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ap = average_precision_score(y_true, Y_pred) </a:t>
            </a:r>
          </a:p>
          <a:p>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Useful when classes are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imbalanced</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Shows trade-off between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precision</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and </a:t>
            </a: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recall</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AP (Average Precision</a:t>
            </a:r>
            <a:r>
              <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rPr>
              <a:t>) summarizes PR curve in one value. </a:t>
            </a:r>
          </a:p>
        </p:txBody>
      </p:sp>
    </p:spTree>
    <p:extLst>
      <p:ext uri="{BB962C8B-B14F-4D97-AF65-F5344CB8AC3E}">
        <p14:creationId xmlns:p14="http://schemas.microsoft.com/office/powerpoint/2010/main" val="359061493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9B0BDC-6973-4425-BB0B-66FB77843F06}"/>
              </a:ext>
            </a:extLst>
          </p:cNvPr>
          <p:cNvPicPr>
            <a:picLocks noChangeAspect="1"/>
          </p:cNvPicPr>
          <p:nvPr/>
        </p:nvPicPr>
        <p:blipFill>
          <a:blip r:embed="rId2"/>
          <a:stretch>
            <a:fillRect/>
          </a:stretch>
        </p:blipFill>
        <p:spPr>
          <a:xfrm>
            <a:off x="216309" y="11063"/>
            <a:ext cx="7757652" cy="5785054"/>
          </a:xfrm>
          <a:prstGeom prst="rect">
            <a:avLst/>
          </a:prstGeom>
        </p:spPr>
      </p:pic>
      <p:sp>
        <p:nvSpPr>
          <p:cNvPr id="11" name="Rectangle: Rounded Corners 10">
            <a:extLst>
              <a:ext uri="{FF2B5EF4-FFF2-40B4-BE49-F238E27FC236}">
                <a16:creationId xmlns:a16="http://schemas.microsoft.com/office/drawing/2014/main" id="{BAF1771F-625E-BA20-15DC-A1213BC4B0BD}"/>
              </a:ext>
            </a:extLst>
          </p:cNvPr>
          <p:cNvSpPr/>
          <p:nvPr/>
        </p:nvSpPr>
        <p:spPr>
          <a:xfrm>
            <a:off x="8185357" y="353997"/>
            <a:ext cx="3318385" cy="508815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3200" b="1" u="sng" dirty="0">
              <a:solidFill>
                <a:schemeClr val="tx1"/>
              </a:solidFill>
              <a:latin typeface="Calibri" panose="020F0502020204030204" pitchFamily="34" charset="0"/>
              <a:cs typeface="Calibri" panose="020F0502020204030204" pitchFamily="34" charset="0"/>
            </a:endParaRPr>
          </a:p>
          <a:p>
            <a:endParaRPr lang="en-US" sz="3200" b="1" u="sng" dirty="0">
              <a:solidFill>
                <a:schemeClr val="tx1"/>
              </a:solidFill>
              <a:latin typeface="Calibri" panose="020F0502020204030204" pitchFamily="34" charset="0"/>
              <a:cs typeface="Calibri" panose="020F0502020204030204" pitchFamily="34" charset="0"/>
            </a:endParaRPr>
          </a:p>
          <a:p>
            <a:r>
              <a:rPr lang="en-US" sz="3200" b="1" u="sng" dirty="0">
                <a:solidFill>
                  <a:schemeClr val="tx1"/>
                </a:solidFill>
                <a:latin typeface="Calibri" panose="020F0502020204030204" pitchFamily="34" charset="0"/>
                <a:cs typeface="Calibri" panose="020F0502020204030204" pitchFamily="34" charset="0"/>
              </a:rPr>
              <a:t>Interpretation:-</a:t>
            </a:r>
          </a:p>
          <a:p>
            <a:endParaRPr lang="en-US" sz="3200" b="1" u="sng" dirty="0">
              <a:solidFill>
                <a:schemeClr val="tx1"/>
              </a:solidFill>
              <a:latin typeface="Calibri" panose="020F0502020204030204" pitchFamily="34" charset="0"/>
              <a:cs typeface="Calibri" panose="020F0502020204030204" pitchFamily="34" charset="0"/>
            </a:endParaRPr>
          </a:p>
          <a:p>
            <a:r>
              <a:rPr lang="en-US" sz="2800" b="1" dirty="0">
                <a:solidFill>
                  <a:schemeClr val="tx1"/>
                </a:solidFill>
                <a:latin typeface="Calibri" panose="020F0502020204030204" pitchFamily="34" charset="0"/>
                <a:cs typeface="Calibri" panose="020F0502020204030204" pitchFamily="34" charset="0"/>
              </a:rPr>
              <a:t>This indicates the model is extremely effective in distinguishing between deepfake and real images in this dataset.</a:t>
            </a:r>
          </a:p>
          <a:p>
            <a:endParaRPr lang="en-US" sz="3200" b="1" u="sng" dirty="0">
              <a:solidFill>
                <a:schemeClr val="tx1"/>
              </a:solidFill>
              <a:latin typeface="Calibri" panose="020F0502020204030204" pitchFamily="34" charset="0"/>
              <a:cs typeface="Calibri" panose="020F0502020204030204" pitchFamily="34" charset="0"/>
            </a:endParaRPr>
          </a:p>
          <a:p>
            <a:endParaRPr lang="en-US" sz="3200" b="1" u="sng" dirty="0">
              <a:solidFill>
                <a:schemeClr val="tx1"/>
              </a:solidFill>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BB9EE424-68A6-1E1C-1F46-3ED1DA3D814E}"/>
              </a:ext>
            </a:extLst>
          </p:cNvPr>
          <p:cNvSpPr txBox="1"/>
          <p:nvPr/>
        </p:nvSpPr>
        <p:spPr>
          <a:xfrm>
            <a:off x="1056350" y="5855111"/>
            <a:ext cx="7043584" cy="707886"/>
          </a:xfrm>
          <a:prstGeom prst="rect">
            <a:avLst/>
          </a:prstGeom>
          <a:noFill/>
        </p:spPr>
        <p:txBody>
          <a:bodyPr wrap="square" rtlCol="0">
            <a:spAutoFit/>
          </a:bodyPr>
          <a:lstStyle/>
          <a:p>
            <a:r>
              <a:rPr lang="en-US" sz="4000" b="1" dirty="0">
                <a:latin typeface="Calibri" panose="020F0502020204030204" pitchFamily="34" charset="0"/>
                <a:cs typeface="Calibri" panose="020F0502020204030204" pitchFamily="34" charset="0"/>
              </a:rPr>
              <a:t>## Classification Report ##</a:t>
            </a:r>
            <a:endParaRPr lang="en-IN" sz="4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84426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down)">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C22C8EA-0DA0-D188-7BE3-BB8ABECFE0AA}"/>
              </a:ext>
            </a:extLst>
          </p:cNvPr>
          <p:cNvSpPr>
            <a:spLocks noGrp="1"/>
          </p:cNvSpPr>
          <p:nvPr>
            <p:ph type="sldNum" sz="quarter" idx="12"/>
          </p:nvPr>
        </p:nvSpPr>
        <p:spPr/>
        <p:txBody>
          <a:bodyPr/>
          <a:lstStyle/>
          <a:p>
            <a:fld id="{5BFCF61C-3B18-4C03-8326-CC3B32D710C9}" type="slidenum">
              <a:rPr lang="en-US" noProof="0" smtClean="0"/>
              <a:t>23</a:t>
            </a:fld>
            <a:endParaRPr lang="en-US" noProof="0"/>
          </a:p>
        </p:txBody>
      </p:sp>
      <p:pic>
        <p:nvPicPr>
          <p:cNvPr id="4" name="Picture 3">
            <a:extLst>
              <a:ext uri="{FF2B5EF4-FFF2-40B4-BE49-F238E27FC236}">
                <a16:creationId xmlns:a16="http://schemas.microsoft.com/office/drawing/2014/main" id="{76BBD764-C758-4616-5005-84DC755F5E2F}"/>
              </a:ext>
            </a:extLst>
          </p:cNvPr>
          <p:cNvPicPr>
            <a:picLocks noChangeAspect="1"/>
          </p:cNvPicPr>
          <p:nvPr/>
        </p:nvPicPr>
        <p:blipFill>
          <a:blip r:embed="rId2"/>
          <a:stretch>
            <a:fillRect/>
          </a:stretch>
        </p:blipFill>
        <p:spPr>
          <a:xfrm>
            <a:off x="172147" y="124771"/>
            <a:ext cx="7290537" cy="5597603"/>
          </a:xfrm>
          <a:prstGeom prst="rect">
            <a:avLst/>
          </a:prstGeom>
        </p:spPr>
      </p:pic>
      <p:sp>
        <p:nvSpPr>
          <p:cNvPr id="7" name="Scroll: Horizontal 6">
            <a:extLst>
              <a:ext uri="{FF2B5EF4-FFF2-40B4-BE49-F238E27FC236}">
                <a16:creationId xmlns:a16="http://schemas.microsoft.com/office/drawing/2014/main" id="{63F33A54-84A3-94FE-4CEB-BDF9A20BDCC0}"/>
              </a:ext>
            </a:extLst>
          </p:cNvPr>
          <p:cNvSpPr/>
          <p:nvPr/>
        </p:nvSpPr>
        <p:spPr>
          <a:xfrm>
            <a:off x="7728155" y="630198"/>
            <a:ext cx="4067605" cy="5597603"/>
          </a:xfrm>
          <a:prstGeom prst="horizontalScrol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2060"/>
                </a:solidFill>
                <a:latin typeface="Calibri" panose="020F0502020204030204" pitchFamily="34" charset="0"/>
                <a:cs typeface="Calibri" panose="020F0502020204030204" pitchFamily="34" charset="0"/>
              </a:rPr>
              <a:t>The ROC curve and AUC = 1.00 suggest that the Machine learning model used for Deepfake Image Detection is performing perfectly on the given dataset — it can separate fake and real images with 100% accuracy (no false positives or false negatives).</a:t>
            </a:r>
            <a:endParaRPr lang="en-IN" b="1" dirty="0">
              <a:solidFill>
                <a:srgbClr val="002060"/>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3EE077FD-88DD-4BA6-8921-3053E660332B}"/>
              </a:ext>
            </a:extLst>
          </p:cNvPr>
          <p:cNvSpPr txBox="1"/>
          <p:nvPr/>
        </p:nvSpPr>
        <p:spPr>
          <a:xfrm>
            <a:off x="1066311" y="5873858"/>
            <a:ext cx="4921534" cy="707886"/>
          </a:xfrm>
          <a:prstGeom prst="rect">
            <a:avLst/>
          </a:prstGeom>
          <a:noFill/>
        </p:spPr>
        <p:txBody>
          <a:bodyPr wrap="square" rtlCol="0">
            <a:spAutoFit/>
          </a:bodyPr>
          <a:lstStyle/>
          <a:p>
            <a:r>
              <a:rPr lang="en-US" sz="4000" b="1" dirty="0">
                <a:latin typeface="Calibri" panose="020F0502020204030204" pitchFamily="34" charset="0"/>
                <a:cs typeface="Calibri" panose="020F0502020204030204" pitchFamily="34" charset="0"/>
              </a:rPr>
              <a:t>### ROC Curve ###</a:t>
            </a:r>
            <a:endParaRPr lang="en-IN" sz="4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093130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67CBCDD-C4D6-FA29-89BA-512BDA4B7DAF}"/>
              </a:ext>
            </a:extLst>
          </p:cNvPr>
          <p:cNvSpPr>
            <a:spLocks noGrp="1"/>
          </p:cNvSpPr>
          <p:nvPr>
            <p:ph type="sldNum" sz="quarter" idx="12"/>
          </p:nvPr>
        </p:nvSpPr>
        <p:spPr/>
        <p:txBody>
          <a:bodyPr/>
          <a:lstStyle/>
          <a:p>
            <a:fld id="{5BFCF61C-3B18-4C03-8326-CC3B32D710C9}" type="slidenum">
              <a:rPr lang="en-US" noProof="0" smtClean="0"/>
              <a:t>24</a:t>
            </a:fld>
            <a:endParaRPr lang="en-US" noProof="0"/>
          </a:p>
        </p:txBody>
      </p:sp>
      <p:pic>
        <p:nvPicPr>
          <p:cNvPr id="4" name="Picture 3">
            <a:extLst>
              <a:ext uri="{FF2B5EF4-FFF2-40B4-BE49-F238E27FC236}">
                <a16:creationId xmlns:a16="http://schemas.microsoft.com/office/drawing/2014/main" id="{15641279-03C6-5FFF-009B-5098D930E72F}"/>
              </a:ext>
            </a:extLst>
          </p:cNvPr>
          <p:cNvPicPr>
            <a:picLocks noChangeAspect="1"/>
          </p:cNvPicPr>
          <p:nvPr/>
        </p:nvPicPr>
        <p:blipFill>
          <a:blip r:embed="rId2"/>
          <a:stretch>
            <a:fillRect/>
          </a:stretch>
        </p:blipFill>
        <p:spPr>
          <a:xfrm>
            <a:off x="396241" y="183765"/>
            <a:ext cx="7744870" cy="5686093"/>
          </a:xfrm>
          <a:prstGeom prst="rect">
            <a:avLst/>
          </a:prstGeom>
        </p:spPr>
      </p:pic>
      <p:sp>
        <p:nvSpPr>
          <p:cNvPr id="7" name="Scroll: Vertical 6">
            <a:extLst>
              <a:ext uri="{FF2B5EF4-FFF2-40B4-BE49-F238E27FC236}">
                <a16:creationId xmlns:a16="http://schemas.microsoft.com/office/drawing/2014/main" id="{84334F61-75A1-51F1-0439-233750214385}"/>
              </a:ext>
            </a:extLst>
          </p:cNvPr>
          <p:cNvSpPr/>
          <p:nvPr/>
        </p:nvSpPr>
        <p:spPr>
          <a:xfrm>
            <a:off x="8141111" y="988143"/>
            <a:ext cx="3920121" cy="4527754"/>
          </a:xfrm>
          <a:prstGeom prst="verticalScrol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7030A0"/>
                </a:solidFill>
                <a:latin typeface="Calibri" panose="020F0502020204030204" pitchFamily="34" charset="0"/>
                <a:cs typeface="Calibri" panose="020F0502020204030204" pitchFamily="34" charset="0"/>
              </a:rPr>
              <a:t>The Precision-Recall curve shows perfect performance (AP = 1.0), meaning the model detected all deepfakes (100% recall) without any false positives (100% precision). While ideal, such results may indicate an easy dataset or possible overfitting.</a:t>
            </a:r>
            <a:endParaRPr lang="en-IN" sz="2000" b="1" dirty="0">
              <a:solidFill>
                <a:srgbClr val="7030A0"/>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3785E4B1-82A5-BF99-8953-0BD8E0B513E8}"/>
              </a:ext>
            </a:extLst>
          </p:cNvPr>
          <p:cNvSpPr txBox="1"/>
          <p:nvPr/>
        </p:nvSpPr>
        <p:spPr>
          <a:xfrm>
            <a:off x="1193637" y="5892190"/>
            <a:ext cx="6150077" cy="646331"/>
          </a:xfrm>
          <a:prstGeom prst="rect">
            <a:avLst/>
          </a:prstGeom>
          <a:noFill/>
        </p:spPr>
        <p:txBody>
          <a:bodyPr wrap="square" rtlCol="0">
            <a:spAutoFit/>
          </a:bodyPr>
          <a:lstStyle/>
          <a:p>
            <a:r>
              <a:rPr lang="en-US" sz="3600" b="1" dirty="0">
                <a:latin typeface="Calibri" panose="020F0502020204030204" pitchFamily="34" charset="0"/>
                <a:cs typeface="Calibri" panose="020F0502020204030204" pitchFamily="34" charset="0"/>
              </a:rPr>
              <a:t>### Precision-Recall Curve ###</a:t>
            </a:r>
            <a:endParaRPr lang="en-IN" sz="3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1045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1)">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10F29E9-E0FE-EAFE-82F2-7838D98C5A4F}"/>
              </a:ext>
            </a:extLst>
          </p:cNvPr>
          <p:cNvSpPr txBox="1"/>
          <p:nvPr/>
        </p:nvSpPr>
        <p:spPr>
          <a:xfrm>
            <a:off x="536856" y="783193"/>
            <a:ext cx="7951205" cy="4001095"/>
          </a:xfrm>
          <a:prstGeom prst="rect">
            <a:avLst/>
          </a:prstGeom>
          <a:noFill/>
        </p:spPr>
        <p:txBody>
          <a:bodyPr wrap="square">
            <a:spAutoFit/>
          </a:bodyPr>
          <a:lstStyle/>
          <a:p>
            <a:r>
              <a:rPr lang="en-IN" sz="5400" b="1" dirty="0">
                <a:solidFill>
                  <a:schemeClr val="bg1"/>
                </a:solidFill>
                <a:latin typeface="Calibri" panose="020F0502020204030204" pitchFamily="34" charset="0"/>
                <a:ea typeface="Calibri" panose="020F0502020204030204" pitchFamily="34" charset="0"/>
                <a:cs typeface="Calibri" panose="020F0502020204030204" pitchFamily="34" charset="0"/>
              </a:rPr>
              <a:t>Final Output </a:t>
            </a:r>
          </a:p>
          <a:p>
            <a:endPar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Trained CNN model saved as Deepfake_Detection.keras. </a:t>
            </a:r>
          </a:p>
          <a:p>
            <a:pPr marL="342900" indent="-342900">
              <a:buFont typeface="Wingdings" panose="05000000000000000000" pitchFamily="2" charset="2"/>
              <a:buChar char="Ø"/>
            </a:pPr>
            <a:endPar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Results (plots + reports) saved in </a:t>
            </a:r>
            <a:r>
              <a:rPr lang="en-IN" sz="2000" b="1" dirty="0">
                <a:solidFill>
                  <a:schemeClr val="bg1"/>
                </a:solidFill>
                <a:latin typeface="Calibri" panose="020F0502020204030204" pitchFamily="34" charset="0"/>
                <a:ea typeface="Calibri" panose="020F0502020204030204" pitchFamily="34" charset="0"/>
                <a:cs typeface="Calibri" panose="020F0502020204030204" pitchFamily="34" charset="0"/>
              </a:rPr>
              <a:t>results</a:t>
            </a:r>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 folder: </a:t>
            </a:r>
          </a:p>
          <a:p>
            <a:endPar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4"/>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o Accuracy/Loss curves </a:t>
            </a:r>
          </a:p>
          <a:p>
            <a:pPr lvl="4"/>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o Confusion Matrix </a:t>
            </a:r>
          </a:p>
          <a:p>
            <a:pPr lvl="4"/>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o ROC Curve </a:t>
            </a:r>
          </a:p>
          <a:p>
            <a:pPr lvl="4"/>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o Precision-Recall Curve </a:t>
            </a:r>
          </a:p>
          <a:p>
            <a:pPr lvl="4"/>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o Classification Report (text file)</a:t>
            </a:r>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28547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F3E1717-F041-660D-E253-B283DAF6BFA9}"/>
              </a:ext>
            </a:extLst>
          </p:cNvPr>
          <p:cNvSpPr>
            <a:spLocks noGrp="1"/>
          </p:cNvSpPr>
          <p:nvPr>
            <p:ph type="sldNum" sz="quarter" idx="12"/>
          </p:nvPr>
        </p:nvSpPr>
        <p:spPr/>
        <p:txBody>
          <a:bodyPr/>
          <a:lstStyle/>
          <a:p>
            <a:fld id="{5BFCF61C-3B18-4C03-8326-CC3B32D710C9}" type="slidenum">
              <a:rPr lang="en-US" noProof="0" smtClean="0"/>
              <a:pPr/>
              <a:t>26</a:t>
            </a:fld>
            <a:endParaRPr lang="en-US" noProof="0"/>
          </a:p>
        </p:txBody>
      </p:sp>
      <p:sp>
        <p:nvSpPr>
          <p:cNvPr id="16" name="Title 15">
            <a:extLst>
              <a:ext uri="{FF2B5EF4-FFF2-40B4-BE49-F238E27FC236}">
                <a16:creationId xmlns:a16="http://schemas.microsoft.com/office/drawing/2014/main" id="{61A2D0C6-E8DE-6564-756D-83317E9A734E}"/>
              </a:ext>
            </a:extLst>
          </p:cNvPr>
          <p:cNvSpPr>
            <a:spLocks noGrp="1"/>
          </p:cNvSpPr>
          <p:nvPr>
            <p:ph type="title"/>
          </p:nvPr>
        </p:nvSpPr>
        <p:spPr>
          <a:xfrm>
            <a:off x="697009" y="1443277"/>
            <a:ext cx="4199456" cy="1682749"/>
          </a:xfrm>
        </p:spPr>
        <p:txBody>
          <a:bodyPr/>
          <a:lstStyle/>
          <a:p>
            <a:r>
              <a:rPr lang="en-US" dirty="0">
                <a:latin typeface="Bahnschrift" panose="020B0502040204020203" pitchFamily="34" charset="0"/>
              </a:rPr>
              <a:t>Expected Outcomes</a:t>
            </a:r>
            <a:endParaRPr lang="en-IN" dirty="0">
              <a:latin typeface="Bahnschrift" panose="020B0502040204020203" pitchFamily="34" charset="0"/>
            </a:endParaRPr>
          </a:p>
        </p:txBody>
      </p:sp>
      <p:sp>
        <p:nvSpPr>
          <p:cNvPr id="21" name="Rectangle 1">
            <a:extLst>
              <a:ext uri="{FF2B5EF4-FFF2-40B4-BE49-F238E27FC236}">
                <a16:creationId xmlns:a16="http://schemas.microsoft.com/office/drawing/2014/main" id="{004AEAE8-FFEB-21A9-99E5-E685E1665BBD}"/>
              </a:ext>
            </a:extLst>
          </p:cNvPr>
          <p:cNvSpPr>
            <a:spLocks noGrp="1" noChangeArrowheads="1"/>
          </p:cNvSpPr>
          <p:nvPr>
            <p:ph type="body" sz="quarter" idx="16"/>
          </p:nvPr>
        </p:nvSpPr>
        <p:spPr bwMode="auto">
          <a:xfrm>
            <a:off x="4291781" y="438912"/>
            <a:ext cx="7503979"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A machine learning framework that can classify images as </a:t>
            </a:r>
            <a:r>
              <a:rPr kumimoji="0" lang="en-US" altLang="en-US" sz="1800" b="0" u="none" strike="noStrike" cap="none" normalizeH="0" baseline="0" dirty="0">
                <a:ln>
                  <a:noFill/>
                </a:ln>
                <a:solidFill>
                  <a:schemeClr val="tx1"/>
                </a:solidFill>
                <a:effectLst/>
                <a:latin typeface="Arial" panose="020B0604020202020204" pitchFamily="34" charset="0"/>
              </a:rPr>
              <a:t>rea</a:t>
            </a:r>
            <a:r>
              <a:rPr kumimoji="0" lang="en-US" altLang="en-US" sz="1800" b="0" i="1" u="none" strike="noStrike" cap="none" normalizeH="0" baseline="0" dirty="0">
                <a:ln>
                  <a:noFill/>
                </a:ln>
                <a:solidFill>
                  <a:schemeClr val="tx1"/>
                </a:solidFill>
                <a:effectLst/>
                <a:latin typeface="Arial" panose="020B0604020202020204" pitchFamily="34" charset="0"/>
              </a:rPr>
              <a:t>l</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0" u="none" strike="noStrike" cap="none" normalizeH="0" baseline="0" dirty="0">
                <a:ln>
                  <a:noFill/>
                </a:ln>
                <a:solidFill>
                  <a:schemeClr val="tx1"/>
                </a:solidFill>
                <a:effectLst/>
                <a:latin typeface="Arial" panose="020B0604020202020204" pitchFamily="34" charset="0"/>
              </a:rPr>
              <a:t>fake</a:t>
            </a:r>
            <a:r>
              <a:rPr kumimoji="0" lang="en-US" altLang="en-US" sz="1800" b="0" i="0" u="none" strike="noStrike" cap="none" normalizeH="0" baseline="0" dirty="0">
                <a:ln>
                  <a:noFill/>
                </a:ln>
                <a:solidFill>
                  <a:schemeClr val="tx1"/>
                </a:solidFill>
                <a:effectLst/>
                <a:latin typeface="Arial" panose="020B0604020202020204" pitchFamily="34" charset="0"/>
              </a:rPr>
              <a:t> with high accuracy.</a:t>
            </a:r>
          </a:p>
          <a:p>
            <a:pPr marR="0" lvl="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Identification of which </a:t>
            </a:r>
            <a:r>
              <a:rPr kumimoji="0" lang="en-US" altLang="en-US" sz="1800" b="1" i="0" u="none" strike="noStrike" cap="none" normalizeH="0" baseline="0" dirty="0">
                <a:ln>
                  <a:noFill/>
                </a:ln>
                <a:solidFill>
                  <a:schemeClr val="tx1"/>
                </a:solidFill>
                <a:effectLst/>
                <a:latin typeface="Arial" panose="020B0604020202020204" pitchFamily="34" charset="0"/>
              </a:rPr>
              <a:t>statistical, spatial, frequency, or temporal features</a:t>
            </a:r>
            <a:r>
              <a:rPr kumimoji="0" lang="en-US" altLang="en-US" sz="1800" b="0" i="0" u="none" strike="noStrike" cap="none" normalizeH="0" baseline="0" dirty="0">
                <a:ln>
                  <a:noFill/>
                </a:ln>
                <a:solidFill>
                  <a:schemeClr val="tx1"/>
                </a:solidFill>
                <a:effectLst/>
                <a:latin typeface="Arial" panose="020B0604020202020204" pitchFamily="34" charset="0"/>
              </a:rPr>
              <a:t> are most useful in distinguishing real from fake content.</a:t>
            </a:r>
          </a:p>
          <a:p>
            <a:pPr marR="0" lvl="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Comparative performance results of different algorithms (SVM, Random Forest, CNN, LSTM, etc.) to find the best-suited model.</a:t>
            </a:r>
          </a:p>
          <a:p>
            <a:pPr marR="0" lvl="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Evaluation of models under real-world conditions such as compression, scaling, noise, and low resolution.</a:t>
            </a:r>
          </a:p>
          <a:p>
            <a:pPr marR="0" lvl="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Insights into how well the detection model trained on one dataset works across other datasets and deepfake generation methods.</a:t>
            </a:r>
          </a:p>
          <a:p>
            <a:pPr marR="0" lvl="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A prototype tool or pipeline capable of predicting/managing deepfake content in near real-time.</a:t>
            </a:r>
          </a:p>
          <a:p>
            <a:pPr marR="0" lvl="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Contribution to the field of </a:t>
            </a:r>
            <a:r>
              <a:rPr kumimoji="0" lang="en-US" altLang="en-US" sz="1800" b="1" i="0" u="none" strike="noStrike" cap="none" normalizeH="0" baseline="0" dirty="0">
                <a:ln>
                  <a:noFill/>
                </a:ln>
                <a:solidFill>
                  <a:schemeClr val="tx1"/>
                </a:solidFill>
                <a:effectLst/>
                <a:latin typeface="Arial" panose="020B0604020202020204" pitchFamily="34" charset="0"/>
              </a:rPr>
              <a:t>digital media forensics</a:t>
            </a:r>
            <a:r>
              <a:rPr kumimoji="0" lang="en-US" altLang="en-US" sz="1800" b="0" i="0" u="none" strike="noStrike" cap="none" normalizeH="0" baseline="0" dirty="0">
                <a:ln>
                  <a:noFill/>
                </a:ln>
                <a:solidFill>
                  <a:schemeClr val="tx1"/>
                </a:solidFill>
                <a:effectLst/>
                <a:latin typeface="Arial" panose="020B0604020202020204" pitchFamily="34" charset="0"/>
              </a:rPr>
              <a:t> by providing a scalable and explainable detection approach.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960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 calcmode="lin" valueType="num">
                                      <p:cBhvr additive="base">
                                        <p:cTn id="12"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1">
                                            <p:txEl>
                                              <p:pRg st="1" end="1"/>
                                            </p:txEl>
                                          </p:spTgt>
                                        </p:tgtEl>
                                        <p:attrNameLst>
                                          <p:attrName>style.visibility</p:attrName>
                                        </p:attrNameLst>
                                      </p:cBhvr>
                                      <p:to>
                                        <p:strVal val="visible"/>
                                      </p:to>
                                    </p:set>
                                    <p:anim calcmode="lin" valueType="num">
                                      <p:cBhvr additive="base">
                                        <p:cTn id="18" dur="500" fill="hold"/>
                                        <p:tgtEl>
                                          <p:spTgt spid="21">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1">
                                            <p:txEl>
                                              <p:pRg st="2" end="2"/>
                                            </p:txEl>
                                          </p:spTgt>
                                        </p:tgtEl>
                                        <p:attrNameLst>
                                          <p:attrName>style.visibility</p:attrName>
                                        </p:attrNameLst>
                                      </p:cBhvr>
                                      <p:to>
                                        <p:strVal val="visible"/>
                                      </p:to>
                                    </p:set>
                                    <p:anim calcmode="lin" valueType="num">
                                      <p:cBhvr additive="base">
                                        <p:cTn id="24" dur="500" fill="hold"/>
                                        <p:tgtEl>
                                          <p:spTgt spid="21">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1">
                                            <p:txEl>
                                              <p:pRg st="3" end="3"/>
                                            </p:txEl>
                                          </p:spTgt>
                                        </p:tgtEl>
                                        <p:attrNameLst>
                                          <p:attrName>style.visibility</p:attrName>
                                        </p:attrNameLst>
                                      </p:cBhvr>
                                      <p:to>
                                        <p:strVal val="visible"/>
                                      </p:to>
                                    </p:set>
                                    <p:anim calcmode="lin" valueType="num">
                                      <p:cBhvr additive="base">
                                        <p:cTn id="30" dur="500" fill="hold"/>
                                        <p:tgtEl>
                                          <p:spTgt spid="21">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1">
                                            <p:txEl>
                                              <p:pRg st="4" end="4"/>
                                            </p:txEl>
                                          </p:spTgt>
                                        </p:tgtEl>
                                        <p:attrNameLst>
                                          <p:attrName>style.visibility</p:attrName>
                                        </p:attrNameLst>
                                      </p:cBhvr>
                                      <p:to>
                                        <p:strVal val="visible"/>
                                      </p:to>
                                    </p:set>
                                    <p:anim calcmode="lin" valueType="num">
                                      <p:cBhvr additive="base">
                                        <p:cTn id="36" dur="500" fill="hold"/>
                                        <p:tgtEl>
                                          <p:spTgt spid="21">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21">
                                            <p:txEl>
                                              <p:pRg st="5" end="5"/>
                                            </p:txEl>
                                          </p:spTgt>
                                        </p:tgtEl>
                                        <p:attrNameLst>
                                          <p:attrName>style.visibility</p:attrName>
                                        </p:attrNameLst>
                                      </p:cBhvr>
                                      <p:to>
                                        <p:strVal val="visible"/>
                                      </p:to>
                                    </p:set>
                                    <p:anim calcmode="lin" valueType="num">
                                      <p:cBhvr additive="base">
                                        <p:cTn id="42" dur="500" fill="hold"/>
                                        <p:tgtEl>
                                          <p:spTgt spid="21">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2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1">
                                            <p:txEl>
                                              <p:pRg st="6" end="6"/>
                                            </p:txEl>
                                          </p:spTgt>
                                        </p:tgtEl>
                                        <p:attrNameLst>
                                          <p:attrName>style.visibility</p:attrName>
                                        </p:attrNameLst>
                                      </p:cBhvr>
                                      <p:to>
                                        <p:strVal val="visible"/>
                                      </p:to>
                                    </p:set>
                                    <p:anim calcmode="lin" valueType="num">
                                      <p:cBhvr additive="base">
                                        <p:cTn id="48" dur="500" fill="hold"/>
                                        <p:tgtEl>
                                          <p:spTgt spid="21">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2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1"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E980758-2728-D3BD-83B6-66A1566BCBEC}"/>
              </a:ext>
            </a:extLst>
          </p:cNvPr>
          <p:cNvSpPr>
            <a:spLocks noGrp="1"/>
          </p:cNvSpPr>
          <p:nvPr>
            <p:ph type="sldNum" sz="quarter" idx="12"/>
          </p:nvPr>
        </p:nvSpPr>
        <p:spPr/>
        <p:txBody>
          <a:bodyPr/>
          <a:lstStyle/>
          <a:p>
            <a:fld id="{5BFCF61C-3B18-4C03-8326-CC3B32D710C9}" type="slidenum">
              <a:rPr lang="en-US" noProof="0" smtClean="0"/>
              <a:pPr/>
              <a:t>27</a:t>
            </a:fld>
            <a:endParaRPr lang="en-US" noProof="0"/>
          </a:p>
        </p:txBody>
      </p:sp>
      <p:sp>
        <p:nvSpPr>
          <p:cNvPr id="11" name="Title 10">
            <a:extLst>
              <a:ext uri="{FF2B5EF4-FFF2-40B4-BE49-F238E27FC236}">
                <a16:creationId xmlns:a16="http://schemas.microsoft.com/office/drawing/2014/main" id="{0B6D397D-80DC-6F74-D125-B0F02778F59B}"/>
              </a:ext>
            </a:extLst>
          </p:cNvPr>
          <p:cNvSpPr>
            <a:spLocks noGrp="1"/>
          </p:cNvSpPr>
          <p:nvPr>
            <p:ph type="title"/>
          </p:nvPr>
        </p:nvSpPr>
        <p:spPr/>
        <p:txBody>
          <a:bodyPr/>
          <a:lstStyle/>
          <a:p>
            <a:pPr algn="ctr"/>
            <a:r>
              <a:rPr lang="en-US" sz="5400" b="1" dirty="0">
                <a:latin typeface="Bahnschrift" panose="020B0502040204020203" pitchFamily="34" charset="0"/>
              </a:rPr>
              <a:t>conclusion</a:t>
            </a:r>
            <a:endParaRPr lang="en-IN" sz="5400" b="1" dirty="0">
              <a:latin typeface="Bahnschrift" panose="020B0502040204020203" pitchFamily="34" charset="0"/>
            </a:endParaRPr>
          </a:p>
        </p:txBody>
      </p:sp>
      <p:sp>
        <p:nvSpPr>
          <p:cNvPr id="13" name="Text Placeholder 12">
            <a:extLst>
              <a:ext uri="{FF2B5EF4-FFF2-40B4-BE49-F238E27FC236}">
                <a16:creationId xmlns:a16="http://schemas.microsoft.com/office/drawing/2014/main" id="{1F0B3DA0-740D-812B-BA9C-93548B0EF2D3}"/>
              </a:ext>
            </a:extLst>
          </p:cNvPr>
          <p:cNvSpPr>
            <a:spLocks noGrp="1"/>
          </p:cNvSpPr>
          <p:nvPr>
            <p:ph type="body" sz="quarter" idx="14"/>
          </p:nvPr>
        </p:nvSpPr>
        <p:spPr>
          <a:xfrm>
            <a:off x="1058778" y="2747625"/>
            <a:ext cx="10295021" cy="3166478"/>
          </a:xfrm>
        </p:spPr>
        <p:txBody>
          <a:bodyPr/>
          <a:lstStyle/>
          <a:p>
            <a:pPr marL="342900" indent="-342900">
              <a:buFont typeface="Wingdings" panose="05000000000000000000" pitchFamily="2" charset="2"/>
              <a:buChar char="Ø"/>
            </a:pPr>
            <a:r>
              <a:rPr lang="en-GB" sz="2400" dirty="0">
                <a:latin typeface="Calibri" panose="020F0502020204030204" pitchFamily="34" charset="0"/>
                <a:cs typeface="Calibri" panose="020F0502020204030204" pitchFamily="34" charset="0"/>
              </a:rPr>
              <a:t>Deepfake detection is essential to preserve trust in digital media. Our approach, using statistical features with machine learning, effectively uncovers hidden artifacts in manipulated content. While challenges remain with low-quality and evolving techniques, continued research and collaboration are vital to strengthen digital security and combat misinformation</a:t>
            </a:r>
            <a:r>
              <a:rPr lang="en-GB" sz="1800" dirty="0">
                <a:latin typeface="Calibri" panose="020F0502020204030204" pitchFamily="34" charset="0"/>
                <a:cs typeface="Calibri" panose="020F0502020204030204" pitchFamily="34" charset="0"/>
              </a:rPr>
              <a:t>.</a:t>
            </a:r>
            <a:endParaRPr lang="en-IN" sz="1800" dirty="0">
              <a:latin typeface="Calibri" panose="020F0502020204030204" pitchFamily="34" charset="0"/>
              <a:cs typeface="Calibri" panose="020F0502020204030204" pitchFamily="34" charset="0"/>
            </a:endParaRPr>
          </a:p>
          <a:p>
            <a:endParaRPr lang="en-IN" sz="1800" dirty="0"/>
          </a:p>
        </p:txBody>
      </p:sp>
    </p:spTree>
    <p:extLst>
      <p:ext uri="{BB962C8B-B14F-4D97-AF65-F5344CB8AC3E}">
        <p14:creationId xmlns:p14="http://schemas.microsoft.com/office/powerpoint/2010/main" val="37456742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wipe(down)">
                                      <p:cBhvr>
                                        <p:cTn id="11"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38D17FB8-638C-AA5F-04B0-8078A0D50A88}"/>
              </a:ext>
            </a:extLst>
          </p:cNvPr>
          <p:cNvSpPr>
            <a:spLocks noGrp="1"/>
          </p:cNvSpPr>
          <p:nvPr>
            <p:ph type="title"/>
          </p:nvPr>
        </p:nvSpPr>
        <p:spPr/>
        <p:txBody>
          <a:bodyPr/>
          <a:lstStyle/>
          <a:p>
            <a:r>
              <a:rPr lang="en-US" sz="6000" b="1" dirty="0">
                <a:latin typeface="Bahnschrift" panose="020B0502040204020203" pitchFamily="34" charset="0"/>
              </a:rPr>
              <a:t>references</a:t>
            </a:r>
            <a:endParaRPr lang="en-IN" sz="6000" b="1" dirty="0">
              <a:latin typeface="Bahnschrift" panose="020B0502040204020203" pitchFamily="34" charset="0"/>
            </a:endParaRPr>
          </a:p>
        </p:txBody>
      </p:sp>
      <p:sp>
        <p:nvSpPr>
          <p:cNvPr id="3" name="Slide Number Placeholder 2">
            <a:extLst>
              <a:ext uri="{FF2B5EF4-FFF2-40B4-BE49-F238E27FC236}">
                <a16:creationId xmlns:a16="http://schemas.microsoft.com/office/drawing/2014/main" id="{D0710E5E-61AD-D59C-3C3F-8B973CFE0E51}"/>
              </a:ext>
            </a:extLst>
          </p:cNvPr>
          <p:cNvSpPr>
            <a:spLocks noGrp="1"/>
          </p:cNvSpPr>
          <p:nvPr>
            <p:ph type="sldNum" sz="quarter" idx="12"/>
          </p:nvPr>
        </p:nvSpPr>
        <p:spPr>
          <a:xfrm>
            <a:off x="10343633" y="320040"/>
            <a:ext cx="1673352" cy="274320"/>
          </a:xfrm>
        </p:spPr>
        <p:txBody>
          <a:bodyPr/>
          <a:lstStyle/>
          <a:p>
            <a:fld id="{5BFCF61C-3B18-4C03-8326-CC3B32D710C9}" type="slidenum">
              <a:rPr lang="en-US" noProof="0" smtClean="0"/>
              <a:pPr/>
              <a:t>28</a:t>
            </a:fld>
            <a:endParaRPr lang="en-US" noProof="0"/>
          </a:p>
        </p:txBody>
      </p:sp>
      <p:sp>
        <p:nvSpPr>
          <p:cNvPr id="20" name="Rectangle 2">
            <a:extLst>
              <a:ext uri="{FF2B5EF4-FFF2-40B4-BE49-F238E27FC236}">
                <a16:creationId xmlns:a16="http://schemas.microsoft.com/office/drawing/2014/main" id="{C146860F-32DF-CF59-F329-8D3B976C7524}"/>
              </a:ext>
            </a:extLst>
          </p:cNvPr>
          <p:cNvSpPr>
            <a:spLocks noChangeArrowheads="1"/>
          </p:cNvSpPr>
          <p:nvPr/>
        </p:nvSpPr>
        <p:spPr bwMode="auto">
          <a:xfrm>
            <a:off x="604684" y="2705714"/>
            <a:ext cx="1098263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Saikia, P., Dholaria, D., Yadav, P., Patel, V., &amp; Roy, M. (2022). </a:t>
            </a:r>
            <a:r>
              <a:rPr kumimoji="0" lang="en-US" altLang="en-US" sz="1800" b="0" i="1" u="none" strike="noStrike" cap="none" normalizeH="0" baseline="0" dirty="0">
                <a:ln>
                  <a:noFill/>
                </a:ln>
                <a:solidFill>
                  <a:schemeClr val="tx1"/>
                </a:solidFill>
                <a:effectLst/>
                <a:latin typeface="Calibri" panose="020F0502020204030204" pitchFamily="34" charset="0"/>
                <a:cs typeface="Calibri" panose="020F0502020204030204" pitchFamily="34" charset="0"/>
              </a:rPr>
              <a:t>A Hybrid CNN-LSTM Model for Video Deepfake Detection by Leveraging Optical Flow Features</a:t>
            </a: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arXiv preprint arXiv:2208.00788. Retrieved from</a:t>
            </a: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2"/>
              </a:rPr>
              <a:t> https://arxiv.org/abs/2208.00788</a:t>
            </a:r>
            <a:endPar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lang="en-US" altLang="en-US" dirty="0">
              <a:latin typeface="Calibri" panose="020F0502020204030204" pitchFamily="34" charset="0"/>
              <a:cs typeface="Calibri" panose="020F0502020204030204" pitchFamily="34" charset="0"/>
            </a:endParaRPr>
          </a:p>
          <a:p>
            <a:pPr marL="285750" lvl="0" indent="-285750" eaLnBrk="0" fontAlgn="base" hangingPunct="0">
              <a:spcBef>
                <a:spcPct val="0"/>
              </a:spcBef>
              <a:spcAft>
                <a:spcPct val="0"/>
              </a:spcAft>
              <a:buFont typeface="Wingdings" panose="05000000000000000000" pitchFamily="2" charset="2"/>
              <a:buChar char="ü"/>
            </a:pPr>
            <a:r>
              <a:rPr lang="en-US" dirty="0">
                <a:latin typeface="Calibri" panose="020F0502020204030204" pitchFamily="34" charset="0"/>
                <a:cs typeface="Calibri" panose="020F0502020204030204" pitchFamily="34" charset="0"/>
              </a:rPr>
              <a:t>Nagarhalli, T. P., Save, A., Patil, S., &amp; Aswalekar, U. (2024). </a:t>
            </a:r>
            <a:r>
              <a:rPr lang="en-US" i="1" dirty="0">
                <a:latin typeface="Calibri" panose="020F0502020204030204" pitchFamily="34" charset="0"/>
                <a:cs typeface="Calibri" panose="020F0502020204030204" pitchFamily="34" charset="0"/>
              </a:rPr>
              <a:t>A Comprehensive Review of Deepfake and its Detection Techniques</a:t>
            </a:r>
            <a:r>
              <a:rPr lang="en-US" dirty="0">
                <a:latin typeface="Calibri" panose="020F0502020204030204" pitchFamily="34" charset="0"/>
                <a:cs typeface="Calibri" panose="020F0502020204030204" pitchFamily="34" charset="0"/>
              </a:rPr>
              <a:t>. ResearchGate. Retrieved from </a:t>
            </a:r>
            <a:r>
              <a:rPr lang="en-US" dirty="0">
                <a:latin typeface="Calibri" panose="020F0502020204030204" pitchFamily="34" charset="0"/>
                <a:cs typeface="Calibri" panose="020F0502020204030204" pitchFamily="34" charset="0"/>
                <a:hlinkClick r:id="rId3"/>
              </a:rPr>
              <a:t>https://www.researchgate.net/publication/384122887_A_Comprehensive_Review_of_Deepfake_and_its_Detection_Techniques</a:t>
            </a:r>
            <a:endParaRPr lang="en-US" dirty="0">
              <a:latin typeface="Calibri" panose="020F0502020204030204" pitchFamily="34" charset="0"/>
              <a:cs typeface="Calibri" panose="020F0502020204030204" pitchFamily="34" charset="0"/>
            </a:endParaRPr>
          </a:p>
          <a:p>
            <a:pPr marL="285750" lvl="0" indent="-285750" eaLnBrk="0" fontAlgn="base" hangingPunct="0">
              <a:spcBef>
                <a:spcPct val="0"/>
              </a:spcBef>
              <a:spcAft>
                <a:spcPct val="0"/>
              </a:spcAft>
              <a:buFont typeface="Wingdings" panose="05000000000000000000" pitchFamily="2" charset="2"/>
              <a:buChar char="ü"/>
            </a:pPr>
            <a:endPar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lvl="0" indent="-285750" eaLnBrk="0" fontAlgn="base" hangingPunct="0">
              <a:spcBef>
                <a:spcPct val="0"/>
              </a:spcBef>
              <a:spcAft>
                <a:spcPct val="0"/>
              </a:spcAft>
              <a:buFont typeface="Wingdings" panose="05000000000000000000" pitchFamily="2" charset="2"/>
              <a:buChar char="ü"/>
            </a:pPr>
            <a:r>
              <a:rPr lang="en-IN" dirty="0">
                <a:latin typeface="Calibri" panose="020F0502020204030204" pitchFamily="34" charset="0"/>
                <a:cs typeface="Calibri" panose="020F0502020204030204" pitchFamily="34" charset="0"/>
              </a:rPr>
              <a:t>Rossler, A., Cozzolino, D., Verdoliva, L., Riess, C., Thies, J., &amp; Nießner, M. (2019). </a:t>
            </a:r>
            <a:r>
              <a:rPr lang="en-IN" i="1" dirty="0">
                <a:latin typeface="Calibri" panose="020F0502020204030204" pitchFamily="34" charset="0"/>
                <a:cs typeface="Calibri" panose="020F0502020204030204" pitchFamily="34" charset="0"/>
              </a:rPr>
              <a:t>FaceForensics++: Learning to detect manipulated facial images</a:t>
            </a:r>
            <a:r>
              <a:rPr lang="en-IN" dirty="0">
                <a:latin typeface="Calibri" panose="020F0502020204030204" pitchFamily="34" charset="0"/>
                <a:cs typeface="Calibri" panose="020F0502020204030204" pitchFamily="34" charset="0"/>
              </a:rPr>
              <a:t>. In Proceedings of the IEEE/CVF International Conference on Computer Vision (ICCV), 1–11.</a:t>
            </a:r>
          </a:p>
          <a:p>
            <a:pPr marL="285750" lvl="0" indent="-285750" eaLnBrk="0" fontAlgn="base" hangingPunct="0">
              <a:spcBef>
                <a:spcPct val="0"/>
              </a:spcBef>
              <a:spcAft>
                <a:spcPct val="0"/>
              </a:spcAft>
              <a:buFont typeface="Wingdings" panose="05000000000000000000" pitchFamily="2" charset="2"/>
              <a:buChar char="ü"/>
            </a:pPr>
            <a:endParaRPr kumimoji="0" lang="en-IN"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lvl="0" indent="-285750" eaLnBrk="0" fontAlgn="base" hangingPunct="0">
              <a:spcBef>
                <a:spcPct val="0"/>
              </a:spcBef>
              <a:spcAft>
                <a:spcPct val="0"/>
              </a:spcAft>
              <a:buFont typeface="Wingdings" panose="05000000000000000000" pitchFamily="2" charset="2"/>
              <a:buChar char="ü"/>
            </a:pPr>
            <a:r>
              <a:rPr lang="en-US" dirty="0">
                <a:latin typeface="Calibri" panose="020F0502020204030204" pitchFamily="34" charset="0"/>
                <a:cs typeface="Calibri" panose="020F0502020204030204" pitchFamily="34" charset="0"/>
              </a:rPr>
              <a:t>The Hindu / Indian Express articles on deepfakes in politics.</a:t>
            </a:r>
            <a:endPar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2776325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circle(in)">
                                      <p:cBhvr>
                                        <p:cTn id="12"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64AE1-C6FD-2EFB-79A7-7C9A6C853EF8}"/>
              </a:ext>
            </a:extLst>
          </p:cNvPr>
          <p:cNvSpPr>
            <a:spLocks noGrp="1"/>
          </p:cNvSpPr>
          <p:nvPr>
            <p:ph type="title"/>
          </p:nvPr>
        </p:nvSpPr>
        <p:spPr/>
        <p:txBody>
          <a:bodyPr/>
          <a:lstStyle/>
          <a:p>
            <a:r>
              <a:rPr lang="en-US" sz="8800" b="1" dirty="0"/>
              <a:t>Thank</a:t>
            </a:r>
            <a:br>
              <a:rPr lang="en-US" sz="8800" b="1" dirty="0"/>
            </a:br>
            <a:r>
              <a:rPr lang="en-US" sz="8800" b="1" dirty="0"/>
              <a:t>You</a:t>
            </a:r>
          </a:p>
        </p:txBody>
      </p:sp>
      <p:sp>
        <p:nvSpPr>
          <p:cNvPr id="3" name="Text Placeholder 2">
            <a:extLst>
              <a:ext uri="{FF2B5EF4-FFF2-40B4-BE49-F238E27FC236}">
                <a16:creationId xmlns:a16="http://schemas.microsoft.com/office/drawing/2014/main" id="{33FB47C1-128E-60DF-5281-30C3EFCAB395}"/>
              </a:ext>
            </a:extLst>
          </p:cNvPr>
          <p:cNvSpPr>
            <a:spLocks noGrp="1"/>
          </p:cNvSpPr>
          <p:nvPr>
            <p:ph type="body" sz="quarter" idx="10"/>
          </p:nvPr>
        </p:nvSpPr>
        <p:spPr>
          <a:xfrm>
            <a:off x="4437495" y="3728721"/>
            <a:ext cx="4754880" cy="2057400"/>
          </a:xfrm>
        </p:spPr>
        <p:txBody>
          <a:bodyPr/>
          <a:lstStyle/>
          <a:p>
            <a:r>
              <a:rPr lang="en-US" dirty="0"/>
              <a:t>Presented by:-</a:t>
            </a:r>
          </a:p>
          <a:p>
            <a:r>
              <a:rPr lang="en-US" dirty="0"/>
              <a:t>Disha .R. Sojrani</a:t>
            </a:r>
          </a:p>
        </p:txBody>
      </p:sp>
    </p:spTree>
    <p:extLst>
      <p:ext uri="{BB962C8B-B14F-4D97-AF65-F5344CB8AC3E}">
        <p14:creationId xmlns:p14="http://schemas.microsoft.com/office/powerpoint/2010/main" val="2262363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fontScheme name="Custom 1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_Status_Report_Win32_jx_v12" id="{5D6FBA16-B4D1-4307-B1D7-61285FA0D9C0}" vid="{1DA9E459-46CB-4408-AA4C-63950E2E54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783CE7D-BFC6-4030-A335-E7F88DB66414}">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customXml/itemProps2.xml><?xml version="1.0" encoding="utf-8"?>
<ds:datastoreItem xmlns:ds="http://schemas.openxmlformats.org/officeDocument/2006/customXml" ds:itemID="{25B4CAA5-BE7A-46AB-97ED-63B24C46A3A8}">
  <ds:schemaRefs>
    <ds:schemaRef ds:uri="http://schemas.microsoft.com/sharepoint/v3/contenttype/forms"/>
  </ds:schemaRefs>
</ds:datastoreItem>
</file>

<file path=customXml/itemProps3.xml><?xml version="1.0" encoding="utf-8"?>
<ds:datastoreItem xmlns:ds="http://schemas.openxmlformats.org/officeDocument/2006/customXml" ds:itemID="{411F98F7-6576-47F1-AD63-56E26C339747}">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742</TotalTime>
  <Words>2900</Words>
  <Application>Microsoft Office PowerPoint</Application>
  <PresentationFormat>Widescreen</PresentationFormat>
  <Paragraphs>310</Paragraphs>
  <Slides>29</Slides>
  <Notes>7</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Statistical detection of deepfake videos and images</vt:lpstr>
      <vt:lpstr>content</vt:lpstr>
      <vt:lpstr>introduction </vt:lpstr>
      <vt:lpstr>Primary goals</vt:lpstr>
      <vt:lpstr>PowerPoint Presentation</vt:lpstr>
      <vt:lpstr>PowerPoint Presentation</vt:lpstr>
      <vt:lpstr>Algorithm Steps </vt:lpstr>
      <vt:lpstr>Algorithm Steps</vt:lpstr>
      <vt:lpstr>Algorithm Steps</vt:lpstr>
      <vt:lpstr>dataset </vt:lpstr>
      <vt:lpstr>CNN:-Convolutional neural network</vt:lpstr>
      <vt:lpstr>Data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Expected Outcomes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DISHA SOJRANI</dc:creator>
  <cp:lastModifiedBy>DISHA SOJRANI</cp:lastModifiedBy>
  <cp:revision>9</cp:revision>
  <dcterms:created xsi:type="dcterms:W3CDTF">2025-08-31T14:22:39Z</dcterms:created>
  <dcterms:modified xsi:type="dcterms:W3CDTF">2025-10-14T14:23:01Z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