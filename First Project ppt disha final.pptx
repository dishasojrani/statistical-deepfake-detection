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73" r:id="rId5"/>
    <p:sldId id="275" r:id="rId6"/>
    <p:sldId id="280" r:id="rId7"/>
    <p:sldId id="277" r:id="rId8"/>
    <p:sldId id="281" r:id="rId9"/>
    <p:sldId id="282" r:id="rId10"/>
    <p:sldId id="284" r:id="rId11"/>
    <p:sldId id="291" r:id="rId12"/>
    <p:sldId id="287" r:id="rId13"/>
    <p:sldId id="279" r:id="rId14"/>
    <p:sldId id="293" r:id="rId15"/>
    <p:sldId id="285" r:id="rId16"/>
    <p:sldId id="286" r:id="rId17"/>
    <p:sldId id="283" r:id="rId18"/>
    <p:sldId id="276" r:id="rId19"/>
    <p:sldId id="278" r:id="rId20"/>
    <p:sldId id="288" r:id="rId21"/>
    <p:sldId id="290" r:id="rId22"/>
    <p:sldId id="289" r:id="rId23"/>
    <p:sldId id="274" r:id="rId2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BEB2"/>
    <a:srgbClr val="753F2D"/>
    <a:srgbClr val="5E3324"/>
    <a:srgbClr val="8A4C34"/>
    <a:srgbClr val="815550"/>
    <a:srgbClr val="A3573E"/>
    <a:srgbClr val="E7E6E6"/>
    <a:srgbClr val="C28D6D"/>
    <a:srgbClr val="D2986F"/>
    <a:srgbClr val="333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82"/>
    <p:restoredTop sz="96327"/>
  </p:normalViewPr>
  <p:slideViewPr>
    <p:cSldViewPr snapToGrid="0">
      <p:cViewPr>
        <p:scale>
          <a:sx n="60" d="100"/>
          <a:sy n="60" d="100"/>
        </p:scale>
        <p:origin x="1068" y="102"/>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handoutMaster" Target="handoutMasters/handoutMaster1.xml" /><Relationship Id="rId3" Type="http://schemas.openxmlformats.org/officeDocument/2006/relationships/customXml" Target="../customXml/item3.xml" /><Relationship Id="rId21" Type="http://schemas.openxmlformats.org/officeDocument/2006/relationships/slide" Target="slides/slide17.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notesMaster" Target="notesMasters/notesMaster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viewProps" Target="viewProps.xml" /><Relationship Id="rId10" Type="http://schemas.openxmlformats.org/officeDocument/2006/relationships/slide" Target="slides/slide6.xml" /><Relationship Id="rId19" Type="http://schemas.openxmlformats.org/officeDocument/2006/relationships/slide" Target="slides/slide15.xml" /><Relationship Id="rId31" Type="http://schemas.microsoft.com/office/2018/10/relationships/authors" Target="author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presProps" Target="presProps.xml" /><Relationship Id="rId30" Type="http://schemas.openxmlformats.org/officeDocument/2006/relationships/tableStyles" Target="tableStyle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10/14/2025</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10/14/2025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4</a:t>
            </a:fld>
            <a:endParaRPr lang="en-US" noProof="0"/>
          </a:p>
        </p:txBody>
      </p:sp>
    </p:spTree>
    <p:extLst>
      <p:ext uri="{BB962C8B-B14F-4D97-AF65-F5344CB8AC3E}">
        <p14:creationId xmlns:p14="http://schemas.microsoft.com/office/powerpoint/2010/main" val="1673130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9</a:t>
            </a:fld>
            <a:endParaRPr lang="en-US" noProof="0" dirty="0"/>
          </a:p>
        </p:txBody>
      </p:sp>
    </p:spTree>
    <p:extLst>
      <p:ext uri="{BB962C8B-B14F-4D97-AF65-F5344CB8AC3E}">
        <p14:creationId xmlns:p14="http://schemas.microsoft.com/office/powerpoint/2010/main" val="148246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12</a:t>
            </a:fld>
            <a:endParaRPr lang="en-US" noProof="0" dirty="0"/>
          </a:p>
        </p:txBody>
      </p:sp>
    </p:spTree>
    <p:extLst>
      <p:ext uri="{BB962C8B-B14F-4D97-AF65-F5344CB8AC3E}">
        <p14:creationId xmlns:p14="http://schemas.microsoft.com/office/powerpoint/2010/main" val="1689859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18</a:t>
            </a:fld>
            <a:endParaRPr lang="en-US" noProof="0" dirty="0"/>
          </a:p>
        </p:txBody>
      </p:sp>
    </p:spTree>
    <p:extLst>
      <p:ext uri="{BB962C8B-B14F-4D97-AF65-F5344CB8AC3E}">
        <p14:creationId xmlns:p14="http://schemas.microsoft.com/office/powerpoint/2010/main" val="1661993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a:t>Click to edit Master title style</a:t>
            </a:r>
            <a:endParaRPr lang="en-US" dirty="0"/>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4.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4.xml" /></Relationships>
</file>

<file path=ppt/slides/_rels/slide19.xml.rels><?xml version="1.0" encoding="UTF-8" standalone="yes"?>
<Relationships xmlns="http://schemas.openxmlformats.org/package/2006/relationships"><Relationship Id="rId3" Type="http://schemas.openxmlformats.org/officeDocument/2006/relationships/hyperlink" Target="https://www.researchgate.net/publication/384122887_A_Comprehensive_Review_of_Deepfake_and_its_Detection_Techniques" TargetMode="External" /><Relationship Id="rId2" Type="http://schemas.openxmlformats.org/officeDocument/2006/relationships/hyperlink" Target="https://arxiv.org/abs/2208.00788" TargetMode="Externa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777436" y="237614"/>
            <a:ext cx="10637128" cy="2387600"/>
          </a:xfrm>
        </p:spPr>
        <p:txBody>
          <a:bodyPr>
            <a:noAutofit/>
          </a:bodyPr>
          <a:lstStyle/>
          <a:p>
            <a:pPr algn="ctr"/>
            <a:r>
              <a:rPr lang="en-US" b="1" cap="none" dirty="0">
                <a:latin typeface="Calibri" panose="020F0502020204030204" pitchFamily="34" charset="0"/>
                <a:cs typeface="Calibri" panose="020F0502020204030204" pitchFamily="34" charset="0"/>
              </a:rPr>
              <a:t>Statistical detection of deepfake videos and images</a:t>
            </a: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2637503" y="3134033"/>
            <a:ext cx="9293942" cy="1759188"/>
          </a:xfrm>
        </p:spPr>
        <p:txBody>
          <a:bodyPr/>
          <a:lstStyle/>
          <a:p>
            <a:r>
              <a:rPr lang="en-US" sz="3200" u="sng" dirty="0">
                <a:latin typeface="Calibri" panose="020F0502020204030204" pitchFamily="34" charset="0"/>
                <a:cs typeface="Calibri" panose="020F0502020204030204" pitchFamily="34" charset="0"/>
              </a:rPr>
              <a:t>Guided By</a:t>
            </a:r>
            <a:r>
              <a:rPr lang="en-US" sz="3200" dirty="0">
                <a:latin typeface="Calibri" panose="020F0502020204030204" pitchFamily="34" charset="0"/>
                <a:cs typeface="Calibri" panose="020F0502020204030204" pitchFamily="34" charset="0"/>
              </a:rPr>
              <a:t>:- Dr. </a:t>
            </a:r>
            <a:r>
              <a:rPr lang="en-GB" sz="3200" dirty="0">
                <a:latin typeface="Calibri" panose="020F0502020204030204" pitchFamily="34" charset="0"/>
                <a:cs typeface="Calibri" panose="020F0502020204030204" pitchFamily="34" charset="0"/>
              </a:rPr>
              <a:t>Gayatri Behere Mam </a:t>
            </a:r>
            <a:endParaRPr lang="en-US" sz="3200" dirty="0">
              <a:latin typeface="Calibri" panose="020F0502020204030204" pitchFamily="34" charset="0"/>
              <a:cs typeface="Calibri" panose="020F0502020204030204" pitchFamily="34" charset="0"/>
            </a:endParaRPr>
          </a:p>
          <a:p>
            <a:endParaRPr lang="en-US" dirty="0"/>
          </a:p>
          <a:p>
            <a:pPr algn="ctr">
              <a:lnSpc>
                <a:spcPct val="100000"/>
              </a:lnSpc>
            </a:pPr>
            <a:r>
              <a:rPr lang="en-US" b="0" dirty="0"/>
              <a:t>    </a:t>
            </a:r>
            <a:r>
              <a:rPr lang="en-US" sz="2800" b="0" u="sng" dirty="0">
                <a:latin typeface="Calibri" panose="020F0502020204030204" pitchFamily="34" charset="0"/>
                <a:cs typeface="Calibri" panose="020F0502020204030204" pitchFamily="34" charset="0"/>
              </a:rPr>
              <a:t>Presented By</a:t>
            </a:r>
            <a:r>
              <a:rPr lang="en-US" sz="2800" b="0" dirty="0">
                <a:latin typeface="Calibri" panose="020F0502020204030204" pitchFamily="34" charset="0"/>
                <a:cs typeface="Calibri" panose="020F0502020204030204" pitchFamily="34" charset="0"/>
              </a:rPr>
              <a:t>:- </a:t>
            </a:r>
          </a:p>
          <a:p>
            <a:pPr>
              <a:lnSpc>
                <a:spcPct val="100000"/>
              </a:lnSpc>
            </a:pPr>
            <a:r>
              <a:rPr lang="en-US" sz="2800" b="0" dirty="0">
                <a:latin typeface="Calibri" panose="020F0502020204030204" pitchFamily="34" charset="0"/>
                <a:cs typeface="Calibri" panose="020F0502020204030204" pitchFamily="34" charset="0"/>
              </a:rPr>
              <a:t>                                             Miss Disha .R. Sojrani</a:t>
            </a:r>
          </a:p>
          <a:p>
            <a:r>
              <a:rPr lang="en-US" sz="2800" b="0" dirty="0">
                <a:latin typeface="Calibri" panose="020F0502020204030204" pitchFamily="34" charset="0"/>
                <a:cs typeface="Calibri" panose="020F0502020204030204" pitchFamily="34" charset="0"/>
              </a:rPr>
              <a:t>                                             </a:t>
            </a:r>
            <a:r>
              <a:rPr lang="en-US" b="0" dirty="0"/>
              <a:t>M.Sc. Sem III, </a:t>
            </a:r>
            <a:endParaRPr lang="en-US" sz="2800" b="0" dirty="0"/>
          </a:p>
          <a:p>
            <a:r>
              <a:rPr lang="en-US" b="0" dirty="0"/>
              <a:t>                                           Department of Statistics </a:t>
            </a:r>
            <a:endParaRPr lang="en-US" sz="2800" b="0" dirty="0"/>
          </a:p>
          <a:p>
            <a:r>
              <a:rPr lang="en-US" b="0" dirty="0"/>
              <a:t>                                           Institute of Science, Nagpur</a:t>
            </a:r>
            <a:endParaRPr lang="en-US" sz="2800" b="0" dirty="0">
              <a:latin typeface="Calibri" panose="020F0502020204030204" pitchFamily="34" charset="0"/>
              <a:cs typeface="Calibri" panose="020F0502020204030204" pitchFamily="34" charset="0"/>
            </a:endParaRPr>
          </a:p>
          <a:p>
            <a:r>
              <a:rPr lang="en-US" b="0" dirty="0"/>
              <a:t>                             </a:t>
            </a:r>
            <a:endParaRPr lang="en-PK" b="0" dirty="0"/>
          </a:p>
        </p:txBody>
      </p:sp>
    </p:spTree>
    <p:extLst>
      <p:ext uri="{BB962C8B-B14F-4D97-AF65-F5344CB8AC3E}">
        <p14:creationId xmlns:p14="http://schemas.microsoft.com/office/powerpoint/2010/main" val="28631039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1000"/>
                                        <p:tgtEl>
                                          <p:spTgt spid="11">
                                            <p:txEl>
                                              <p:pRg st="0" end="0"/>
                                            </p:txEl>
                                          </p:spTgt>
                                        </p:tgtEl>
                                      </p:cBhvr>
                                    </p:animEffect>
                                    <p:anim calcmode="lin" valueType="num">
                                      <p:cBhvr>
                                        <p:cTn id="14"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1000"/>
                                        <p:tgtEl>
                                          <p:spTgt spid="11">
                                            <p:txEl>
                                              <p:pRg st="2" end="2"/>
                                            </p:txEl>
                                          </p:spTgt>
                                        </p:tgtEl>
                                      </p:cBhvr>
                                    </p:animEffect>
                                    <p:anim calcmode="lin" valueType="num">
                                      <p:cBhvr>
                                        <p:cTn id="19"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fade">
                                      <p:cBhvr>
                                        <p:cTn id="23" dur="1000"/>
                                        <p:tgtEl>
                                          <p:spTgt spid="11">
                                            <p:txEl>
                                              <p:pRg st="3" end="3"/>
                                            </p:txEl>
                                          </p:spTgt>
                                        </p:tgtEl>
                                      </p:cBhvr>
                                    </p:animEffect>
                                    <p:anim calcmode="lin" valueType="num">
                                      <p:cBhvr>
                                        <p:cTn id="24"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fade">
                                      <p:cBhvr>
                                        <p:cTn id="28" dur="1000"/>
                                        <p:tgtEl>
                                          <p:spTgt spid="11">
                                            <p:txEl>
                                              <p:pRg st="4" end="4"/>
                                            </p:txEl>
                                          </p:spTgt>
                                        </p:tgtEl>
                                      </p:cBhvr>
                                    </p:animEffect>
                                    <p:anim calcmode="lin" valueType="num">
                                      <p:cBhvr>
                                        <p:cTn id="2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animEffect transition="in" filter="fade">
                                      <p:cBhvr>
                                        <p:cTn id="33" dur="1000"/>
                                        <p:tgtEl>
                                          <p:spTgt spid="11">
                                            <p:txEl>
                                              <p:pRg st="5" end="5"/>
                                            </p:txEl>
                                          </p:spTgt>
                                        </p:tgtEl>
                                      </p:cBhvr>
                                    </p:animEffect>
                                    <p:anim calcmode="lin" valueType="num">
                                      <p:cBhvr>
                                        <p:cTn id="34"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1">
                                            <p:txEl>
                                              <p:pRg st="6" end="6"/>
                                            </p:txEl>
                                          </p:spTgt>
                                        </p:tgtEl>
                                        <p:attrNameLst>
                                          <p:attrName>style.visibility</p:attrName>
                                        </p:attrNameLst>
                                      </p:cBhvr>
                                      <p:to>
                                        <p:strVal val="visible"/>
                                      </p:to>
                                    </p:set>
                                    <p:animEffect transition="in" filter="fade">
                                      <p:cBhvr>
                                        <p:cTn id="38" dur="1000"/>
                                        <p:tgtEl>
                                          <p:spTgt spid="11">
                                            <p:txEl>
                                              <p:pRg st="6" end="6"/>
                                            </p:txEl>
                                          </p:spTgt>
                                        </p:tgtEl>
                                      </p:cBhvr>
                                    </p:animEffect>
                                    <p:anim calcmode="lin" valueType="num">
                                      <p:cBhvr>
                                        <p:cTn id="39"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1">
                                            <p:txEl>
                                              <p:pRg st="7" end="7"/>
                                            </p:txEl>
                                          </p:spTgt>
                                        </p:tgtEl>
                                        <p:attrNameLst>
                                          <p:attrName>style.visibility</p:attrName>
                                        </p:attrNameLst>
                                      </p:cBhvr>
                                      <p:to>
                                        <p:strVal val="visible"/>
                                      </p:to>
                                    </p:set>
                                    <p:animEffect transition="in" filter="fade">
                                      <p:cBhvr>
                                        <p:cTn id="43" dur="1000"/>
                                        <p:tgtEl>
                                          <p:spTgt spid="11">
                                            <p:txEl>
                                              <p:pRg st="7" end="7"/>
                                            </p:txEl>
                                          </p:spTgt>
                                        </p:tgtEl>
                                      </p:cBhvr>
                                    </p:animEffect>
                                    <p:anim calcmode="lin" valueType="num">
                                      <p:cBhvr>
                                        <p:cTn id="44"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p:txBody>
          <a:bodyPr/>
          <a:lstStyle/>
          <a:p>
            <a:pPr algn="ctr"/>
            <a:r>
              <a:rPr lang="en-US" sz="7200" b="1" dirty="0">
                <a:latin typeface="Bahnschrift" panose="020B0502040204020203" pitchFamily="34" charset="0"/>
              </a:rPr>
              <a:t>content</a:t>
            </a:r>
            <a:endParaRPr lang="en-US" b="1" dirty="0">
              <a:latin typeface="Bahnschrift" panose="020B0502040204020203" pitchFamily="34" charset="0"/>
            </a:endParaRPr>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idx="1"/>
          </p:nvPr>
        </p:nvSpPr>
        <p:spPr/>
        <p:txBody>
          <a:bodyPr/>
          <a:lstStyle/>
          <a:p>
            <a:endParaRPr lang="en-US" dirty="0"/>
          </a:p>
          <a:p>
            <a:endParaRPr lang="en-US" dirty="0"/>
          </a:p>
        </p:txBody>
      </p:sp>
      <p:sp>
        <p:nvSpPr>
          <p:cNvPr id="6" name="TextBox 5">
            <a:extLst>
              <a:ext uri="{FF2B5EF4-FFF2-40B4-BE49-F238E27FC236}">
                <a16:creationId xmlns:a16="http://schemas.microsoft.com/office/drawing/2014/main" id="{76FF4805-FB59-DB6D-9BF8-6701239F5336}"/>
              </a:ext>
            </a:extLst>
          </p:cNvPr>
          <p:cNvSpPr txBox="1"/>
          <p:nvPr/>
        </p:nvSpPr>
        <p:spPr>
          <a:xfrm>
            <a:off x="2815171" y="2613381"/>
            <a:ext cx="8980589" cy="4154984"/>
          </a:xfrm>
          <a:prstGeom prst="rect">
            <a:avLst/>
          </a:prstGeom>
          <a:noFill/>
        </p:spPr>
        <p:txBody>
          <a:bodyPr wrap="square" rtlCol="0">
            <a:spAutoFit/>
          </a:bodyPr>
          <a:lstStyle/>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Introduction.</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Primary Goal.</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Objectives.</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Summary of Research Paper.</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Why I choose this project??</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Methodology.</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Dataset.</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Machine Learning and Deep Learning Models.</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Expected Outcomes</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Conclusion</a:t>
            </a:r>
          </a:p>
          <a:p>
            <a:pPr marL="285750" indent="-285750">
              <a:buFont typeface="Wingdings" panose="05000000000000000000" pitchFamily="2" charset="2"/>
              <a:buChar char="v"/>
            </a:pPr>
            <a:r>
              <a:rPr lang="en-US" sz="2400" dirty="0">
                <a:latin typeface="Calibri" panose="020F0502020204030204" pitchFamily="34" charset="0"/>
                <a:cs typeface="Calibri" panose="020F0502020204030204" pitchFamily="34" charset="0"/>
              </a:rPr>
              <a:t>References</a:t>
            </a:r>
          </a:p>
        </p:txBody>
      </p:sp>
    </p:spTree>
    <p:extLst>
      <p:ext uri="{BB962C8B-B14F-4D97-AF65-F5344CB8AC3E}">
        <p14:creationId xmlns:p14="http://schemas.microsoft.com/office/powerpoint/2010/main" val="355179346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a:xfrm>
            <a:off x="0" y="1901202"/>
            <a:ext cx="5193164" cy="1928851"/>
          </a:xfrm>
        </p:spPr>
        <p:txBody>
          <a:bodyPr/>
          <a:lstStyle/>
          <a:p>
            <a:r>
              <a:rPr lang="en-US" sz="5400" b="1" dirty="0">
                <a:latin typeface="Bahnschrift" panose="020B0502040204020203" pitchFamily="34" charset="0"/>
              </a:rPr>
              <a:t>introduction</a:t>
            </a:r>
            <a:br>
              <a:rPr lang="en-US" sz="4000" b="1" dirty="0"/>
            </a:br>
            <a:endParaRPr lang="en-US" sz="4000" b="1" dirty="0"/>
          </a:p>
        </p:txBody>
      </p:sp>
      <p:sp>
        <p:nvSpPr>
          <p:cNvPr id="13" name="Slide Number Placehold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a:lstStyle/>
          <a:p>
            <a:fld id="{5BFCF61C-3B18-4C03-8326-CC3B32D710C9}" type="slidenum">
              <a:rPr lang="en-US" smtClean="0"/>
              <a:pPr/>
              <a:t>3</a:t>
            </a:fld>
            <a:endParaRPr lang="en-US"/>
          </a:p>
        </p:txBody>
      </p:sp>
      <p:sp>
        <p:nvSpPr>
          <p:cNvPr id="8" name="Text Placeholder 7">
            <a:extLst>
              <a:ext uri="{FF2B5EF4-FFF2-40B4-BE49-F238E27FC236}">
                <a16:creationId xmlns:a16="http://schemas.microsoft.com/office/drawing/2014/main" id="{C7514340-E56D-CF28-C9CA-1C1B1B6FD7C4}"/>
              </a:ext>
            </a:extLst>
          </p:cNvPr>
          <p:cNvSpPr>
            <a:spLocks noGrp="1"/>
          </p:cNvSpPr>
          <p:nvPr>
            <p:ph type="body" sz="quarter" idx="15"/>
          </p:nvPr>
        </p:nvSpPr>
        <p:spPr>
          <a:xfrm>
            <a:off x="4475748" y="219456"/>
            <a:ext cx="7496476" cy="6419088"/>
          </a:xfrm>
        </p:spPr>
        <p:txBody>
          <a:bodyPr/>
          <a:lstStyle/>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Deepfakes—</a:t>
            </a:r>
            <a:r>
              <a:rPr lang="en-GB" sz="1800" b="1" dirty="0">
                <a:solidFill>
                  <a:schemeClr val="tx1"/>
                </a:solidFill>
                <a:latin typeface="Calibri" panose="020F0502020204030204" pitchFamily="34" charset="0"/>
                <a:cs typeface="Calibri" panose="020F0502020204030204" pitchFamily="34" charset="0"/>
              </a:rPr>
              <a:t>AI-generated or AI-manipulated images and videos</a:t>
            </a:r>
            <a:r>
              <a:rPr lang="en-GB" sz="1800" dirty="0">
                <a:solidFill>
                  <a:schemeClr val="tx1"/>
                </a:solidFill>
                <a:latin typeface="Calibri" panose="020F0502020204030204" pitchFamily="34" charset="0"/>
                <a:cs typeface="Calibri" panose="020F0502020204030204" pitchFamily="34" charset="0"/>
              </a:rPr>
              <a:t>—have become a serious threat to online trust and digital security. With advanced generative models, malicious actors can produce highly realistic media that is often indistinguishable from authentic content.</a:t>
            </a:r>
          </a:p>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This project focuses on the </a:t>
            </a:r>
            <a:r>
              <a:rPr lang="en-GB" sz="1800" b="1" dirty="0">
                <a:solidFill>
                  <a:schemeClr val="tx1"/>
                </a:solidFill>
                <a:latin typeface="Calibri" panose="020F0502020204030204" pitchFamily="34" charset="0"/>
                <a:cs typeface="Calibri" panose="020F0502020204030204" pitchFamily="34" charset="0"/>
              </a:rPr>
              <a:t>statistical detection of deepfake videos and images</a:t>
            </a:r>
            <a:r>
              <a:rPr lang="en-GB" sz="1800" dirty="0">
                <a:solidFill>
                  <a:schemeClr val="tx1"/>
                </a:solidFill>
                <a:latin typeface="Calibri" panose="020F0502020204030204" pitchFamily="34" charset="0"/>
                <a:cs typeface="Calibri" panose="020F0502020204030204" pitchFamily="34" charset="0"/>
              </a:rPr>
              <a:t> using machine learning, combining classical signal-processing techniques with modern learning-based approaches to achieve reliable and scalable detection.</a:t>
            </a:r>
          </a:p>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The study explores how </a:t>
            </a:r>
            <a:r>
              <a:rPr lang="en-GB" sz="1800" b="1" dirty="0">
                <a:solidFill>
                  <a:schemeClr val="tx1"/>
                </a:solidFill>
                <a:latin typeface="Calibri" panose="020F0502020204030204" pitchFamily="34" charset="0"/>
                <a:cs typeface="Calibri" panose="020F0502020204030204" pitchFamily="34" charset="0"/>
              </a:rPr>
              <a:t>statistical artifacts differ between real and manipulated media</a:t>
            </a:r>
            <a:r>
              <a:rPr lang="en-GB" sz="1800" dirty="0">
                <a:solidFill>
                  <a:schemeClr val="tx1"/>
                </a:solidFill>
                <a:latin typeface="Calibri" panose="020F0502020204030204" pitchFamily="34" charset="0"/>
                <a:cs typeface="Calibri" panose="020F0502020204030204" pitchFamily="34" charset="0"/>
              </a:rPr>
              <a:t>, by analyzing:</a:t>
            </a: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Noise residuals</a:t>
            </a:r>
            <a:endParaRPr lang="en-GB" sz="1800" dirty="0">
              <a:solidFill>
                <a:schemeClr val="tx1"/>
              </a:solidFill>
              <a:latin typeface="Calibri" panose="020F0502020204030204" pitchFamily="34" charset="0"/>
              <a:cs typeface="Calibri" panose="020F0502020204030204" pitchFamily="34" charset="0"/>
            </a:endParaRP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Frequency-domain patterns</a:t>
            </a:r>
            <a:r>
              <a:rPr lang="en-GB" sz="1800" dirty="0">
                <a:solidFill>
                  <a:schemeClr val="tx1"/>
                </a:solidFill>
                <a:latin typeface="Calibri" panose="020F0502020204030204" pitchFamily="34" charset="0"/>
                <a:cs typeface="Calibri" panose="020F0502020204030204" pitchFamily="34" charset="0"/>
              </a:rPr>
              <a:t> (DCT/FFT)</a:t>
            </a: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Color channel inconsistencies</a:t>
            </a:r>
            <a:endParaRPr lang="en-GB" sz="1800" dirty="0">
              <a:solidFill>
                <a:schemeClr val="tx1"/>
              </a:solidFill>
              <a:latin typeface="Calibri" panose="020F0502020204030204" pitchFamily="34" charset="0"/>
              <a:cs typeface="Calibri" panose="020F0502020204030204" pitchFamily="34" charset="0"/>
            </a:endParaRP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Compression signatures</a:t>
            </a:r>
            <a:endParaRPr lang="en-GB" sz="1800" dirty="0">
              <a:solidFill>
                <a:schemeClr val="tx1"/>
              </a:solidFill>
              <a:latin typeface="Calibri" panose="020F0502020204030204" pitchFamily="34" charset="0"/>
              <a:cs typeface="Calibri" panose="020F0502020204030204" pitchFamily="34" charset="0"/>
            </a:endParaRP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Temporal cues</a:t>
            </a:r>
            <a:r>
              <a:rPr lang="en-GB" sz="1800" dirty="0">
                <a:solidFill>
                  <a:schemeClr val="tx1"/>
                </a:solidFill>
                <a:latin typeface="Calibri" panose="020F0502020204030204" pitchFamily="34" charset="0"/>
                <a:cs typeface="Calibri" panose="020F0502020204030204" pitchFamily="34" charset="0"/>
              </a:rPr>
              <a:t> (eye-blink rate, lip-sync mismatch)</a:t>
            </a: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Physiological/geometry cues</a:t>
            </a:r>
            <a:r>
              <a:rPr lang="en-GB" sz="1800" dirty="0">
                <a:solidFill>
                  <a:schemeClr val="tx1"/>
                </a:solidFill>
                <a:latin typeface="Calibri" panose="020F0502020204030204" pitchFamily="34" charset="0"/>
                <a:cs typeface="Calibri" panose="020F0502020204030204" pitchFamily="34" charset="0"/>
              </a:rPr>
              <a:t> (head-pose, lighting, specular highlights)</a:t>
            </a:r>
          </a:p>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These features are integrated into machine learning pipelines—ranging from </a:t>
            </a:r>
            <a:r>
              <a:rPr lang="en-GB" sz="1800" b="1" dirty="0">
                <a:solidFill>
                  <a:schemeClr val="tx1"/>
                </a:solidFill>
                <a:latin typeface="Calibri" panose="020F0502020204030204" pitchFamily="34" charset="0"/>
                <a:cs typeface="Calibri" panose="020F0502020204030204" pitchFamily="34" charset="0"/>
              </a:rPr>
              <a:t>traditional classifiers to deep neural networks</a:t>
            </a:r>
            <a:r>
              <a:rPr lang="en-GB" sz="1800" dirty="0">
                <a:solidFill>
                  <a:schemeClr val="tx1"/>
                </a:solidFill>
                <a:latin typeface="Calibri" panose="020F0502020204030204" pitchFamily="34" charset="0"/>
                <a:cs typeface="Calibri" panose="020F0502020204030204" pitchFamily="34" charset="0"/>
              </a:rPr>
              <a:t>—to establish robust decision boundaries for detecting forgery.</a:t>
            </a:r>
          </a:p>
          <a:p>
            <a:endParaRPr lang="en-IN" dirty="0"/>
          </a:p>
        </p:txBody>
      </p:sp>
    </p:spTree>
    <p:extLst>
      <p:ext uri="{BB962C8B-B14F-4D97-AF65-F5344CB8AC3E}">
        <p14:creationId xmlns:p14="http://schemas.microsoft.com/office/powerpoint/2010/main" val="41223962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Vertic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Vertic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arn(inVertic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arn(inVertical)">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barn(inVertical)">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barn(inVertical)">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barn(inVertical)">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barn(inVertical)">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barn(inVertical)">
                                      <p:cBhvr>
                                        <p:cTn id="52" dur="500"/>
                                        <p:tgtEl>
                                          <p:spTgt spid="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fade">
                                      <p:cBhvr>
                                        <p:cTn id="5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4</a:t>
            </a:fld>
            <a:endParaRPr lang="en-US"/>
          </a:p>
        </p:txBody>
      </p:sp>
      <p:sp>
        <p:nvSpPr>
          <p:cNvPr id="18" name="Title 17">
            <a:extLst>
              <a:ext uri="{FF2B5EF4-FFF2-40B4-BE49-F238E27FC236}">
                <a16:creationId xmlns:a16="http://schemas.microsoft.com/office/drawing/2014/main" id="{955C7EB0-5CF7-1207-FAE0-D83995EEC0EC}"/>
              </a:ext>
            </a:extLst>
          </p:cNvPr>
          <p:cNvSpPr>
            <a:spLocks noGrp="1"/>
          </p:cNvSpPr>
          <p:nvPr>
            <p:ph type="title"/>
          </p:nvPr>
        </p:nvSpPr>
        <p:spPr>
          <a:xfrm>
            <a:off x="838200" y="1431172"/>
            <a:ext cx="10515600" cy="854828"/>
          </a:xfrm>
        </p:spPr>
        <p:txBody>
          <a:bodyPr/>
          <a:lstStyle/>
          <a:p>
            <a:pPr algn="ctr"/>
            <a:r>
              <a:rPr lang="en-US" sz="6600" b="1" dirty="0">
                <a:latin typeface="Bahnschrift" panose="020B0502040204020203" pitchFamily="34" charset="0"/>
              </a:rPr>
              <a:t>Primary goals</a:t>
            </a:r>
            <a:endParaRPr lang="en-IN" sz="6600" b="1" dirty="0">
              <a:latin typeface="Bahnschrift" panose="020B0502040204020203" pitchFamily="34" charset="0"/>
            </a:endParaRPr>
          </a:p>
        </p:txBody>
      </p:sp>
      <p:sp>
        <p:nvSpPr>
          <p:cNvPr id="19" name="TextBox 18">
            <a:extLst>
              <a:ext uri="{FF2B5EF4-FFF2-40B4-BE49-F238E27FC236}">
                <a16:creationId xmlns:a16="http://schemas.microsoft.com/office/drawing/2014/main" id="{5892A450-5E45-59D9-C148-FCA0A389676B}"/>
              </a:ext>
            </a:extLst>
          </p:cNvPr>
          <p:cNvSpPr txBox="1"/>
          <p:nvPr/>
        </p:nvSpPr>
        <p:spPr>
          <a:xfrm>
            <a:off x="500462" y="2630049"/>
            <a:ext cx="11191076" cy="3785652"/>
          </a:xfrm>
          <a:prstGeom prst="rect">
            <a:avLst/>
          </a:prstGeom>
          <a:noFill/>
        </p:spPr>
        <p:txBody>
          <a:bodyPr wrap="square" rtlCol="0">
            <a:spAutoFit/>
          </a:bodyPr>
          <a:lstStyle/>
          <a:p>
            <a:pPr algn="just"/>
            <a:r>
              <a:rPr lang="en-GB" sz="2000" dirty="0">
                <a:latin typeface="Calibri" panose="020F0502020204030204" pitchFamily="34" charset="0"/>
                <a:cs typeface="Calibri" panose="020F0502020204030204" pitchFamily="34" charset="0"/>
              </a:rPr>
              <a:t>The project aims to:</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Identify patterns</a:t>
            </a:r>
            <a:r>
              <a:rPr lang="en-GB" sz="2000" dirty="0">
                <a:latin typeface="Calibri" panose="020F0502020204030204" pitchFamily="34" charset="0"/>
                <a:cs typeface="Calibri" panose="020F0502020204030204" pitchFamily="34" charset="0"/>
              </a:rPr>
              <a:t> that reliably distinguish authentic from manipulated media.</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Evaluate robustness</a:t>
            </a:r>
            <a:r>
              <a:rPr lang="en-GB" sz="2000" dirty="0">
                <a:latin typeface="Calibri" panose="020F0502020204030204" pitchFamily="34" charset="0"/>
                <a:cs typeface="Calibri" panose="020F0502020204030204" pitchFamily="34" charset="0"/>
              </a:rPr>
              <a:t> of detection models under common post-processing (compression, scaling, filtering) and across different deepfake generation methods.</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Predict forgery likelihood</a:t>
            </a:r>
            <a:r>
              <a:rPr lang="en-GB" sz="2000" dirty="0">
                <a:latin typeface="Calibri" panose="020F0502020204030204" pitchFamily="34" charset="0"/>
                <a:cs typeface="Calibri" panose="020F0502020204030204" pitchFamily="34" charset="0"/>
              </a:rPr>
              <a:t> on unseen samples, ensuring practical applicability.</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Assess generalization</a:t>
            </a:r>
            <a:r>
              <a:rPr lang="en-GB" sz="2000" dirty="0">
                <a:latin typeface="Calibri" panose="020F0502020204030204" pitchFamily="34" charset="0"/>
                <a:cs typeface="Calibri" panose="020F0502020204030204" pitchFamily="34" charset="0"/>
              </a:rPr>
              <a:t> of models trained on one type of deepfake when applied to others, especially in low-quality, user-generated content.</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Compare feature families and model types</a:t>
            </a:r>
            <a:r>
              <a:rPr lang="en-GB" sz="2000" dirty="0">
                <a:latin typeface="Calibri" panose="020F0502020204030204" pitchFamily="34" charset="0"/>
                <a:cs typeface="Calibri" panose="020F0502020204030204" pitchFamily="34" charset="0"/>
              </a:rPr>
              <a:t> (statistical, spatial, temporal; ML vs. DL) for both images and videos.</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Report evaluation metrics</a:t>
            </a:r>
            <a:r>
              <a:rPr lang="en-GB" sz="2000" dirty="0">
                <a:latin typeface="Calibri" panose="020F0502020204030204" pitchFamily="34" charset="0"/>
                <a:cs typeface="Calibri" panose="020F0502020204030204" pitchFamily="34" charset="0"/>
              </a:rPr>
              <a:t> such as Accuracy, Precision, Recall, F1-score, and ROC-AUC.</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Consider practical aspects</a:t>
            </a:r>
            <a:r>
              <a:rPr lang="en-GB" sz="2000" dirty="0">
                <a:latin typeface="Calibri" panose="020F0502020204030204" pitchFamily="34" charset="0"/>
                <a:cs typeface="Calibri" panose="020F0502020204030204" pitchFamily="34" charset="0"/>
              </a:rPr>
              <a:t> like inference speed, scalability, and deployment feasibility</a:t>
            </a:r>
            <a:r>
              <a:rPr lang="en-GB" sz="2000" dirty="0"/>
              <a:t>.</a:t>
            </a:r>
          </a:p>
          <a:p>
            <a:pPr marL="285750" indent="-285750">
              <a:buFont typeface="Arial" panose="020B0604020202020204" pitchFamily="34" charset="0"/>
              <a:buChar char="•"/>
            </a:pP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919406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circle(in)">
                                      <p:cBhvr>
                                        <p:cTn id="14"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F8FC4DAD-8F22-40DC-8133-22BF52217FB8}"/>
              </a:ext>
            </a:extLst>
          </p:cNvPr>
          <p:cNvSpPr>
            <a:spLocks noGrp="1"/>
          </p:cNvSpPr>
          <p:nvPr>
            <p:ph type="sldNum" sz="quarter" idx="4294967295"/>
          </p:nvPr>
        </p:nvSpPr>
        <p:spPr>
          <a:xfrm>
            <a:off x="10518775" y="301625"/>
            <a:ext cx="1673225" cy="274638"/>
          </a:xfrm>
        </p:spPr>
        <p:txBody>
          <a:bodyPr/>
          <a:lstStyle/>
          <a:p>
            <a:fld id="{5BFCF61C-3B18-4C03-8326-CC3B32D710C9}" type="slidenum">
              <a:rPr lang="en-US" smtClean="0"/>
              <a:pPr/>
              <a:t>5</a:t>
            </a:fld>
            <a:endParaRPr lang="en-US"/>
          </a:p>
        </p:txBody>
      </p:sp>
      <p:sp>
        <p:nvSpPr>
          <p:cNvPr id="14" name="TextBox 13">
            <a:extLst>
              <a:ext uri="{FF2B5EF4-FFF2-40B4-BE49-F238E27FC236}">
                <a16:creationId xmlns:a16="http://schemas.microsoft.com/office/drawing/2014/main" id="{58B02E52-8349-2451-F384-4E68A92427BB}"/>
              </a:ext>
            </a:extLst>
          </p:cNvPr>
          <p:cNvSpPr txBox="1"/>
          <p:nvPr/>
        </p:nvSpPr>
        <p:spPr>
          <a:xfrm>
            <a:off x="3021867" y="160764"/>
            <a:ext cx="6386052" cy="1015663"/>
          </a:xfrm>
          <a:prstGeom prst="rect">
            <a:avLst/>
          </a:prstGeom>
          <a:noFill/>
        </p:spPr>
        <p:txBody>
          <a:bodyPr wrap="square" rtlCol="0">
            <a:spAutoFit/>
          </a:bodyPr>
          <a:lstStyle/>
          <a:p>
            <a:pPr algn="ctr"/>
            <a:r>
              <a:rPr lang="en-US" sz="6000" b="1" dirty="0">
                <a:solidFill>
                  <a:schemeClr val="accent3">
                    <a:lumMod val="20000"/>
                    <a:lumOff val="80000"/>
                  </a:schemeClr>
                </a:solidFill>
                <a:latin typeface="Bahnschrift" panose="020B0502040204020203" pitchFamily="34" charset="0"/>
              </a:rPr>
              <a:t>OBJECTIVES</a:t>
            </a:r>
            <a:endParaRPr lang="en-IN" sz="6000" b="1" dirty="0">
              <a:solidFill>
                <a:schemeClr val="accent3">
                  <a:lumMod val="20000"/>
                  <a:lumOff val="80000"/>
                </a:schemeClr>
              </a:solidFill>
              <a:latin typeface="Bahnschrift" panose="020B0502040204020203" pitchFamily="34" charset="0"/>
            </a:endParaRPr>
          </a:p>
        </p:txBody>
      </p:sp>
      <p:sp>
        <p:nvSpPr>
          <p:cNvPr id="3" name="TextBox 2">
            <a:extLst>
              <a:ext uri="{FF2B5EF4-FFF2-40B4-BE49-F238E27FC236}">
                <a16:creationId xmlns:a16="http://schemas.microsoft.com/office/drawing/2014/main" id="{A726826F-4D47-A8B8-6D3E-212B32862A4E}"/>
              </a:ext>
            </a:extLst>
          </p:cNvPr>
          <p:cNvSpPr txBox="1"/>
          <p:nvPr/>
        </p:nvSpPr>
        <p:spPr>
          <a:xfrm>
            <a:off x="705852" y="1295179"/>
            <a:ext cx="10780295" cy="4524315"/>
          </a:xfrm>
          <a:prstGeom prst="rect">
            <a:avLst/>
          </a:prstGeom>
          <a:noFill/>
        </p:spPr>
        <p:txBody>
          <a:bodyPr wrap="square">
            <a:spAutoFit/>
          </a:bodyPr>
          <a:lstStyle/>
          <a:p>
            <a:pPr algn="just">
              <a:spcBef>
                <a:spcPts val="300"/>
              </a:spcBef>
              <a:spcAft>
                <a:spcPts val="300"/>
              </a:spcAft>
            </a:pPr>
            <a:r>
              <a:rPr lang="en-GB" sz="2400" dirty="0">
                <a:solidFill>
                  <a:schemeClr val="bg1"/>
                </a:solidFill>
                <a:latin typeface="Calibri" panose="020F0502020204030204" pitchFamily="34" charset="0"/>
                <a:cs typeface="Calibri" panose="020F0502020204030204" pitchFamily="34" charset="0"/>
              </a:rPr>
              <a:t>The main objective of this work is to analyze the statistical characteristics of real and manipulated media by extracting features such as noise residuals, frequency components, and color inconsistencies. Machine learning models will be designed and implemented to classify images and videos as authentic or deepfake, with a comparison of algorithms like SVM, Random Forest, CNN, and RNN. The study further aims to evaluate model robustness under different conditions such as compression, scaling, noise, and low resolution, while also investigating the effectiveness of temporal features such as lip-sync mismatch, eye-blink rate, and head movement in video-based detection. Finally, the research seeks to identify the most effective feature sets (statistical, spatial, or temporal) and develop a real-time predictive framework for flagging suspicious media across different datasets and deep fake generation techniques.</a:t>
            </a:r>
            <a:endParaRPr lang="en-US" sz="24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1526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010AA-DDBA-D5A2-A34D-69E21671333A}"/>
              </a:ext>
            </a:extLst>
          </p:cNvPr>
          <p:cNvSpPr>
            <a:spLocks noGrp="1"/>
          </p:cNvSpPr>
          <p:nvPr>
            <p:ph type="title"/>
          </p:nvPr>
        </p:nvSpPr>
        <p:spPr>
          <a:xfrm>
            <a:off x="2624328" y="843608"/>
            <a:ext cx="7498080" cy="704088"/>
          </a:xfrm>
        </p:spPr>
        <p:txBody>
          <a:bodyPr/>
          <a:lstStyle/>
          <a:p>
            <a:r>
              <a:rPr lang="en-IN" sz="5400" b="1" dirty="0"/>
              <a:t>Summary of Research Paper</a:t>
            </a:r>
            <a:endParaRPr lang="en-PK" sz="5400" dirty="0"/>
          </a:p>
        </p:txBody>
      </p:sp>
      <p:sp>
        <p:nvSpPr>
          <p:cNvPr id="13" name="Slide Number Placeholder 12">
            <a:extLst>
              <a:ext uri="{FF2B5EF4-FFF2-40B4-BE49-F238E27FC236}">
                <a16:creationId xmlns:a16="http://schemas.microsoft.com/office/drawing/2014/main" id="{89804E48-D44D-C8A3-0944-D89136753D97}"/>
              </a:ext>
            </a:extLst>
          </p:cNvPr>
          <p:cNvSpPr>
            <a:spLocks noGrp="1"/>
          </p:cNvSpPr>
          <p:nvPr>
            <p:ph type="sldNum" sz="quarter" idx="12"/>
          </p:nvPr>
        </p:nvSpPr>
        <p:spPr/>
        <p:txBody>
          <a:bodyPr/>
          <a:lstStyle/>
          <a:p>
            <a:fld id="{5BFCF61C-3B18-4C03-8326-CC3B32D710C9}" type="slidenum">
              <a:rPr lang="en-US" smtClean="0"/>
              <a:t>6</a:t>
            </a:fld>
            <a:endParaRPr lang="en-US"/>
          </a:p>
        </p:txBody>
      </p:sp>
      <p:sp>
        <p:nvSpPr>
          <p:cNvPr id="18" name="TextBox 17">
            <a:extLst>
              <a:ext uri="{FF2B5EF4-FFF2-40B4-BE49-F238E27FC236}">
                <a16:creationId xmlns:a16="http://schemas.microsoft.com/office/drawing/2014/main" id="{B145687A-EEB6-5E26-1B5D-74BE73EE3545}"/>
              </a:ext>
            </a:extLst>
          </p:cNvPr>
          <p:cNvSpPr txBox="1"/>
          <p:nvPr/>
        </p:nvSpPr>
        <p:spPr>
          <a:xfrm>
            <a:off x="870155" y="2787445"/>
            <a:ext cx="10663084" cy="3901068"/>
          </a:xfrm>
          <a:prstGeom prst="rect">
            <a:avLst/>
          </a:prstGeom>
          <a:noFill/>
        </p:spPr>
        <p:txBody>
          <a:bodyPr wrap="square">
            <a:spAutoFit/>
          </a:bodyPr>
          <a:lstStyle/>
          <a:p>
            <a:pPr>
              <a:spcBef>
                <a:spcPts val="500"/>
              </a:spcBef>
              <a:spcAft>
                <a:spcPts val="400"/>
              </a:spcAft>
              <a:buNone/>
            </a:pPr>
            <a:r>
              <a:rPr lang="en-US" sz="2000" b="1" dirty="0">
                <a:latin typeface="Calibri" panose="020F0502020204030204" pitchFamily="34" charset="0"/>
                <a:cs typeface="Calibri" panose="020F0502020204030204" pitchFamily="34" charset="0"/>
              </a:rPr>
              <a:t>Research Paper 1</a:t>
            </a:r>
          </a:p>
          <a:p>
            <a:pPr>
              <a:spcBef>
                <a:spcPts val="500"/>
              </a:spcBef>
              <a:spcAft>
                <a:spcPts val="400"/>
              </a:spcAft>
              <a:buNone/>
            </a:pPr>
            <a:r>
              <a:rPr lang="en-US" sz="2000" b="1" dirty="0">
                <a:latin typeface="Calibri" panose="020F0502020204030204" pitchFamily="34" charset="0"/>
                <a:cs typeface="Calibri" panose="020F0502020204030204" pitchFamily="34" charset="0"/>
              </a:rPr>
              <a:t>Title:</a:t>
            </a:r>
            <a:r>
              <a:rPr lang="en-US" sz="2000" dirty="0">
                <a:latin typeface="Calibri" panose="020F0502020204030204" pitchFamily="34" charset="0"/>
                <a:cs typeface="Calibri" panose="020F0502020204030204" pitchFamily="34" charset="0"/>
              </a:rPr>
              <a:t> A Comprehensive Review of Deepfake and its Detection Techniques</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Authors:</a:t>
            </a:r>
            <a:r>
              <a:rPr lang="en-US" sz="2000" dirty="0">
                <a:latin typeface="Calibri" panose="020F0502020204030204" pitchFamily="34" charset="0"/>
                <a:cs typeface="Calibri" panose="020F0502020204030204" pitchFamily="34" charset="0"/>
              </a:rPr>
              <a:t> Tatwadarshi P. Nagarhalli, Ashwini Save, Sanket Patil &amp; Uday Aswalekar (India)</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Published:</a:t>
            </a:r>
            <a:r>
              <a:rPr lang="en-US" sz="2000" dirty="0">
                <a:latin typeface="Calibri" panose="020F0502020204030204" pitchFamily="34" charset="0"/>
                <a:cs typeface="Calibri" panose="020F0502020204030204" pitchFamily="34" charset="0"/>
              </a:rPr>
              <a:t> August 2024</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Summary:</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This paper reviews the evolution of deepfake technology and its impact on digital trust. It provides a comparative analysis of 14 research works, focusing on detection methods based on statistical features, machine learning, and multimodal approaches. The authors discuss challenges such as dataset bias, poor generalization across generation methods, and the continuous advancements in deepfake creation tools. The paper concludes by recommending the development of robust, scalable, and explainable detection techniques to ensure reliable identification of manipulated media in real-world applications</a:t>
            </a:r>
            <a:r>
              <a:rPr lang="en-US" sz="2000" dirty="0"/>
              <a:t>.</a:t>
            </a:r>
          </a:p>
        </p:txBody>
      </p:sp>
    </p:spTree>
    <p:extLst>
      <p:ext uri="{BB962C8B-B14F-4D97-AF65-F5344CB8AC3E}">
        <p14:creationId xmlns:p14="http://schemas.microsoft.com/office/powerpoint/2010/main" val="11250545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ppt_x"/>
                                          </p:val>
                                        </p:tav>
                                        <p:tav tm="100000">
                                          <p:val>
                                            <p:strVal val="#ppt_x"/>
                                          </p:val>
                                        </p:tav>
                                      </p:tavLst>
                                    </p:anim>
                                    <p:anim calcmode="lin" valueType="num">
                                      <p:cBhvr additive="base">
                                        <p:cTn id="1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DE830D-3934-27DB-1C01-C67FB4D8CE97}"/>
              </a:ext>
            </a:extLst>
          </p:cNvPr>
          <p:cNvSpPr>
            <a:spLocks noGrp="1"/>
          </p:cNvSpPr>
          <p:nvPr>
            <p:ph type="sldNum" sz="quarter" idx="12"/>
          </p:nvPr>
        </p:nvSpPr>
        <p:spPr/>
        <p:txBody>
          <a:bodyPr/>
          <a:lstStyle/>
          <a:p>
            <a:fld id="{5BFCF61C-3B18-4C03-8326-CC3B32D710C9}" type="slidenum">
              <a:rPr lang="en-US" noProof="0" smtClean="0"/>
              <a:t>7</a:t>
            </a:fld>
            <a:endParaRPr lang="en-US" noProof="0"/>
          </a:p>
        </p:txBody>
      </p:sp>
      <p:sp>
        <p:nvSpPr>
          <p:cNvPr id="4" name="Title 3">
            <a:extLst>
              <a:ext uri="{FF2B5EF4-FFF2-40B4-BE49-F238E27FC236}">
                <a16:creationId xmlns:a16="http://schemas.microsoft.com/office/drawing/2014/main" id="{60588225-A2D2-5B7C-B6AB-A923E148D147}"/>
              </a:ext>
            </a:extLst>
          </p:cNvPr>
          <p:cNvSpPr>
            <a:spLocks noGrp="1"/>
          </p:cNvSpPr>
          <p:nvPr>
            <p:ph type="title"/>
          </p:nvPr>
        </p:nvSpPr>
        <p:spPr>
          <a:xfrm>
            <a:off x="2624328" y="969246"/>
            <a:ext cx="7498080" cy="704088"/>
          </a:xfrm>
        </p:spPr>
        <p:txBody>
          <a:bodyPr/>
          <a:lstStyle/>
          <a:p>
            <a:r>
              <a:rPr lang="en-IN" sz="5400" b="1" dirty="0"/>
              <a:t>Summary of Research Paper</a:t>
            </a:r>
            <a:endParaRPr lang="en-IN" sz="5400" dirty="0"/>
          </a:p>
        </p:txBody>
      </p:sp>
      <p:sp>
        <p:nvSpPr>
          <p:cNvPr id="10" name="TextBox 9">
            <a:extLst>
              <a:ext uri="{FF2B5EF4-FFF2-40B4-BE49-F238E27FC236}">
                <a16:creationId xmlns:a16="http://schemas.microsoft.com/office/drawing/2014/main" id="{D4B1F57C-E612-6745-AC3D-38102AF0570F}"/>
              </a:ext>
            </a:extLst>
          </p:cNvPr>
          <p:cNvSpPr txBox="1"/>
          <p:nvPr/>
        </p:nvSpPr>
        <p:spPr>
          <a:xfrm>
            <a:off x="856634" y="2642356"/>
            <a:ext cx="10478731" cy="3913892"/>
          </a:xfrm>
          <a:prstGeom prst="rect">
            <a:avLst/>
          </a:prstGeom>
          <a:noFill/>
        </p:spPr>
        <p:txBody>
          <a:bodyPr wrap="square">
            <a:spAutoFit/>
          </a:bodyPr>
          <a:lstStyle/>
          <a:p>
            <a:pPr>
              <a:spcBef>
                <a:spcPts val="600"/>
              </a:spcBef>
              <a:spcAft>
                <a:spcPts val="400"/>
              </a:spcAft>
              <a:buNone/>
            </a:pPr>
            <a:r>
              <a:rPr lang="en-IN" sz="2000" b="1" dirty="0">
                <a:latin typeface="Calibri" panose="020F0502020204030204" pitchFamily="34" charset="0"/>
                <a:cs typeface="Calibri" panose="020F0502020204030204" pitchFamily="34" charset="0"/>
              </a:rPr>
              <a:t>Research Paper 2</a:t>
            </a:r>
          </a:p>
          <a:p>
            <a:pPr>
              <a:spcBef>
                <a:spcPts val="600"/>
              </a:spcBef>
              <a:spcAft>
                <a:spcPts val="400"/>
              </a:spcAft>
              <a:buNone/>
            </a:pPr>
            <a:r>
              <a:rPr lang="en-IN" sz="2000" b="1" dirty="0">
                <a:latin typeface="Calibri" panose="020F0502020204030204" pitchFamily="34" charset="0"/>
                <a:cs typeface="Calibri" panose="020F0502020204030204" pitchFamily="34" charset="0"/>
              </a:rPr>
              <a:t>Title:</a:t>
            </a:r>
            <a:r>
              <a:rPr lang="en-IN" sz="2000" dirty="0">
                <a:latin typeface="Calibri" panose="020F0502020204030204" pitchFamily="34" charset="0"/>
                <a:cs typeface="Calibri" panose="020F0502020204030204" pitchFamily="34" charset="0"/>
              </a:rPr>
              <a:t> A Hybrid CNN-LSTM Model for Video Deepfake Detection by Leveraging Optical Flow Features</a:t>
            </a:r>
            <a:br>
              <a:rPr lang="en-IN" sz="2000" dirty="0">
                <a:latin typeface="Calibri" panose="020F0502020204030204" pitchFamily="34" charset="0"/>
                <a:cs typeface="Calibri" panose="020F0502020204030204" pitchFamily="34" charset="0"/>
              </a:rPr>
            </a:br>
            <a:r>
              <a:rPr lang="en-IN" sz="2000" b="1" dirty="0">
                <a:latin typeface="Calibri" panose="020F0502020204030204" pitchFamily="34" charset="0"/>
                <a:cs typeface="Calibri" panose="020F0502020204030204" pitchFamily="34" charset="0"/>
              </a:rPr>
              <a:t>Authors:</a:t>
            </a:r>
            <a:r>
              <a:rPr lang="en-IN" sz="2000" dirty="0">
                <a:latin typeface="Calibri" panose="020F0502020204030204" pitchFamily="34" charset="0"/>
                <a:cs typeface="Calibri" panose="020F0502020204030204" pitchFamily="34" charset="0"/>
              </a:rPr>
              <a:t> Pallabi Saikia, Dhwani Dholaria, Priyanka Yadav, Vaidehi Patel &amp; Mohendra Roy (India)</a:t>
            </a:r>
            <a:br>
              <a:rPr lang="en-IN" sz="2000" dirty="0">
                <a:latin typeface="Calibri" panose="020F0502020204030204" pitchFamily="34" charset="0"/>
                <a:cs typeface="Calibri" panose="020F0502020204030204" pitchFamily="34" charset="0"/>
              </a:rPr>
            </a:br>
            <a:r>
              <a:rPr lang="en-IN" sz="2000" b="1" dirty="0">
                <a:latin typeface="Calibri" panose="020F0502020204030204" pitchFamily="34" charset="0"/>
                <a:cs typeface="Calibri" panose="020F0502020204030204" pitchFamily="34" charset="0"/>
              </a:rPr>
              <a:t>Published:</a:t>
            </a:r>
            <a:r>
              <a:rPr lang="en-IN" sz="2000" dirty="0">
                <a:latin typeface="Calibri" panose="020F0502020204030204" pitchFamily="34" charset="0"/>
                <a:cs typeface="Calibri" panose="020F0502020204030204" pitchFamily="34" charset="0"/>
              </a:rPr>
              <a:t> July 2022</a:t>
            </a:r>
            <a:br>
              <a:rPr lang="en-IN" sz="2000" dirty="0">
                <a:latin typeface="Calibri" panose="020F0502020204030204" pitchFamily="34" charset="0"/>
                <a:cs typeface="Calibri" panose="020F0502020204030204" pitchFamily="34" charset="0"/>
              </a:rPr>
            </a:br>
            <a:r>
              <a:rPr lang="en-IN" sz="2000" b="1" dirty="0">
                <a:latin typeface="Calibri" panose="020F0502020204030204" pitchFamily="34" charset="0"/>
                <a:cs typeface="Calibri" panose="020F0502020204030204" pitchFamily="34" charset="0"/>
              </a:rPr>
              <a:t>Summary:</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This study introduces a hybrid CNN-LSTM architecture for deepfake detection in videos, using optical flow to capture motion-based inconsistencies between frames. The proposed model was tested on benchmark datasets such as </a:t>
            </a:r>
            <a:r>
              <a:rPr lang="en-IN" sz="2000" b="1" dirty="0">
                <a:latin typeface="Calibri" panose="020F0502020204030204" pitchFamily="34" charset="0"/>
                <a:cs typeface="Calibri" panose="020F0502020204030204" pitchFamily="34" charset="0"/>
              </a:rPr>
              <a:t>DFDC, FaceForensics++, and Celeb-DF</a:t>
            </a:r>
            <a:r>
              <a:rPr lang="en-IN" sz="2000" dirty="0">
                <a:latin typeface="Calibri" panose="020F0502020204030204" pitchFamily="34" charset="0"/>
                <a:cs typeface="Calibri" panose="020F0502020204030204" pitchFamily="34" charset="0"/>
              </a:rPr>
              <a:t>, achieving high accuracy levels (91.21% on FF++, 79.49% on Celeb-DF). The research highlights the importance of combining spatial and temporal features for reliable detection, especially in compressed or low-quality videos. The paper suggests that hybrid models can significantly improve the robustness of deepfake detection in practical scenarios.</a:t>
            </a:r>
          </a:p>
        </p:txBody>
      </p:sp>
    </p:spTree>
    <p:extLst>
      <p:ext uri="{BB962C8B-B14F-4D97-AF65-F5344CB8AC3E}">
        <p14:creationId xmlns:p14="http://schemas.microsoft.com/office/powerpoint/2010/main" val="35968283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ADBC69-D19A-A66A-E048-E78AB60E095B}"/>
              </a:ext>
            </a:extLst>
          </p:cNvPr>
          <p:cNvSpPr>
            <a:spLocks noGrp="1"/>
          </p:cNvSpPr>
          <p:nvPr>
            <p:ph type="sldNum" sz="quarter" idx="12"/>
          </p:nvPr>
        </p:nvSpPr>
        <p:spPr/>
        <p:txBody>
          <a:bodyPr/>
          <a:lstStyle/>
          <a:p>
            <a:fld id="{5BFCF61C-3B18-4C03-8326-CC3B32D710C9}" type="slidenum">
              <a:rPr lang="en-US" noProof="0" smtClean="0"/>
              <a:t>8</a:t>
            </a:fld>
            <a:endParaRPr lang="en-US" noProof="0"/>
          </a:p>
        </p:txBody>
      </p:sp>
      <p:sp>
        <p:nvSpPr>
          <p:cNvPr id="4" name="Title 3">
            <a:extLst>
              <a:ext uri="{FF2B5EF4-FFF2-40B4-BE49-F238E27FC236}">
                <a16:creationId xmlns:a16="http://schemas.microsoft.com/office/drawing/2014/main" id="{A5429074-7441-6D41-764C-9CDD22F715DE}"/>
              </a:ext>
            </a:extLst>
          </p:cNvPr>
          <p:cNvSpPr>
            <a:spLocks noGrp="1"/>
          </p:cNvSpPr>
          <p:nvPr>
            <p:ph type="title"/>
          </p:nvPr>
        </p:nvSpPr>
        <p:spPr>
          <a:xfrm>
            <a:off x="2346959" y="1163494"/>
            <a:ext cx="7553785" cy="1311692"/>
          </a:xfrm>
        </p:spPr>
        <p:txBody>
          <a:bodyPr/>
          <a:lstStyle/>
          <a:p>
            <a:r>
              <a:rPr lang="en-IN" sz="5400" b="1" dirty="0"/>
              <a:t>Summary of Research Paper</a:t>
            </a:r>
            <a:endParaRPr lang="en-IN" sz="5400" dirty="0"/>
          </a:p>
        </p:txBody>
      </p:sp>
      <p:sp>
        <p:nvSpPr>
          <p:cNvPr id="10" name="TextBox 9">
            <a:extLst>
              <a:ext uri="{FF2B5EF4-FFF2-40B4-BE49-F238E27FC236}">
                <a16:creationId xmlns:a16="http://schemas.microsoft.com/office/drawing/2014/main" id="{AED9512E-796C-9585-3BB3-A4CE3D0FA140}"/>
              </a:ext>
            </a:extLst>
          </p:cNvPr>
          <p:cNvSpPr txBox="1"/>
          <p:nvPr/>
        </p:nvSpPr>
        <p:spPr>
          <a:xfrm>
            <a:off x="1355834" y="2955262"/>
            <a:ext cx="9869214" cy="3600986"/>
          </a:xfrm>
          <a:prstGeom prst="rect">
            <a:avLst/>
          </a:prstGeom>
          <a:noFill/>
        </p:spPr>
        <p:txBody>
          <a:bodyPr wrap="square" rtlCol="0">
            <a:spAutoFit/>
          </a:bodyPr>
          <a:lstStyle/>
          <a:p>
            <a:pPr>
              <a:spcBef>
                <a:spcPts val="400"/>
              </a:spcBef>
              <a:spcAft>
                <a:spcPts val="400"/>
              </a:spcAft>
            </a:pPr>
            <a:r>
              <a:rPr lang="en-US" sz="2000" b="1" dirty="0">
                <a:latin typeface="Calibri" panose="020F0502020204030204" pitchFamily="34" charset="0"/>
                <a:cs typeface="Calibri" panose="020F0502020204030204" pitchFamily="34" charset="0"/>
              </a:rPr>
              <a:t>Research Paper 3</a:t>
            </a:r>
          </a:p>
          <a:p>
            <a:pPr>
              <a:spcBef>
                <a:spcPts val="400"/>
              </a:spcBef>
              <a:spcAft>
                <a:spcPts val="400"/>
              </a:spcAft>
            </a:pPr>
            <a:r>
              <a:rPr lang="en-US" sz="2000" b="1" dirty="0">
                <a:latin typeface="Calibri" panose="020F0502020204030204" pitchFamily="34" charset="0"/>
                <a:cs typeface="Calibri" panose="020F0502020204030204" pitchFamily="34" charset="0"/>
              </a:rPr>
              <a:t>Title:</a:t>
            </a:r>
            <a:r>
              <a:rPr lang="en-US" sz="2000" dirty="0">
                <a:latin typeface="Calibri" panose="020F0502020204030204" pitchFamily="34" charset="0"/>
                <a:cs typeface="Calibri" panose="020F0502020204030204" pitchFamily="34" charset="0"/>
              </a:rPr>
              <a:t> Deepfake Detection Using Convolutional Neural Networks and LSTM Modelling</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Authors:</a:t>
            </a:r>
            <a:r>
              <a:rPr lang="en-US" sz="2000" dirty="0">
                <a:latin typeface="Calibri" panose="020F0502020204030204" pitchFamily="34" charset="0"/>
                <a:cs typeface="Calibri" panose="020F0502020204030204" pitchFamily="34" charset="0"/>
              </a:rPr>
              <a:t> Vishal Manishbhai Patel &amp; Dr. Sheshang Degadwala (India)</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Published:</a:t>
            </a:r>
            <a:r>
              <a:rPr lang="en-US" sz="2000" dirty="0">
                <a:latin typeface="Calibri" panose="020F0502020204030204" pitchFamily="34" charset="0"/>
                <a:cs typeface="Calibri" panose="020F0502020204030204" pitchFamily="34" charset="0"/>
              </a:rPr>
              <a:t> 2025 (International Journal of Scientific Research in Science and Technology)</a:t>
            </a:r>
            <a:br>
              <a:rPr lang="en-US" sz="2000" dirty="0">
                <a:latin typeface="Calibri" panose="020F0502020204030204" pitchFamily="34" charset="0"/>
                <a:cs typeface="Calibri" panose="020F0502020204030204" pitchFamily="34" charset="0"/>
              </a:rPr>
            </a:br>
            <a:r>
              <a:rPr lang="en-US" sz="2000" b="1" dirty="0">
                <a:latin typeface="Calibri" panose="020F0502020204030204" pitchFamily="34" charset="0"/>
                <a:cs typeface="Calibri" panose="020F0502020204030204" pitchFamily="34" charset="0"/>
              </a:rPr>
              <a:t>Summary:</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This study proposes an advanced detection framework that integrates </a:t>
            </a:r>
            <a:r>
              <a:rPr lang="en-US" sz="2000" b="1" dirty="0">
                <a:latin typeface="Calibri" panose="020F0502020204030204" pitchFamily="34" charset="0"/>
                <a:cs typeface="Calibri" panose="020F0502020204030204" pitchFamily="34" charset="0"/>
              </a:rPr>
              <a:t>CNN for extracting spatial features</a:t>
            </a:r>
            <a:r>
              <a:rPr lang="en-US" sz="2000" dirty="0">
                <a:latin typeface="Calibri" panose="020F0502020204030204" pitchFamily="34" charset="0"/>
                <a:cs typeface="Calibri" panose="020F0502020204030204" pitchFamily="34" charset="0"/>
              </a:rPr>
              <a:t> and </a:t>
            </a:r>
            <a:r>
              <a:rPr lang="en-US" sz="2000" b="1" dirty="0">
                <a:latin typeface="Calibri" panose="020F0502020204030204" pitchFamily="34" charset="0"/>
                <a:cs typeface="Calibri" panose="020F0502020204030204" pitchFamily="34" charset="0"/>
              </a:rPr>
              <a:t>LSTM for temporal consistency analysis</a:t>
            </a:r>
            <a:r>
              <a:rPr lang="en-US" sz="2000" dirty="0">
                <a:latin typeface="Calibri" panose="020F0502020204030204" pitchFamily="34" charset="0"/>
                <a:cs typeface="Calibri" panose="020F0502020204030204" pitchFamily="34" charset="0"/>
              </a:rPr>
              <a:t> from video frames. Tested on benchmark datasets, the model achieved exceptional results with </a:t>
            </a:r>
            <a:r>
              <a:rPr lang="en-US" sz="2000" b="1" dirty="0">
                <a:latin typeface="Calibri" panose="020F0502020204030204" pitchFamily="34" charset="0"/>
                <a:cs typeface="Calibri" panose="020F0502020204030204" pitchFamily="34" charset="0"/>
              </a:rPr>
              <a:t>97% accuracy, precision, recall, and F1-score</a:t>
            </a:r>
            <a:r>
              <a:rPr lang="en-US" sz="2000" dirty="0">
                <a:latin typeface="Calibri" panose="020F0502020204030204" pitchFamily="34" charset="0"/>
                <a:cs typeface="Calibri" panose="020F0502020204030204" pitchFamily="34" charset="0"/>
              </a:rPr>
              <a:t>, demonstrating its effectiveness in capturing both frame-level details and inter-frame dynamics for robust deepfake identification.</a:t>
            </a:r>
          </a:p>
          <a:p>
            <a:endParaRPr lang="en-IN" dirty="0"/>
          </a:p>
        </p:txBody>
      </p:sp>
    </p:spTree>
    <p:extLst>
      <p:ext uri="{BB962C8B-B14F-4D97-AF65-F5344CB8AC3E}">
        <p14:creationId xmlns:p14="http://schemas.microsoft.com/office/powerpoint/2010/main" val="30780003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7E72B8-2DF3-B59B-CE85-43982E264535}"/>
              </a:ext>
            </a:extLst>
          </p:cNvPr>
          <p:cNvSpPr>
            <a:spLocks noGrp="1"/>
          </p:cNvSpPr>
          <p:nvPr>
            <p:ph type="sldNum" sz="quarter" idx="12"/>
          </p:nvPr>
        </p:nvSpPr>
        <p:spPr/>
        <p:txBody>
          <a:bodyPr/>
          <a:lstStyle/>
          <a:p>
            <a:fld id="{5BFCF61C-3B18-4C03-8326-CC3B32D710C9}" type="slidenum">
              <a:rPr lang="en-US" noProof="0" smtClean="0"/>
              <a:t>9</a:t>
            </a:fld>
            <a:endParaRPr lang="en-US" noProof="0"/>
          </a:p>
        </p:txBody>
      </p:sp>
      <p:sp>
        <p:nvSpPr>
          <p:cNvPr id="16" name="Title 15">
            <a:extLst>
              <a:ext uri="{FF2B5EF4-FFF2-40B4-BE49-F238E27FC236}">
                <a16:creationId xmlns:a16="http://schemas.microsoft.com/office/drawing/2014/main" id="{04AB0AA3-0DFB-C1A9-B671-BA8EE5A6FF24}"/>
              </a:ext>
            </a:extLst>
          </p:cNvPr>
          <p:cNvSpPr>
            <a:spLocks noGrp="1"/>
          </p:cNvSpPr>
          <p:nvPr>
            <p:ph type="title"/>
          </p:nvPr>
        </p:nvSpPr>
        <p:spPr>
          <a:xfrm>
            <a:off x="500265" y="1602240"/>
            <a:ext cx="11814640" cy="575321"/>
          </a:xfrm>
        </p:spPr>
        <p:txBody>
          <a:bodyPr/>
          <a:lstStyle/>
          <a:p>
            <a:pPr>
              <a:lnSpc>
                <a:spcPct val="100000"/>
              </a:lnSpc>
            </a:pPr>
            <a:r>
              <a:rPr lang="en-US" sz="5400" dirty="0">
                <a:latin typeface="Bahnschrift" panose="020B0502040204020203" pitchFamily="34" charset="0"/>
              </a:rPr>
              <a:t>Why I choose this project??</a:t>
            </a:r>
            <a:endParaRPr lang="en-IN" sz="5400" dirty="0">
              <a:latin typeface="Bahnschrift" panose="020B0502040204020203" pitchFamily="34" charset="0"/>
            </a:endParaRPr>
          </a:p>
        </p:txBody>
      </p:sp>
      <p:sp>
        <p:nvSpPr>
          <p:cNvPr id="21" name="TextBox 20">
            <a:extLst>
              <a:ext uri="{FF2B5EF4-FFF2-40B4-BE49-F238E27FC236}">
                <a16:creationId xmlns:a16="http://schemas.microsoft.com/office/drawing/2014/main" id="{328ED3F4-5D5D-9AEB-19E1-1C9C51D3F985}"/>
              </a:ext>
            </a:extLst>
          </p:cNvPr>
          <p:cNvSpPr txBox="1"/>
          <p:nvPr/>
        </p:nvSpPr>
        <p:spPr>
          <a:xfrm>
            <a:off x="366792" y="3203729"/>
            <a:ext cx="10989024" cy="3477875"/>
          </a:xfrm>
          <a:prstGeom prst="rect">
            <a:avLst/>
          </a:prstGeom>
          <a:noFill/>
        </p:spPr>
        <p:txBody>
          <a:bodyPr wrap="square">
            <a:spAutoFit/>
          </a:bodyPr>
          <a:lstStyle/>
          <a:p>
            <a:pPr marL="285750" indent="-285750">
              <a:buFont typeface="Wingdings" panose="05000000000000000000" pitchFamily="2" charset="2"/>
              <a:buChar char="v"/>
            </a:pPr>
            <a:r>
              <a:rPr lang="en-US" sz="2000" dirty="0">
                <a:latin typeface="Calibri" panose="020F0502020204030204" pitchFamily="34" charset="0"/>
                <a:cs typeface="Calibri" panose="020F0502020204030204" pitchFamily="34" charset="0"/>
              </a:rPr>
              <a:t>I choose this research on deepfake detection because of its rising importance in today’s digital world. With the growth of social media and advanced AI tools, deepfakes have become easier to create and harder to detect, posing serious threats to trust, privacy, and security. Their misuse is not limited to entertainment but also extends to politics, financial fraud, cybercrime, and misinformation campaigns, which can mislead people and harm reputations.</a:t>
            </a:r>
          </a:p>
          <a:p>
            <a:pPr>
              <a:buNone/>
            </a:pPr>
            <a:endParaRPr lang="en-US" sz="20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sz="2000" dirty="0">
                <a:latin typeface="Calibri" panose="020F0502020204030204" pitchFamily="34" charset="0"/>
                <a:cs typeface="Calibri" panose="020F0502020204030204" pitchFamily="34" charset="0"/>
              </a:rPr>
              <a:t>This project is especially relevant as many existing detection models struggle with generalization across different deepfake techniques and with low-quality or compressed media commonly shared online. By focusing on statistical features combined with machine learning, our study aims to build an effective and scalable detection framework, addressing a global challenge and contributing to safer, more transparent online platforms.</a:t>
            </a:r>
          </a:p>
        </p:txBody>
      </p:sp>
    </p:spTree>
    <p:extLst>
      <p:ext uri="{BB962C8B-B14F-4D97-AF65-F5344CB8AC3E}">
        <p14:creationId xmlns:p14="http://schemas.microsoft.com/office/powerpoint/2010/main" val="1707801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heel(1)">
                                      <p:cBhvr>
                                        <p:cTn id="14"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a:xfrm>
            <a:off x="0" y="1458025"/>
            <a:ext cx="4984955" cy="1682749"/>
          </a:xfrm>
        </p:spPr>
        <p:txBody>
          <a:bodyPr/>
          <a:lstStyle/>
          <a:p>
            <a:r>
              <a:rPr lang="en-IN" sz="5400" b="1" dirty="0">
                <a:latin typeface="Bahnschrift" panose="020B0502040204020203" pitchFamily="34" charset="0"/>
              </a:rPr>
              <a:t>Cheat Sheet</a:t>
            </a:r>
            <a:endParaRPr lang="en-US" sz="5400" b="1" dirty="0">
              <a:latin typeface="Bahnschrift" panose="020B0502040204020203" pitchFamily="34" charset="0"/>
            </a:endParaRPr>
          </a:p>
        </p:txBody>
      </p:sp>
      <p:sp>
        <p:nvSpPr>
          <p:cNvPr id="13" name="Slide Number Placeholder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a:lstStyle/>
          <a:p>
            <a:fld id="{5BFCF61C-3B18-4C03-8326-CC3B32D710C9}" type="slidenum">
              <a:rPr lang="en-US" smtClean="0"/>
              <a:pPr/>
              <a:t>10</a:t>
            </a:fld>
            <a:endParaRPr lang="en-US"/>
          </a:p>
        </p:txBody>
      </p:sp>
      <p:sp>
        <p:nvSpPr>
          <p:cNvPr id="17" name="Rectangle 1">
            <a:extLst>
              <a:ext uri="{FF2B5EF4-FFF2-40B4-BE49-F238E27FC236}">
                <a16:creationId xmlns:a16="http://schemas.microsoft.com/office/drawing/2014/main" id="{6FC5625C-1FF5-25AE-D1D2-61B930193629}"/>
              </a:ext>
            </a:extLst>
          </p:cNvPr>
          <p:cNvSpPr>
            <a:spLocks noChangeArrowheads="1"/>
          </p:cNvSpPr>
          <p:nvPr/>
        </p:nvSpPr>
        <p:spPr bwMode="auto">
          <a:xfrm>
            <a:off x="4320296" y="301752"/>
            <a:ext cx="7753717"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Statistical Features</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 Quantitative measures (like noise patterns, frequency components, color inconsistencies) that help differentiate real from fake media.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Spatial Features</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 Visual details in a single frame/image such as texture, edges, lighting, and pixel distribution.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Temporal Features: </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Motion-based cues in videos, such as lip-sync mismatch, abnormal eye blinking, or unnatural head movements.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Deepfake:</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 AI-generated or AI-manipulated image/video that makes people appear to say or do things that never happened.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P2P (Pixel-to-Pixel Analysis):</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 Comparing pixel-level details of an image/video to detect subtle anomalies introduced during manipulation.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2000" b="1" dirty="0">
                <a:solidFill>
                  <a:schemeClr val="accent3">
                    <a:lumMod val="40000"/>
                    <a:lumOff val="60000"/>
                  </a:schemeClr>
                </a:solidFill>
                <a:latin typeface="Calibri" panose="020F0502020204030204" pitchFamily="34" charset="0"/>
                <a:cs typeface="Calibri" panose="020F0502020204030204" pitchFamily="34" charset="0"/>
              </a:rPr>
              <a:t>F</a:t>
            </a: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2F (Frame-to-Frame Analysis): </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Studying the continuity between consecutive video frames to catch inconsistencies in movement or transitions.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CNN (Convolutional Neural Network): </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A deep learning model that analyzes images by detecting spatial patterns and anomalies.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Forgery Cues: </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Inconsistencies like unnatural lighting, mismatched shadows, blurred boundaries, or audio-visual mismatch.</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Evaluation Metrics: </a:t>
            </a:r>
            <a:r>
              <a:rPr kumimoji="0" lang="en-US" altLang="en-US" sz="2000" i="0" u="none" strike="noStrike" cap="none" normalizeH="0" baseline="0" dirty="0">
                <a:ln>
                  <a:noFill/>
                </a:ln>
                <a:solidFill>
                  <a:schemeClr val="accent3">
                    <a:lumMod val="40000"/>
                    <a:lumOff val="60000"/>
                  </a:schemeClr>
                </a:solidFill>
                <a:effectLst/>
                <a:latin typeface="Calibri" panose="020F0502020204030204" pitchFamily="34" charset="0"/>
                <a:cs typeface="Calibri" panose="020F0502020204030204" pitchFamily="34" charset="0"/>
              </a:rPr>
              <a:t>Measures such as Accuracy, Precision, Recall, F1-score, and ROC-AUC used to assess detection model performance.</a:t>
            </a:r>
          </a:p>
        </p:txBody>
      </p:sp>
    </p:spTree>
    <p:extLst>
      <p:ext uri="{BB962C8B-B14F-4D97-AF65-F5344CB8AC3E}">
        <p14:creationId xmlns:p14="http://schemas.microsoft.com/office/powerpoint/2010/main" val="6163551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C1C9AB-6D03-CD41-A2B4-967608869C0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5278128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C55B2EE8-2934-0BCE-7310-0DEAC3AAE885}"/>
              </a:ext>
            </a:extLst>
          </p:cNvPr>
          <p:cNvSpPr>
            <a:spLocks noGrp="1"/>
          </p:cNvSpPr>
          <p:nvPr>
            <p:ph type="title"/>
          </p:nvPr>
        </p:nvSpPr>
        <p:spPr>
          <a:xfrm>
            <a:off x="0" y="242359"/>
            <a:ext cx="9485278" cy="667807"/>
          </a:xfrm>
        </p:spPr>
        <p:txBody>
          <a:bodyPr/>
          <a:lstStyle/>
          <a:p>
            <a:pPr algn="ctr"/>
            <a:r>
              <a:rPr lang="en-US" sz="5400" b="1" dirty="0">
                <a:solidFill>
                  <a:schemeClr val="accent6"/>
                </a:solidFill>
                <a:latin typeface="Bahnschrift" panose="020B0502040204020203" pitchFamily="34" charset="0"/>
              </a:rPr>
              <a:t>methodology</a:t>
            </a:r>
            <a:endParaRPr lang="en-IN" sz="5400" b="1" dirty="0">
              <a:solidFill>
                <a:schemeClr val="accent6"/>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1668EFDF-918B-2C76-7E97-F2BA9E4A5213}"/>
              </a:ext>
            </a:extLst>
          </p:cNvPr>
          <p:cNvSpPr>
            <a:spLocks noGrp="1"/>
          </p:cNvSpPr>
          <p:nvPr>
            <p:ph type="sldNum" sz="quarter" idx="4294967295"/>
          </p:nvPr>
        </p:nvSpPr>
        <p:spPr>
          <a:xfrm>
            <a:off x="10518775" y="301625"/>
            <a:ext cx="1673225" cy="274638"/>
          </a:xfrm>
        </p:spPr>
        <p:txBody>
          <a:bodyPr/>
          <a:lstStyle/>
          <a:p>
            <a:fld id="{5BFCF61C-3B18-4C03-8326-CC3B32D710C9}" type="slidenum">
              <a:rPr lang="en-US" noProof="0" smtClean="0"/>
              <a:pPr/>
              <a:t>12</a:t>
            </a:fld>
            <a:endParaRPr lang="en-US" noProof="0"/>
          </a:p>
        </p:txBody>
      </p:sp>
      <p:sp>
        <p:nvSpPr>
          <p:cNvPr id="22" name="TextBox 21">
            <a:extLst>
              <a:ext uri="{FF2B5EF4-FFF2-40B4-BE49-F238E27FC236}">
                <a16:creationId xmlns:a16="http://schemas.microsoft.com/office/drawing/2014/main" id="{BE07AF58-75BA-7701-56A5-700048C73E9F}"/>
              </a:ext>
            </a:extLst>
          </p:cNvPr>
          <p:cNvSpPr txBox="1"/>
          <p:nvPr/>
        </p:nvSpPr>
        <p:spPr>
          <a:xfrm>
            <a:off x="722194" y="1074509"/>
            <a:ext cx="9485278" cy="4708981"/>
          </a:xfrm>
          <a:prstGeom prst="rect">
            <a:avLst/>
          </a:prstGeom>
          <a:noFill/>
        </p:spPr>
        <p:txBody>
          <a:bodyPr wrap="square">
            <a:spAutoFit/>
          </a:bodyPr>
          <a:lstStyle/>
          <a:p>
            <a:r>
              <a:rPr lang="en-IN" sz="2000" b="1" u="sng" dirty="0">
                <a:solidFill>
                  <a:schemeClr val="bg1"/>
                </a:solidFill>
                <a:latin typeface="Calibri" panose="020F0502020204030204" pitchFamily="34" charset="0"/>
                <a:cs typeface="Calibri" panose="020F0502020204030204" pitchFamily="34" charset="0"/>
              </a:rPr>
              <a:t>Step-1</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Data Collection</a:t>
            </a:r>
            <a:r>
              <a:rPr lang="en-IN" sz="2000" b="1" dirty="0">
                <a:solidFill>
                  <a:schemeClr val="bg1"/>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Gather real and deepfake datasets (e.g., FaceForensics++, Celeb-DF, Deepfake Detection Challenge dataset).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Ensure diversity: multiple formats, resolutions, and subjects.</a:t>
            </a:r>
          </a:p>
          <a:p>
            <a:endParaRPr lang="en-IN" sz="2000" b="1" dirty="0">
              <a:solidFill>
                <a:schemeClr val="bg1"/>
              </a:solidFill>
              <a:latin typeface="Calibri" panose="020F0502020204030204" pitchFamily="34" charset="0"/>
              <a:cs typeface="Calibri" panose="020F0502020204030204" pitchFamily="34" charset="0"/>
            </a:endParaRPr>
          </a:p>
          <a:p>
            <a:r>
              <a:rPr lang="en-IN" sz="2000" b="1" u="sng" dirty="0">
                <a:solidFill>
                  <a:schemeClr val="bg1"/>
                </a:solidFill>
                <a:latin typeface="Calibri" panose="020F0502020204030204" pitchFamily="34" charset="0"/>
                <a:cs typeface="Calibri" panose="020F0502020204030204" pitchFamily="34" charset="0"/>
              </a:rPr>
              <a:t>Step-2</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Data Pre-processing</a:t>
            </a:r>
            <a:r>
              <a:rPr lang="en-IN" sz="2000" dirty="0">
                <a:solidFill>
                  <a:schemeClr val="bg1"/>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Frame extraction from videos.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Image resizing, noise reduction, and normalization.</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Face detection and alignment (using OpenCV, Dlib, etc.).</a:t>
            </a:r>
          </a:p>
          <a:p>
            <a:endParaRPr lang="en-IN" sz="2000" dirty="0">
              <a:solidFill>
                <a:schemeClr val="bg1"/>
              </a:solidFill>
              <a:latin typeface="Calibri" panose="020F0502020204030204" pitchFamily="34" charset="0"/>
              <a:cs typeface="Calibri" panose="020F0502020204030204" pitchFamily="34" charset="0"/>
            </a:endParaRPr>
          </a:p>
          <a:p>
            <a:r>
              <a:rPr lang="en-IN" sz="2000" b="1" u="sng" dirty="0">
                <a:solidFill>
                  <a:schemeClr val="bg1"/>
                </a:solidFill>
                <a:latin typeface="Calibri" panose="020F0502020204030204" pitchFamily="34" charset="0"/>
                <a:cs typeface="Calibri" panose="020F0502020204030204" pitchFamily="34" charset="0"/>
              </a:rPr>
              <a:t>Step-3</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Feature Extraction (Statistical + Visual)</a:t>
            </a:r>
            <a:r>
              <a:rPr lang="en-IN" sz="2000" b="1" dirty="0">
                <a:solidFill>
                  <a:schemeClr val="bg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Pixel-level statistics: mean, variance, skewness, kurtosis.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Frequency-domain analysis: DCT, FFT, wavelet transforms.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Noise patterns &amp; inconsistencies: color distribution, compression artifacts.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Texture features: Local Binary Patterns (LBP), GLCM.</a:t>
            </a:r>
          </a:p>
        </p:txBody>
      </p:sp>
    </p:spTree>
    <p:extLst>
      <p:ext uri="{BB962C8B-B14F-4D97-AF65-F5344CB8AC3E}">
        <p14:creationId xmlns:p14="http://schemas.microsoft.com/office/powerpoint/2010/main" val="37060485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4FB967-B337-42E4-9C66-DD8BD84C05FA}"/>
              </a:ext>
            </a:extLst>
          </p:cNvPr>
          <p:cNvSpPr txBox="1"/>
          <p:nvPr/>
        </p:nvSpPr>
        <p:spPr>
          <a:xfrm>
            <a:off x="328149" y="151179"/>
            <a:ext cx="9627013" cy="6555641"/>
          </a:xfrm>
          <a:prstGeom prst="rect">
            <a:avLst/>
          </a:prstGeom>
          <a:noFill/>
        </p:spPr>
        <p:txBody>
          <a:bodyPr wrap="square">
            <a:spAutoFit/>
          </a:bodyPr>
          <a:lstStyle/>
          <a:p>
            <a:r>
              <a:rPr lang="en-IN" sz="2000" b="1" u="sng" dirty="0">
                <a:solidFill>
                  <a:schemeClr val="bg1"/>
                </a:solidFill>
                <a:latin typeface="Calibri" panose="020F0502020204030204" pitchFamily="34" charset="0"/>
                <a:cs typeface="Calibri" panose="020F0502020204030204" pitchFamily="34" charset="0"/>
              </a:rPr>
              <a:t>Step-4</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Machine Learning / Deep Learning Model</a:t>
            </a:r>
            <a:r>
              <a:rPr lang="en-IN" sz="2000" b="1" dirty="0">
                <a:solidFill>
                  <a:schemeClr val="bg1"/>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Classical ML models: Logistic Regression, SVM, Random Forest.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Deep Learning models: CNN-based classifiers.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Model trained on extracted features.</a:t>
            </a:r>
          </a:p>
          <a:p>
            <a:endParaRPr lang="en-IN" sz="2000" dirty="0">
              <a:solidFill>
                <a:schemeClr val="bg1"/>
              </a:solidFill>
              <a:latin typeface="Calibri" panose="020F0502020204030204" pitchFamily="34" charset="0"/>
              <a:cs typeface="Calibri" panose="020F0502020204030204" pitchFamily="34" charset="0"/>
            </a:endParaRPr>
          </a:p>
          <a:p>
            <a:r>
              <a:rPr lang="en-IN" sz="2000" b="1" u="sng" dirty="0">
                <a:solidFill>
                  <a:schemeClr val="bg1"/>
                </a:solidFill>
                <a:latin typeface="Calibri" panose="020F0502020204030204" pitchFamily="34" charset="0"/>
                <a:cs typeface="Calibri" panose="020F0502020204030204" pitchFamily="34" charset="0"/>
              </a:rPr>
              <a:t>Step-5</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Model Training &amp; Validation</a:t>
            </a:r>
            <a:r>
              <a:rPr lang="en-IN" sz="2000" b="1" dirty="0">
                <a:solidFill>
                  <a:schemeClr val="bg1"/>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Split data into training, testing, and validation sets.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Use k-fold cross-validation for robustness.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Optimize hyperparameters for best accuracy.</a:t>
            </a:r>
          </a:p>
          <a:p>
            <a:endParaRPr lang="en-IN" sz="2000" dirty="0">
              <a:solidFill>
                <a:schemeClr val="bg1"/>
              </a:solidFill>
              <a:latin typeface="Calibri" panose="020F0502020204030204" pitchFamily="34" charset="0"/>
              <a:cs typeface="Calibri" panose="020F0502020204030204" pitchFamily="34" charset="0"/>
            </a:endParaRPr>
          </a:p>
          <a:p>
            <a:r>
              <a:rPr lang="en-IN" sz="2000" b="1" u="sng" dirty="0">
                <a:solidFill>
                  <a:schemeClr val="bg1"/>
                </a:solidFill>
                <a:latin typeface="Calibri" panose="020F0502020204030204" pitchFamily="34" charset="0"/>
                <a:cs typeface="Calibri" panose="020F0502020204030204" pitchFamily="34" charset="0"/>
              </a:rPr>
              <a:t>Step-6</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Performance Evaluation</a:t>
            </a:r>
            <a:r>
              <a:rPr lang="en-IN" sz="2000" b="1" dirty="0">
                <a:solidFill>
                  <a:schemeClr val="bg1"/>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Metrics: Accuracy, Precision, Recall, F1-score, AUC.</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Confusion matrix to analyze classification errors.</a:t>
            </a:r>
          </a:p>
          <a:p>
            <a:endParaRPr lang="en-IN" sz="2000" dirty="0">
              <a:solidFill>
                <a:schemeClr val="bg1"/>
              </a:solidFill>
              <a:latin typeface="Calibri" panose="020F0502020204030204" pitchFamily="34" charset="0"/>
              <a:cs typeface="Calibri" panose="020F0502020204030204" pitchFamily="34" charset="0"/>
            </a:endParaRPr>
          </a:p>
          <a:p>
            <a:r>
              <a:rPr lang="en-IN" sz="2000" b="1" u="sng" dirty="0">
                <a:solidFill>
                  <a:schemeClr val="bg1"/>
                </a:solidFill>
                <a:latin typeface="Calibri" panose="020F0502020204030204" pitchFamily="34" charset="0"/>
                <a:cs typeface="Calibri" panose="020F0502020204030204" pitchFamily="34" charset="0"/>
              </a:rPr>
              <a:t>Step-7</a:t>
            </a:r>
            <a:r>
              <a:rPr lang="en-IN" sz="2000" b="1" dirty="0">
                <a:solidFill>
                  <a:schemeClr val="bg1"/>
                </a:solidFill>
                <a:latin typeface="Calibri" panose="020F0502020204030204" pitchFamily="34" charset="0"/>
                <a:cs typeface="Calibri" panose="020F0502020204030204" pitchFamily="34" charset="0"/>
              </a:rPr>
              <a:t>: </a:t>
            </a:r>
            <a:r>
              <a:rPr lang="en-IN" sz="2000" b="1" u="sng" dirty="0">
                <a:solidFill>
                  <a:schemeClr val="bg1"/>
                </a:solidFill>
                <a:latin typeface="Calibri" panose="020F0502020204030204" pitchFamily="34" charset="0"/>
                <a:cs typeface="Calibri" panose="020F0502020204030204" pitchFamily="34" charset="0"/>
              </a:rPr>
              <a:t>Result &amp; Interpretation</a:t>
            </a:r>
            <a:r>
              <a:rPr lang="en-IN" sz="2000" b="1" dirty="0">
                <a:solidFill>
                  <a:schemeClr val="bg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Comparison of statistical methods vs deep learning methods.</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Identify strengths/limitations of each approach.</a:t>
            </a:r>
          </a:p>
          <a:p>
            <a:endParaRPr lang="en-IN" sz="2000" dirty="0">
              <a:solidFill>
                <a:schemeClr val="bg1"/>
              </a:solidFill>
              <a:latin typeface="Calibri" panose="020F0502020204030204" pitchFamily="34" charset="0"/>
              <a:cs typeface="Calibri" panose="020F0502020204030204" pitchFamily="34" charset="0"/>
            </a:endParaRPr>
          </a:p>
          <a:p>
            <a:r>
              <a:rPr lang="en-IN" sz="2000" b="1" u="sng" dirty="0">
                <a:solidFill>
                  <a:schemeClr val="bg1"/>
                </a:solidFill>
                <a:latin typeface="Calibri" panose="020F0502020204030204" pitchFamily="34" charset="0"/>
                <a:cs typeface="Calibri" panose="020F0502020204030204" pitchFamily="34" charset="0"/>
              </a:rPr>
              <a:t>Step-8</a:t>
            </a:r>
            <a:r>
              <a:rPr lang="en-IN" sz="2000" b="1" dirty="0">
                <a:solidFill>
                  <a:schemeClr val="bg1"/>
                </a:solidFill>
                <a:latin typeface="Calibri" panose="020F0502020204030204" pitchFamily="34" charset="0"/>
                <a:cs typeface="Calibri" panose="020F0502020204030204" pitchFamily="34" charset="0"/>
              </a:rPr>
              <a:t>: Conclusion &amp; Future Work:-</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Highlight effectiveness of combining statistics + ML.</a:t>
            </a:r>
          </a:p>
          <a:p>
            <a:pPr marL="285750" indent="-285750">
              <a:buFont typeface="Arial" panose="020B0604020202020204" pitchFamily="34" charset="0"/>
              <a:buChar char="•"/>
            </a:pPr>
            <a:r>
              <a:rPr lang="en-IN" sz="2000" dirty="0">
                <a:solidFill>
                  <a:schemeClr val="bg1"/>
                </a:solidFill>
                <a:latin typeface="Calibri" panose="020F0502020204030204" pitchFamily="34" charset="0"/>
                <a:cs typeface="Calibri" panose="020F0502020204030204" pitchFamily="34" charset="0"/>
              </a:rPr>
              <a:t>Suggest improvements (real-time detection, lightweight models, adversarial training).</a:t>
            </a:r>
          </a:p>
        </p:txBody>
      </p:sp>
    </p:spTree>
    <p:extLst>
      <p:ext uri="{BB962C8B-B14F-4D97-AF65-F5344CB8AC3E}">
        <p14:creationId xmlns:p14="http://schemas.microsoft.com/office/powerpoint/2010/main" val="40213901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85805-79DB-07ED-6BDE-11B8962D463A}"/>
              </a:ext>
            </a:extLst>
          </p:cNvPr>
          <p:cNvSpPr>
            <a:spLocks noGrp="1"/>
          </p:cNvSpPr>
          <p:nvPr>
            <p:ph type="title"/>
          </p:nvPr>
        </p:nvSpPr>
        <p:spPr/>
        <p:txBody>
          <a:bodyPr/>
          <a:lstStyle/>
          <a:p>
            <a:pPr algn="ctr"/>
            <a:r>
              <a:rPr lang="en-US" sz="5400" b="1" dirty="0">
                <a:solidFill>
                  <a:schemeClr val="tx2"/>
                </a:solidFill>
                <a:latin typeface="Bahnschrift" panose="020B0502040204020203" pitchFamily="34" charset="0"/>
                <a:cs typeface="Arial" panose="020B0604020202020204" pitchFamily="34" charset="0"/>
              </a:rPr>
              <a:t>dataset</a:t>
            </a:r>
            <a:br>
              <a:rPr lang="en-US" sz="5000" dirty="0">
                <a:solidFill>
                  <a:schemeClr val="tx2"/>
                </a:solidFill>
                <a:latin typeface="Arial" panose="020B0604020202020204" pitchFamily="34" charset="0"/>
                <a:cs typeface="Arial" panose="020B0604020202020204" pitchFamily="34" charset="0"/>
              </a:rPr>
            </a:br>
            <a:endParaRPr lang="en-US" dirty="0"/>
          </a:p>
        </p:txBody>
      </p:sp>
      <p:sp>
        <p:nvSpPr>
          <p:cNvPr id="3" name="Slide Number Placeholder 2">
            <a:extLst>
              <a:ext uri="{FF2B5EF4-FFF2-40B4-BE49-F238E27FC236}">
                <a16:creationId xmlns:a16="http://schemas.microsoft.com/office/drawing/2014/main" id="{583E68DE-3756-7E72-3F5A-34338BB312B3}"/>
              </a:ext>
            </a:extLst>
          </p:cNvPr>
          <p:cNvSpPr>
            <a:spLocks noGrp="1"/>
          </p:cNvSpPr>
          <p:nvPr>
            <p:ph type="sldNum" sz="quarter" idx="12"/>
          </p:nvPr>
        </p:nvSpPr>
        <p:spPr/>
        <p:txBody>
          <a:bodyPr/>
          <a:lstStyle/>
          <a:p>
            <a:fld id="{5BFCF61C-3B18-4C03-8326-CC3B32D710C9}" type="slidenum">
              <a:rPr lang="en-US" smtClean="0"/>
              <a:t>14</a:t>
            </a:fld>
            <a:endParaRPr lang="en-US" dirty="0"/>
          </a:p>
        </p:txBody>
      </p:sp>
      <p:sp>
        <p:nvSpPr>
          <p:cNvPr id="24" name="TextBox 23">
            <a:extLst>
              <a:ext uri="{FF2B5EF4-FFF2-40B4-BE49-F238E27FC236}">
                <a16:creationId xmlns:a16="http://schemas.microsoft.com/office/drawing/2014/main" id="{6DAC4ADB-7633-B842-54D4-044593F1165E}"/>
              </a:ext>
            </a:extLst>
          </p:cNvPr>
          <p:cNvSpPr txBox="1"/>
          <p:nvPr/>
        </p:nvSpPr>
        <p:spPr>
          <a:xfrm>
            <a:off x="763228" y="2687793"/>
            <a:ext cx="10711983" cy="3737946"/>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Collected dataset includes real and deepfake images/videos.</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Real media: original, unaltered images/videos of multiple subjects.</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Deepfake media: generated using GANs, face-swapping, lip-sync, expression manipulation.</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Balanced dataset for training (equal number of real &amp; fake samples).</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Used publicly available datasets:</a:t>
            </a:r>
          </a:p>
          <a:p>
            <a:pPr marL="800100" lvl="1" indent="-342900">
              <a:lnSpc>
                <a:spcPct val="150000"/>
              </a:lnSpc>
              <a:buFont typeface="Courier New" panose="02070309020205020404" pitchFamily="49" charset="0"/>
              <a:buChar char="o"/>
            </a:pPr>
            <a:r>
              <a:rPr lang="en-IN" sz="2000" dirty="0">
                <a:latin typeface="Calibri" panose="020F0502020204030204" pitchFamily="34" charset="0"/>
                <a:cs typeface="Calibri" panose="020F0502020204030204" pitchFamily="34" charset="0"/>
              </a:rPr>
              <a:t>FaceForensics++</a:t>
            </a:r>
          </a:p>
          <a:p>
            <a:pPr marL="800100" lvl="1" indent="-342900">
              <a:lnSpc>
                <a:spcPct val="150000"/>
              </a:lnSpc>
              <a:buFont typeface="Courier New" panose="02070309020205020404" pitchFamily="49" charset="0"/>
              <a:buChar char="o"/>
            </a:pPr>
            <a:r>
              <a:rPr lang="en-IN" sz="2000" dirty="0">
                <a:latin typeface="Calibri" panose="020F0502020204030204" pitchFamily="34" charset="0"/>
                <a:cs typeface="Calibri" panose="020F0502020204030204" pitchFamily="34" charset="0"/>
              </a:rPr>
              <a:t>Celeb-DF (v2)</a:t>
            </a:r>
          </a:p>
          <a:p>
            <a:pPr marL="800100" lvl="1" indent="-342900">
              <a:lnSpc>
                <a:spcPct val="150000"/>
              </a:lnSpc>
              <a:buFont typeface="Courier New" panose="02070309020205020404" pitchFamily="49" charset="0"/>
              <a:buChar char="o"/>
            </a:pPr>
            <a:r>
              <a:rPr lang="en-IN" sz="2000" dirty="0">
                <a:latin typeface="Calibri" panose="020F0502020204030204" pitchFamily="34" charset="0"/>
                <a:cs typeface="Calibri" panose="020F0502020204030204" pitchFamily="34" charset="0"/>
              </a:rPr>
              <a:t>Deepfake Detection Challenge (DFDC)</a:t>
            </a:r>
          </a:p>
        </p:txBody>
      </p:sp>
    </p:spTree>
    <p:extLst>
      <p:ext uri="{BB962C8B-B14F-4D97-AF65-F5344CB8AC3E}">
        <p14:creationId xmlns:p14="http://schemas.microsoft.com/office/powerpoint/2010/main" val="4766149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randombar(horizontal)">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A783BE29-9226-E728-BAD0-B02DEADFB9C6}"/>
              </a:ext>
            </a:extLst>
          </p:cNvPr>
          <p:cNvSpPr>
            <a:spLocks noGrp="1"/>
          </p:cNvSpPr>
          <p:nvPr>
            <p:ph type="sldNum" sz="quarter" idx="4294967295"/>
          </p:nvPr>
        </p:nvSpPr>
        <p:spPr>
          <a:xfrm>
            <a:off x="10518775" y="301625"/>
            <a:ext cx="1673225" cy="274638"/>
          </a:xfrm>
        </p:spPr>
        <p:txBody>
          <a:bodyPr/>
          <a:lstStyle/>
          <a:p>
            <a:fld id="{5BFCF61C-3B18-4C03-8326-CC3B32D710C9}" type="slidenum">
              <a:rPr lang="en-US" smtClean="0"/>
              <a:pPr/>
              <a:t>15</a:t>
            </a:fld>
            <a:endParaRPr lang="en-US"/>
          </a:p>
        </p:txBody>
      </p:sp>
      <p:sp>
        <p:nvSpPr>
          <p:cNvPr id="15" name="Rectangle 1">
            <a:extLst>
              <a:ext uri="{FF2B5EF4-FFF2-40B4-BE49-F238E27FC236}">
                <a16:creationId xmlns:a16="http://schemas.microsoft.com/office/drawing/2014/main" id="{F3F206C0-B1BB-A677-5FAE-1C74E676B41D}"/>
              </a:ext>
            </a:extLst>
          </p:cNvPr>
          <p:cNvSpPr>
            <a:spLocks noChangeArrowheads="1"/>
          </p:cNvSpPr>
          <p:nvPr/>
        </p:nvSpPr>
        <p:spPr bwMode="auto">
          <a:xfrm>
            <a:off x="522696" y="774210"/>
            <a:ext cx="10832691" cy="5575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Noise-Based:</a:t>
            </a:r>
            <a:r>
              <a:rPr kumimoji="0" lang="en-US" altLang="en-US" sz="2400" b="0"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 PRNU (sensor noise), compression artifacts (JPEG blocks, blur), RGB color inconsistencies.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Frequency-Domain:</a:t>
            </a:r>
            <a:r>
              <a:rPr kumimoji="0" lang="en-US" altLang="en-US" sz="2400" b="0"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 FFT (frequency artifacts), DCT (compression traces), Wavelet (multi-resolution textures).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Texture &amp; Structural:</a:t>
            </a:r>
            <a:r>
              <a:rPr kumimoji="0" lang="en-US" altLang="en-US" sz="2400" b="0"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 GLCM (contrast, correlation), LBP (local texture), edge/boundary sharpness.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Temporal (Videos):</a:t>
            </a:r>
            <a:r>
              <a:rPr kumimoji="0" lang="en-US" altLang="en-US" sz="2400" b="0"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 Frame inconsistencies, eye blinking rate, lip-sync mismatch, abnormal head movement.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Pixel-Level:</a:t>
            </a:r>
            <a:r>
              <a:rPr kumimoji="0" lang="en-US" altLang="en-US" sz="2400" b="0" i="0" u="none" strike="noStrike" cap="none" normalizeH="0" baseline="0" dirty="0">
                <a:ln>
                  <a:noFill/>
                </a:ln>
                <a:solidFill>
                  <a:schemeClr val="accent4">
                    <a:lumMod val="20000"/>
                    <a:lumOff val="80000"/>
                  </a:schemeClr>
                </a:solidFill>
                <a:effectLst/>
                <a:latin typeface="Calibri" panose="020F0502020204030204" pitchFamily="34" charset="0"/>
                <a:cs typeface="Calibri" panose="020F0502020204030204" pitchFamily="34" charset="0"/>
              </a:rPr>
              <a:t> Mean, Variance (brightness/contrast), Skewness &amp; Kurtosis (pixel intensity distribution).</a:t>
            </a:r>
          </a:p>
        </p:txBody>
      </p:sp>
      <p:sp>
        <p:nvSpPr>
          <p:cNvPr id="16" name="TextBox 15">
            <a:extLst>
              <a:ext uri="{FF2B5EF4-FFF2-40B4-BE49-F238E27FC236}">
                <a16:creationId xmlns:a16="http://schemas.microsoft.com/office/drawing/2014/main" id="{F65DCA9C-38AC-386F-F05A-F09364DD639F}"/>
              </a:ext>
            </a:extLst>
          </p:cNvPr>
          <p:cNvSpPr txBox="1"/>
          <p:nvPr/>
        </p:nvSpPr>
        <p:spPr>
          <a:xfrm>
            <a:off x="2290916" y="23445"/>
            <a:ext cx="7610168" cy="830997"/>
          </a:xfrm>
          <a:prstGeom prst="rect">
            <a:avLst/>
          </a:prstGeom>
          <a:noFill/>
        </p:spPr>
        <p:txBody>
          <a:bodyPr wrap="square" rtlCol="0">
            <a:spAutoFit/>
          </a:bodyPr>
          <a:lstStyle/>
          <a:p>
            <a:pPr algn="ctr"/>
            <a:r>
              <a:rPr lang="en-US" sz="4800" b="1" dirty="0">
                <a:solidFill>
                  <a:schemeClr val="accent1">
                    <a:lumMod val="20000"/>
                    <a:lumOff val="80000"/>
                  </a:schemeClr>
                </a:solidFill>
                <a:latin typeface="Bahnschrift" panose="020B0502040204020203" pitchFamily="34" charset="0"/>
              </a:rPr>
              <a:t>Key Statistical Features </a:t>
            </a:r>
            <a:endParaRPr lang="en-IN" sz="4800" b="1" dirty="0">
              <a:solidFill>
                <a:schemeClr val="accent1">
                  <a:lumMod val="20000"/>
                  <a:lumOff val="80000"/>
                </a:schemeClr>
              </a:solidFill>
              <a:latin typeface="Bahnschrift" panose="020B0502040204020203" pitchFamily="34" charset="0"/>
            </a:endParaRPr>
          </a:p>
        </p:txBody>
      </p:sp>
    </p:spTree>
    <p:extLst>
      <p:ext uri="{BB962C8B-B14F-4D97-AF65-F5344CB8AC3E}">
        <p14:creationId xmlns:p14="http://schemas.microsoft.com/office/powerpoint/2010/main" val="32746471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E563-D2B2-A0AD-3574-E8C8FDCE3DAC}"/>
              </a:ext>
            </a:extLst>
          </p:cNvPr>
          <p:cNvSpPr>
            <a:spLocks noGrp="1"/>
          </p:cNvSpPr>
          <p:nvPr>
            <p:ph type="title"/>
          </p:nvPr>
        </p:nvSpPr>
        <p:spPr>
          <a:xfrm>
            <a:off x="8180438" y="1533833"/>
            <a:ext cx="4011562" cy="2622790"/>
          </a:xfrm>
        </p:spPr>
        <p:txBody>
          <a:bodyPr/>
          <a:lstStyle/>
          <a:p>
            <a:r>
              <a:rPr lang="en-US" sz="3600" b="1" dirty="0">
                <a:latin typeface="Bahnschrift" panose="020B0502040204020203" pitchFamily="34" charset="0"/>
              </a:rPr>
              <a:t>Machine Learning &amp; Deep Learning Models</a:t>
            </a:r>
          </a:p>
        </p:txBody>
      </p:sp>
      <p:sp>
        <p:nvSpPr>
          <p:cNvPr id="14" name="Slide Number Placeholder 13">
            <a:extLst>
              <a:ext uri="{FF2B5EF4-FFF2-40B4-BE49-F238E27FC236}">
                <a16:creationId xmlns:a16="http://schemas.microsoft.com/office/drawing/2014/main" id="{CB66A1BD-2500-AB18-9DCA-0585F33C2410}"/>
              </a:ext>
            </a:extLst>
          </p:cNvPr>
          <p:cNvSpPr>
            <a:spLocks noGrp="1"/>
          </p:cNvSpPr>
          <p:nvPr>
            <p:ph type="sldNum" sz="quarter" idx="12"/>
          </p:nvPr>
        </p:nvSpPr>
        <p:spPr/>
        <p:txBody>
          <a:bodyPr/>
          <a:lstStyle/>
          <a:p>
            <a:fld id="{5BFCF61C-3B18-4C03-8326-CC3B32D710C9}" type="slidenum">
              <a:rPr lang="en-US" smtClean="0"/>
              <a:pPr/>
              <a:t>16</a:t>
            </a:fld>
            <a:endParaRPr lang="en-US"/>
          </a:p>
        </p:txBody>
      </p:sp>
      <p:sp>
        <p:nvSpPr>
          <p:cNvPr id="19" name="TextBox 18">
            <a:extLst>
              <a:ext uri="{FF2B5EF4-FFF2-40B4-BE49-F238E27FC236}">
                <a16:creationId xmlns:a16="http://schemas.microsoft.com/office/drawing/2014/main" id="{8122A960-ACEE-84F6-0346-E971340539B7}"/>
              </a:ext>
            </a:extLst>
          </p:cNvPr>
          <p:cNvSpPr txBox="1"/>
          <p:nvPr/>
        </p:nvSpPr>
        <p:spPr>
          <a:xfrm>
            <a:off x="244825" y="162233"/>
            <a:ext cx="7444983" cy="6129050"/>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IN" sz="2400" b="1" dirty="0">
                <a:latin typeface="Calibri" panose="020F0502020204030204" pitchFamily="34" charset="0"/>
                <a:cs typeface="Calibri" panose="020F0502020204030204" pitchFamily="34" charset="0"/>
              </a:rPr>
              <a:t>Machine Learning (ML):</a:t>
            </a:r>
          </a:p>
          <a:p>
            <a:pPr marL="742950" lvl="1" indent="-285750">
              <a:lnSpc>
                <a:spcPct val="150000"/>
              </a:lnSpc>
              <a:buFont typeface="Arial" panose="020B0604020202020204" pitchFamily="34" charset="0"/>
              <a:buChar char="•"/>
            </a:pPr>
            <a:r>
              <a:rPr lang="en-IN" sz="2400" b="1" dirty="0">
                <a:latin typeface="Calibri" panose="020F0502020204030204" pitchFamily="34" charset="0"/>
                <a:cs typeface="Calibri" panose="020F0502020204030204" pitchFamily="34" charset="0"/>
              </a:rPr>
              <a:t>Logistic Regression </a:t>
            </a:r>
            <a:r>
              <a:rPr lang="en-IN" sz="2400" dirty="0">
                <a:latin typeface="Calibri" panose="020F0502020204030204" pitchFamily="34" charset="0"/>
                <a:cs typeface="Calibri" panose="020F0502020204030204" pitchFamily="34" charset="0"/>
              </a:rPr>
              <a:t>→ simple binary classification.</a:t>
            </a:r>
          </a:p>
          <a:p>
            <a:pPr marL="742950" lvl="1" indent="-285750">
              <a:lnSpc>
                <a:spcPct val="150000"/>
              </a:lnSpc>
              <a:buFont typeface="Arial" panose="020B0604020202020204" pitchFamily="34" charset="0"/>
              <a:buChar char="•"/>
            </a:pPr>
            <a:r>
              <a:rPr lang="en-IN" sz="2400" b="1" dirty="0">
                <a:latin typeface="Calibri" panose="020F0502020204030204" pitchFamily="34" charset="0"/>
                <a:cs typeface="Calibri" panose="020F0502020204030204" pitchFamily="34" charset="0"/>
              </a:rPr>
              <a:t>SVM</a:t>
            </a:r>
            <a:r>
              <a:rPr lang="en-IN" sz="2400" dirty="0">
                <a:latin typeface="Calibri" panose="020F0502020204030204" pitchFamily="34" charset="0"/>
                <a:cs typeface="Calibri" panose="020F0502020204030204" pitchFamily="34" charset="0"/>
              </a:rPr>
              <a:t> → separates real vs fake with optimal boundary.</a:t>
            </a:r>
          </a:p>
          <a:p>
            <a:pPr marL="742950" lvl="1" indent="-285750">
              <a:lnSpc>
                <a:spcPct val="150000"/>
              </a:lnSpc>
              <a:buFont typeface="Arial" panose="020B0604020202020204" pitchFamily="34" charset="0"/>
              <a:buChar char="•"/>
            </a:pPr>
            <a:r>
              <a:rPr lang="en-IN" sz="2400" b="1" dirty="0">
                <a:latin typeface="Calibri" panose="020F0502020204030204" pitchFamily="34" charset="0"/>
                <a:cs typeface="Calibri" panose="020F0502020204030204" pitchFamily="34" charset="0"/>
              </a:rPr>
              <a:t>Random Forest </a:t>
            </a:r>
            <a:r>
              <a:rPr lang="en-IN" sz="2400" dirty="0">
                <a:latin typeface="Calibri" panose="020F0502020204030204" pitchFamily="34" charset="0"/>
                <a:cs typeface="Calibri" panose="020F0502020204030204" pitchFamily="34" charset="0"/>
              </a:rPr>
              <a:t>→ ensemble, handles noisy features.</a:t>
            </a:r>
          </a:p>
          <a:p>
            <a:pPr marL="285750" indent="-285750">
              <a:lnSpc>
                <a:spcPct val="150000"/>
              </a:lnSpc>
              <a:buFont typeface="Wingdings" panose="05000000000000000000" pitchFamily="2" charset="2"/>
              <a:buChar char="v"/>
            </a:pPr>
            <a:r>
              <a:rPr lang="en-IN" sz="2400" b="1" dirty="0">
                <a:latin typeface="Calibri" panose="020F0502020204030204" pitchFamily="34" charset="0"/>
                <a:cs typeface="Calibri" panose="020F0502020204030204" pitchFamily="34" charset="0"/>
              </a:rPr>
              <a:t>Deep Learning (DL):</a:t>
            </a:r>
          </a:p>
          <a:p>
            <a:pPr marL="742950" lvl="1" indent="-285750">
              <a:lnSpc>
                <a:spcPct val="150000"/>
              </a:lnSpc>
              <a:buFont typeface="Arial" panose="020B0604020202020204" pitchFamily="34" charset="0"/>
              <a:buChar char="•"/>
            </a:pPr>
            <a:r>
              <a:rPr lang="en-IN" sz="2400" b="1" dirty="0">
                <a:latin typeface="Calibri" panose="020F0502020204030204" pitchFamily="34" charset="0"/>
                <a:cs typeface="Calibri" panose="020F0502020204030204" pitchFamily="34" charset="0"/>
              </a:rPr>
              <a:t>CNN</a:t>
            </a:r>
            <a:r>
              <a:rPr lang="en-IN" sz="2400" dirty="0">
                <a:latin typeface="Calibri" panose="020F0502020204030204" pitchFamily="34" charset="0"/>
                <a:cs typeface="Calibri" panose="020F0502020204030204" pitchFamily="34" charset="0"/>
              </a:rPr>
              <a:t> → extracts features automatically from images.</a:t>
            </a:r>
          </a:p>
          <a:p>
            <a:pPr marL="742950" lvl="1" indent="-285750">
              <a:lnSpc>
                <a:spcPct val="150000"/>
              </a:lnSpc>
              <a:buFont typeface="Arial" panose="020B0604020202020204" pitchFamily="34" charset="0"/>
              <a:buChar char="•"/>
            </a:pPr>
            <a:r>
              <a:rPr lang="en-IN" sz="2400" b="1" dirty="0">
                <a:latin typeface="Calibri" panose="020F0502020204030204" pitchFamily="34" charset="0"/>
                <a:cs typeface="Calibri" panose="020F0502020204030204" pitchFamily="34" charset="0"/>
              </a:rPr>
              <a:t>RNN / LSTM </a:t>
            </a:r>
            <a:r>
              <a:rPr lang="en-IN" sz="2400" dirty="0">
                <a:latin typeface="Calibri" panose="020F0502020204030204" pitchFamily="34" charset="0"/>
                <a:cs typeface="Calibri" panose="020F0502020204030204" pitchFamily="34" charset="0"/>
              </a:rPr>
              <a:t>→ analyzes temporal info in videos.</a:t>
            </a:r>
          </a:p>
          <a:p>
            <a:pPr marL="742950" lvl="1" indent="-285750">
              <a:lnSpc>
                <a:spcPct val="150000"/>
              </a:lnSpc>
              <a:buFont typeface="Arial" panose="020B0604020202020204" pitchFamily="34" charset="0"/>
              <a:buChar char="•"/>
            </a:pPr>
            <a:r>
              <a:rPr lang="en-IN" sz="2400" b="1" dirty="0">
                <a:latin typeface="Calibri" panose="020F0502020204030204" pitchFamily="34" charset="0"/>
                <a:cs typeface="Calibri" panose="020F0502020204030204" pitchFamily="34" charset="0"/>
              </a:rPr>
              <a:t>CNN + LSTM </a:t>
            </a:r>
            <a:r>
              <a:rPr lang="en-IN" sz="2400" dirty="0">
                <a:latin typeface="Calibri" panose="020F0502020204030204" pitchFamily="34" charset="0"/>
                <a:cs typeface="Calibri" panose="020F0502020204030204" pitchFamily="34" charset="0"/>
              </a:rPr>
              <a:t>→ combines spatial &amp; temporal features</a:t>
            </a:r>
            <a:r>
              <a:rPr lang="en-IN" sz="20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7384849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heel(1)">
                                      <p:cBhvr>
                                        <p:cTn id="12"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F3E1717-F041-660D-E253-B283DAF6BFA9}"/>
              </a:ext>
            </a:extLst>
          </p:cNvPr>
          <p:cNvSpPr>
            <a:spLocks noGrp="1"/>
          </p:cNvSpPr>
          <p:nvPr>
            <p:ph type="sldNum" sz="quarter" idx="12"/>
          </p:nvPr>
        </p:nvSpPr>
        <p:spPr/>
        <p:txBody>
          <a:bodyPr/>
          <a:lstStyle/>
          <a:p>
            <a:fld id="{5BFCF61C-3B18-4C03-8326-CC3B32D710C9}" type="slidenum">
              <a:rPr lang="en-US" noProof="0" smtClean="0"/>
              <a:pPr/>
              <a:t>17</a:t>
            </a:fld>
            <a:endParaRPr lang="en-US" noProof="0"/>
          </a:p>
        </p:txBody>
      </p:sp>
      <p:sp>
        <p:nvSpPr>
          <p:cNvPr id="16" name="Title 15">
            <a:extLst>
              <a:ext uri="{FF2B5EF4-FFF2-40B4-BE49-F238E27FC236}">
                <a16:creationId xmlns:a16="http://schemas.microsoft.com/office/drawing/2014/main" id="{61A2D0C6-E8DE-6564-756D-83317E9A734E}"/>
              </a:ext>
            </a:extLst>
          </p:cNvPr>
          <p:cNvSpPr>
            <a:spLocks noGrp="1"/>
          </p:cNvSpPr>
          <p:nvPr>
            <p:ph type="title"/>
          </p:nvPr>
        </p:nvSpPr>
        <p:spPr>
          <a:xfrm>
            <a:off x="697009" y="1443277"/>
            <a:ext cx="4199456" cy="1682749"/>
          </a:xfrm>
        </p:spPr>
        <p:txBody>
          <a:bodyPr/>
          <a:lstStyle/>
          <a:p>
            <a:r>
              <a:rPr lang="en-US" dirty="0">
                <a:latin typeface="Bahnschrift" panose="020B0502040204020203" pitchFamily="34" charset="0"/>
              </a:rPr>
              <a:t>Expected Outcomes</a:t>
            </a:r>
            <a:endParaRPr lang="en-IN" dirty="0">
              <a:latin typeface="Bahnschrift" panose="020B0502040204020203" pitchFamily="34" charset="0"/>
            </a:endParaRPr>
          </a:p>
        </p:txBody>
      </p:sp>
      <p:sp>
        <p:nvSpPr>
          <p:cNvPr id="21" name="Rectangle 1">
            <a:extLst>
              <a:ext uri="{FF2B5EF4-FFF2-40B4-BE49-F238E27FC236}">
                <a16:creationId xmlns:a16="http://schemas.microsoft.com/office/drawing/2014/main" id="{004AEAE8-FFEB-21A9-99E5-E685E1665BBD}"/>
              </a:ext>
            </a:extLst>
          </p:cNvPr>
          <p:cNvSpPr>
            <a:spLocks noGrp="1" noChangeArrowheads="1"/>
          </p:cNvSpPr>
          <p:nvPr>
            <p:ph type="body" sz="quarter" idx="16"/>
          </p:nvPr>
        </p:nvSpPr>
        <p:spPr bwMode="auto">
          <a:xfrm>
            <a:off x="4291781" y="438912"/>
            <a:ext cx="7503979"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 machine learning framework that can classify images/videos as </a:t>
            </a:r>
            <a:r>
              <a:rPr kumimoji="0" lang="en-US" altLang="en-US" sz="1800" b="0" u="none" strike="noStrike" cap="none" normalizeH="0" baseline="0" dirty="0">
                <a:ln>
                  <a:noFill/>
                </a:ln>
                <a:solidFill>
                  <a:schemeClr val="tx1"/>
                </a:solidFill>
                <a:effectLst/>
                <a:latin typeface="Arial" panose="020B0604020202020204" pitchFamily="34" charset="0"/>
              </a:rPr>
              <a:t>rea</a:t>
            </a:r>
            <a:r>
              <a:rPr kumimoji="0" lang="en-US" altLang="en-US" sz="1800" b="0" i="1" u="none" strike="noStrike" cap="none" normalizeH="0" baseline="0" dirty="0">
                <a:ln>
                  <a:noFill/>
                </a:ln>
                <a:solidFill>
                  <a:schemeClr val="tx1"/>
                </a:solidFill>
                <a:effectLst/>
                <a:latin typeface="Arial" panose="020B0604020202020204" pitchFamily="34" charset="0"/>
              </a:rPr>
              <a:t>l</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0" u="none" strike="noStrike" cap="none" normalizeH="0" baseline="0" dirty="0">
                <a:ln>
                  <a:noFill/>
                </a:ln>
                <a:solidFill>
                  <a:schemeClr val="tx1"/>
                </a:solidFill>
                <a:effectLst/>
                <a:latin typeface="Arial" panose="020B0604020202020204" pitchFamily="34" charset="0"/>
              </a:rPr>
              <a:t>fake</a:t>
            </a:r>
            <a:r>
              <a:rPr kumimoji="0" lang="en-US" altLang="en-US" sz="1800" b="0" i="0" u="none" strike="noStrike" cap="none" normalizeH="0" baseline="0" dirty="0">
                <a:ln>
                  <a:noFill/>
                </a:ln>
                <a:solidFill>
                  <a:schemeClr val="tx1"/>
                </a:solidFill>
                <a:effectLst/>
                <a:latin typeface="Arial" panose="020B0604020202020204" pitchFamily="34" charset="0"/>
              </a:rPr>
              <a:t> with high accuracy.</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Identification of which </a:t>
            </a:r>
            <a:r>
              <a:rPr kumimoji="0" lang="en-US" altLang="en-US" sz="1800" b="1" i="0" u="none" strike="noStrike" cap="none" normalizeH="0" baseline="0" dirty="0">
                <a:ln>
                  <a:noFill/>
                </a:ln>
                <a:solidFill>
                  <a:schemeClr val="tx1"/>
                </a:solidFill>
                <a:effectLst/>
                <a:latin typeface="Arial" panose="020B0604020202020204" pitchFamily="34" charset="0"/>
              </a:rPr>
              <a:t>statistical, spatial, frequency, or temporal features</a:t>
            </a:r>
            <a:r>
              <a:rPr kumimoji="0" lang="en-US" altLang="en-US" sz="1800" b="0" i="0" u="none" strike="noStrike" cap="none" normalizeH="0" baseline="0" dirty="0">
                <a:ln>
                  <a:noFill/>
                </a:ln>
                <a:solidFill>
                  <a:schemeClr val="tx1"/>
                </a:solidFill>
                <a:effectLst/>
                <a:latin typeface="Arial" panose="020B0604020202020204" pitchFamily="34" charset="0"/>
              </a:rPr>
              <a:t> are most useful in distinguishing real from fake content.</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performance results of different algorithms (SVM, Random Forest, CNN, LSTM, etc.) to find the best-suited model.</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Evaluation of models under real-world conditions such as compression, scaling, noise, and low resolution.</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Insights into how well the detection model trained on one dataset works across other datasets and deepfake generation methods.</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 prototype tool or pipeline capable of predicting/managing deepfake content in near real-time.</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Contribution to the field of </a:t>
            </a:r>
            <a:r>
              <a:rPr kumimoji="0" lang="en-US" altLang="en-US" sz="1800" b="1" i="0" u="none" strike="noStrike" cap="none" normalizeH="0" baseline="0" dirty="0">
                <a:ln>
                  <a:noFill/>
                </a:ln>
                <a:solidFill>
                  <a:schemeClr val="tx1"/>
                </a:solidFill>
                <a:effectLst/>
                <a:latin typeface="Arial" panose="020B0604020202020204" pitchFamily="34" charset="0"/>
              </a:rPr>
              <a:t>digital media forensics</a:t>
            </a:r>
            <a:r>
              <a:rPr kumimoji="0" lang="en-US" altLang="en-US" sz="1800" b="0" i="0" u="none" strike="noStrike" cap="none" normalizeH="0" baseline="0" dirty="0">
                <a:ln>
                  <a:noFill/>
                </a:ln>
                <a:solidFill>
                  <a:schemeClr val="tx1"/>
                </a:solidFill>
                <a:effectLst/>
                <a:latin typeface="Arial" panose="020B0604020202020204" pitchFamily="34" charset="0"/>
              </a:rPr>
              <a:t> by providing a scalable and explainable detection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96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 calcmode="lin" valueType="num">
                                      <p:cBhvr additive="base">
                                        <p:cTn id="12"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1">
                                            <p:txEl>
                                              <p:pRg st="1" end="1"/>
                                            </p:txEl>
                                          </p:spTgt>
                                        </p:tgtEl>
                                        <p:attrNameLst>
                                          <p:attrName>style.visibility</p:attrName>
                                        </p:attrNameLst>
                                      </p:cBhvr>
                                      <p:to>
                                        <p:strVal val="visible"/>
                                      </p:to>
                                    </p:set>
                                    <p:anim calcmode="lin" valueType="num">
                                      <p:cBhvr additive="base">
                                        <p:cTn id="18"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1">
                                            <p:txEl>
                                              <p:pRg st="2" end="2"/>
                                            </p:txEl>
                                          </p:spTgt>
                                        </p:tgtEl>
                                        <p:attrNameLst>
                                          <p:attrName>style.visibility</p:attrName>
                                        </p:attrNameLst>
                                      </p:cBhvr>
                                      <p:to>
                                        <p:strVal val="visible"/>
                                      </p:to>
                                    </p:set>
                                    <p:anim calcmode="lin" valueType="num">
                                      <p:cBhvr additive="base">
                                        <p:cTn id="24"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1">
                                            <p:txEl>
                                              <p:pRg st="3" end="3"/>
                                            </p:txEl>
                                          </p:spTgt>
                                        </p:tgtEl>
                                        <p:attrNameLst>
                                          <p:attrName>style.visibility</p:attrName>
                                        </p:attrNameLst>
                                      </p:cBhvr>
                                      <p:to>
                                        <p:strVal val="visible"/>
                                      </p:to>
                                    </p:set>
                                    <p:anim calcmode="lin" valueType="num">
                                      <p:cBhvr additive="base">
                                        <p:cTn id="30"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1">
                                            <p:txEl>
                                              <p:pRg st="4" end="4"/>
                                            </p:txEl>
                                          </p:spTgt>
                                        </p:tgtEl>
                                        <p:attrNameLst>
                                          <p:attrName>style.visibility</p:attrName>
                                        </p:attrNameLst>
                                      </p:cBhvr>
                                      <p:to>
                                        <p:strVal val="visible"/>
                                      </p:to>
                                    </p:set>
                                    <p:anim calcmode="lin" valueType="num">
                                      <p:cBhvr additive="base">
                                        <p:cTn id="36" dur="500" fill="hold"/>
                                        <p:tgtEl>
                                          <p:spTgt spid="21">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1">
                                            <p:txEl>
                                              <p:pRg st="5" end="5"/>
                                            </p:txEl>
                                          </p:spTgt>
                                        </p:tgtEl>
                                        <p:attrNameLst>
                                          <p:attrName>style.visibility</p:attrName>
                                        </p:attrNameLst>
                                      </p:cBhvr>
                                      <p:to>
                                        <p:strVal val="visible"/>
                                      </p:to>
                                    </p:set>
                                    <p:anim calcmode="lin" valueType="num">
                                      <p:cBhvr additive="base">
                                        <p:cTn id="42" dur="500" fill="hold"/>
                                        <p:tgtEl>
                                          <p:spTgt spid="21">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1">
                                            <p:txEl>
                                              <p:pRg st="6" end="6"/>
                                            </p:txEl>
                                          </p:spTgt>
                                        </p:tgtEl>
                                        <p:attrNameLst>
                                          <p:attrName>style.visibility</p:attrName>
                                        </p:attrNameLst>
                                      </p:cBhvr>
                                      <p:to>
                                        <p:strVal val="visible"/>
                                      </p:to>
                                    </p:set>
                                    <p:anim calcmode="lin" valueType="num">
                                      <p:cBhvr additive="base">
                                        <p:cTn id="48" dur="500" fill="hold"/>
                                        <p:tgtEl>
                                          <p:spTgt spid="21">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980758-2728-D3BD-83B6-66A1566BCBEC}"/>
              </a:ext>
            </a:extLst>
          </p:cNvPr>
          <p:cNvSpPr>
            <a:spLocks noGrp="1"/>
          </p:cNvSpPr>
          <p:nvPr>
            <p:ph type="sldNum" sz="quarter" idx="12"/>
          </p:nvPr>
        </p:nvSpPr>
        <p:spPr/>
        <p:txBody>
          <a:bodyPr/>
          <a:lstStyle/>
          <a:p>
            <a:fld id="{5BFCF61C-3B18-4C03-8326-CC3B32D710C9}" type="slidenum">
              <a:rPr lang="en-US" noProof="0" smtClean="0"/>
              <a:pPr/>
              <a:t>18</a:t>
            </a:fld>
            <a:endParaRPr lang="en-US" noProof="0"/>
          </a:p>
        </p:txBody>
      </p:sp>
      <p:sp>
        <p:nvSpPr>
          <p:cNvPr id="11" name="Title 10">
            <a:extLst>
              <a:ext uri="{FF2B5EF4-FFF2-40B4-BE49-F238E27FC236}">
                <a16:creationId xmlns:a16="http://schemas.microsoft.com/office/drawing/2014/main" id="{0B6D397D-80DC-6F74-D125-B0F02778F59B}"/>
              </a:ext>
            </a:extLst>
          </p:cNvPr>
          <p:cNvSpPr>
            <a:spLocks noGrp="1"/>
          </p:cNvSpPr>
          <p:nvPr>
            <p:ph type="title"/>
          </p:nvPr>
        </p:nvSpPr>
        <p:spPr/>
        <p:txBody>
          <a:bodyPr/>
          <a:lstStyle/>
          <a:p>
            <a:pPr algn="ctr"/>
            <a:r>
              <a:rPr lang="en-US" sz="5400" b="1" dirty="0">
                <a:latin typeface="Bahnschrift" panose="020B0502040204020203" pitchFamily="34" charset="0"/>
              </a:rPr>
              <a:t>conclusion</a:t>
            </a:r>
            <a:endParaRPr lang="en-IN" sz="5400" b="1" dirty="0">
              <a:latin typeface="Bahnschrift" panose="020B0502040204020203" pitchFamily="34" charset="0"/>
            </a:endParaRPr>
          </a:p>
        </p:txBody>
      </p:sp>
      <p:sp>
        <p:nvSpPr>
          <p:cNvPr id="13" name="Text Placeholder 12">
            <a:extLst>
              <a:ext uri="{FF2B5EF4-FFF2-40B4-BE49-F238E27FC236}">
                <a16:creationId xmlns:a16="http://schemas.microsoft.com/office/drawing/2014/main" id="{1F0B3DA0-740D-812B-BA9C-93548B0EF2D3}"/>
              </a:ext>
            </a:extLst>
          </p:cNvPr>
          <p:cNvSpPr>
            <a:spLocks noGrp="1"/>
          </p:cNvSpPr>
          <p:nvPr>
            <p:ph type="body" sz="quarter" idx="14"/>
          </p:nvPr>
        </p:nvSpPr>
        <p:spPr>
          <a:xfrm>
            <a:off x="1058778" y="2747625"/>
            <a:ext cx="10295021" cy="3166478"/>
          </a:xfrm>
        </p:spPr>
        <p:txBody>
          <a:bodyPr/>
          <a:lstStyle/>
          <a:p>
            <a:pPr marL="342900" indent="-342900">
              <a:buFont typeface="Wingdings" panose="05000000000000000000" pitchFamily="2" charset="2"/>
              <a:buChar char="Ø"/>
            </a:pPr>
            <a:r>
              <a:rPr lang="en-GB" sz="2400" dirty="0">
                <a:latin typeface="Calibri" panose="020F0502020204030204" pitchFamily="34" charset="0"/>
                <a:cs typeface="Calibri" panose="020F0502020204030204" pitchFamily="34" charset="0"/>
              </a:rPr>
              <a:t>Deepfake detection is essential to preserve trust in digital media. Our approach, using statistical features with machine learning, effectively uncovers hidden artifacts in manipulated content. While challenges remain with low-quality and evolving techniques, continued research and collaboration are vital to strengthen digital security and combat misinformation</a:t>
            </a:r>
            <a:r>
              <a:rPr lang="en-GB" sz="1800" dirty="0">
                <a:latin typeface="Calibri" panose="020F0502020204030204" pitchFamily="34" charset="0"/>
                <a:cs typeface="Calibri" panose="020F0502020204030204" pitchFamily="34" charset="0"/>
              </a:rPr>
              <a:t>.</a:t>
            </a:r>
            <a:endParaRPr lang="en-IN" sz="1800" dirty="0">
              <a:latin typeface="Calibri" panose="020F0502020204030204" pitchFamily="34" charset="0"/>
              <a:cs typeface="Calibri" panose="020F0502020204030204" pitchFamily="34" charset="0"/>
            </a:endParaRPr>
          </a:p>
          <a:p>
            <a:endParaRPr lang="en-IN" sz="1800" dirty="0"/>
          </a:p>
        </p:txBody>
      </p:sp>
    </p:spTree>
    <p:extLst>
      <p:ext uri="{BB962C8B-B14F-4D97-AF65-F5344CB8AC3E}">
        <p14:creationId xmlns:p14="http://schemas.microsoft.com/office/powerpoint/2010/main" val="37456742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down)">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38D17FB8-638C-AA5F-04B0-8078A0D50A88}"/>
              </a:ext>
            </a:extLst>
          </p:cNvPr>
          <p:cNvSpPr>
            <a:spLocks noGrp="1"/>
          </p:cNvSpPr>
          <p:nvPr>
            <p:ph type="title"/>
          </p:nvPr>
        </p:nvSpPr>
        <p:spPr/>
        <p:txBody>
          <a:bodyPr/>
          <a:lstStyle/>
          <a:p>
            <a:r>
              <a:rPr lang="en-US" sz="6000" b="1" dirty="0">
                <a:latin typeface="Bahnschrift" panose="020B0502040204020203" pitchFamily="34" charset="0"/>
              </a:rPr>
              <a:t>references</a:t>
            </a:r>
            <a:endParaRPr lang="en-IN" sz="6000" b="1" dirty="0">
              <a:latin typeface="Bahnschrift" panose="020B0502040204020203" pitchFamily="34" charset="0"/>
            </a:endParaRPr>
          </a:p>
        </p:txBody>
      </p:sp>
      <p:sp>
        <p:nvSpPr>
          <p:cNvPr id="3" name="Slide Number Placeholder 2">
            <a:extLst>
              <a:ext uri="{FF2B5EF4-FFF2-40B4-BE49-F238E27FC236}">
                <a16:creationId xmlns:a16="http://schemas.microsoft.com/office/drawing/2014/main" id="{D0710E5E-61AD-D59C-3C3F-8B973CFE0E51}"/>
              </a:ext>
            </a:extLst>
          </p:cNvPr>
          <p:cNvSpPr>
            <a:spLocks noGrp="1"/>
          </p:cNvSpPr>
          <p:nvPr>
            <p:ph type="sldNum" sz="quarter" idx="12"/>
          </p:nvPr>
        </p:nvSpPr>
        <p:spPr>
          <a:xfrm>
            <a:off x="10343633" y="320040"/>
            <a:ext cx="1673352" cy="274320"/>
          </a:xfrm>
        </p:spPr>
        <p:txBody>
          <a:bodyPr/>
          <a:lstStyle/>
          <a:p>
            <a:fld id="{5BFCF61C-3B18-4C03-8326-CC3B32D710C9}" type="slidenum">
              <a:rPr lang="en-US" noProof="0" smtClean="0"/>
              <a:pPr/>
              <a:t>19</a:t>
            </a:fld>
            <a:endParaRPr lang="en-US" noProof="0"/>
          </a:p>
        </p:txBody>
      </p:sp>
      <p:sp>
        <p:nvSpPr>
          <p:cNvPr id="20" name="Rectangle 2">
            <a:extLst>
              <a:ext uri="{FF2B5EF4-FFF2-40B4-BE49-F238E27FC236}">
                <a16:creationId xmlns:a16="http://schemas.microsoft.com/office/drawing/2014/main" id="{C146860F-32DF-CF59-F329-8D3B976C7524}"/>
              </a:ext>
            </a:extLst>
          </p:cNvPr>
          <p:cNvSpPr>
            <a:spLocks noChangeArrowheads="1"/>
          </p:cNvSpPr>
          <p:nvPr/>
        </p:nvSpPr>
        <p:spPr bwMode="auto">
          <a:xfrm>
            <a:off x="604684" y="2705714"/>
            <a:ext cx="109826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Saikia, P., Dholaria, D., Yadav, P., Patel, V., &amp; Roy, M. (2022). </a:t>
            </a:r>
            <a:r>
              <a:rPr kumimoji="0" lang="en-US" altLang="en-US" sz="18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A Hybrid CNN-LSTM Model for Video Deepfake Detection by Leveraging Optical Flow Features</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arXiv preprint arXiv:2208.00788. Retrieved from</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
              </a:rPr>
              <a:t> https://arxiv.org/abs/2208.00788</a:t>
            </a: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en-US" dirty="0">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en-US" dirty="0">
                <a:latin typeface="Calibri" panose="020F0502020204030204" pitchFamily="34" charset="0"/>
                <a:cs typeface="Calibri" panose="020F0502020204030204" pitchFamily="34" charset="0"/>
              </a:rPr>
              <a:t>Nagarhalli, T. P., Save, A., Patil, S., &amp; Aswalekar, U. (2024). </a:t>
            </a:r>
            <a:r>
              <a:rPr lang="en-US" i="1" dirty="0">
                <a:latin typeface="Calibri" panose="020F0502020204030204" pitchFamily="34" charset="0"/>
                <a:cs typeface="Calibri" panose="020F0502020204030204" pitchFamily="34" charset="0"/>
              </a:rPr>
              <a:t>A Comprehensive Review of Deepfake and its Detection Techniques</a:t>
            </a:r>
            <a:r>
              <a:rPr lang="en-US" dirty="0">
                <a:latin typeface="Calibri" panose="020F0502020204030204" pitchFamily="34" charset="0"/>
                <a:cs typeface="Calibri" panose="020F0502020204030204" pitchFamily="34" charset="0"/>
              </a:rPr>
              <a:t>. ResearchGate. Retrieved from </a:t>
            </a:r>
            <a:r>
              <a:rPr lang="en-US" dirty="0">
                <a:latin typeface="Calibri" panose="020F0502020204030204" pitchFamily="34" charset="0"/>
                <a:cs typeface="Calibri" panose="020F0502020204030204" pitchFamily="34" charset="0"/>
                <a:hlinkClick r:id="rId3"/>
              </a:rPr>
              <a:t>https://www.researchgate.net/publication/384122887_A_Comprehensive_Review_of_Deepfake_and_its_Detection_Techniques</a:t>
            </a:r>
            <a:endParaRPr lang="en-US" dirty="0">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en-IN" dirty="0">
                <a:latin typeface="Calibri" panose="020F0502020204030204" pitchFamily="34" charset="0"/>
                <a:cs typeface="Calibri" panose="020F0502020204030204" pitchFamily="34" charset="0"/>
              </a:rPr>
              <a:t>Rossler, A., Cozzolino, D., Verdoliva, L., Riess, C., Thies, J., &amp; Nießner, M. (2019). </a:t>
            </a:r>
            <a:r>
              <a:rPr lang="en-IN" i="1" dirty="0">
                <a:latin typeface="Calibri" panose="020F0502020204030204" pitchFamily="34" charset="0"/>
                <a:cs typeface="Calibri" panose="020F0502020204030204" pitchFamily="34" charset="0"/>
              </a:rPr>
              <a:t>FaceForensics++: Learning to detect manipulated facial images</a:t>
            </a:r>
            <a:r>
              <a:rPr lang="en-IN" dirty="0">
                <a:latin typeface="Calibri" panose="020F0502020204030204" pitchFamily="34" charset="0"/>
                <a:cs typeface="Calibri" panose="020F0502020204030204" pitchFamily="34" charset="0"/>
              </a:rPr>
              <a:t>. In Proceedings of the IEEE/CVF International Conference on Computer Vision (ICCV), 1–11.</a:t>
            </a:r>
          </a:p>
          <a:p>
            <a:pPr marL="285750" lvl="0" indent="-285750" eaLnBrk="0" fontAlgn="base" hangingPunct="0">
              <a:spcBef>
                <a:spcPct val="0"/>
              </a:spcBef>
              <a:spcAft>
                <a:spcPct val="0"/>
              </a:spcAft>
              <a:buFont typeface="Wingdings" panose="05000000000000000000" pitchFamily="2" charset="2"/>
              <a:buChar char="ü"/>
            </a:pPr>
            <a:endParaRPr kumimoji="0" lang="en-IN"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en-US" dirty="0">
                <a:latin typeface="Calibri" panose="020F0502020204030204" pitchFamily="34" charset="0"/>
                <a:cs typeface="Calibri" panose="020F0502020204030204" pitchFamily="34" charset="0"/>
              </a:rPr>
              <a:t>The Hindu / Indian Express articles on deepfakes in politics.</a:t>
            </a: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776325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circle(in)">
                                      <p:cBhvr>
                                        <p:cTn id="12"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64AE1-C6FD-2EFB-79A7-7C9A6C853EF8}"/>
              </a:ext>
            </a:extLst>
          </p:cNvPr>
          <p:cNvSpPr>
            <a:spLocks noGrp="1"/>
          </p:cNvSpPr>
          <p:nvPr>
            <p:ph type="title"/>
          </p:nvPr>
        </p:nvSpPr>
        <p:spPr/>
        <p:txBody>
          <a:bodyPr/>
          <a:lstStyle/>
          <a:p>
            <a:r>
              <a:rPr lang="en-US" sz="8800" b="1" dirty="0"/>
              <a:t>Thank</a:t>
            </a:r>
            <a:br>
              <a:rPr lang="en-US" sz="8800" b="1" dirty="0"/>
            </a:br>
            <a:r>
              <a:rPr lang="en-US" sz="8800" b="1" dirty="0"/>
              <a:t>You</a:t>
            </a:r>
          </a:p>
        </p:txBody>
      </p:sp>
      <p:sp>
        <p:nvSpPr>
          <p:cNvPr id="3" name="Text Placeholder 2">
            <a:extLst>
              <a:ext uri="{FF2B5EF4-FFF2-40B4-BE49-F238E27FC236}">
                <a16:creationId xmlns:a16="http://schemas.microsoft.com/office/drawing/2014/main" id="{33FB47C1-128E-60DF-5281-30C3EFCAB395}"/>
              </a:ext>
            </a:extLst>
          </p:cNvPr>
          <p:cNvSpPr>
            <a:spLocks noGrp="1"/>
          </p:cNvSpPr>
          <p:nvPr>
            <p:ph type="body" sz="quarter" idx="10"/>
          </p:nvPr>
        </p:nvSpPr>
        <p:spPr>
          <a:xfrm>
            <a:off x="4437495" y="3728721"/>
            <a:ext cx="4754880" cy="2057400"/>
          </a:xfrm>
        </p:spPr>
        <p:txBody>
          <a:bodyPr/>
          <a:lstStyle/>
          <a:p>
            <a:r>
              <a:rPr lang="en-US" dirty="0"/>
              <a:t>Presented by:-</a:t>
            </a:r>
          </a:p>
          <a:p>
            <a:r>
              <a:rPr lang="en-US" dirty="0"/>
              <a:t>Disha .R. Sojrani</a:t>
            </a:r>
          </a:p>
        </p:txBody>
      </p:sp>
    </p:spTree>
    <p:extLst>
      <p:ext uri="{BB962C8B-B14F-4D97-AF65-F5344CB8AC3E}">
        <p14:creationId xmlns:p14="http://schemas.microsoft.com/office/powerpoint/2010/main" val="2262363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F98F7-6576-47F1-AD63-56E26C339747}">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3.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367</TotalTime>
  <Words>2148</Words>
  <Application>Microsoft Office PowerPoint</Application>
  <PresentationFormat>Widescreen</PresentationFormat>
  <Paragraphs>169</Paragraphs>
  <Slides>20</Slides>
  <Notes>6</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Statistical detection of deepfake videos and images</vt:lpstr>
      <vt:lpstr>content</vt:lpstr>
      <vt:lpstr>introduction </vt:lpstr>
      <vt:lpstr>Primary goals</vt:lpstr>
      <vt:lpstr>PowerPoint Presentation</vt:lpstr>
      <vt:lpstr>Summary of Research Paper</vt:lpstr>
      <vt:lpstr>Summary of Research Paper</vt:lpstr>
      <vt:lpstr>Summary of Research Paper</vt:lpstr>
      <vt:lpstr>Why I choose this project??</vt:lpstr>
      <vt:lpstr>Cheat Sheet</vt:lpstr>
      <vt:lpstr>PowerPoint Presentation</vt:lpstr>
      <vt:lpstr>methodology</vt:lpstr>
      <vt:lpstr>PowerPoint Presentation</vt:lpstr>
      <vt:lpstr>dataset </vt:lpstr>
      <vt:lpstr>PowerPoint Presentation</vt:lpstr>
      <vt:lpstr>Machine Learning &amp; Deep Learning Models</vt:lpstr>
      <vt:lpstr>Expected Outcomes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DISHA SOJRANI</dc:creator>
  <cp:lastModifiedBy>DISHA SOJRANI</cp:lastModifiedBy>
  <cp:revision>6</cp:revision>
  <dcterms:created xsi:type="dcterms:W3CDTF">2025-08-31T14:22:39Z</dcterms:created>
  <dcterms:modified xsi:type="dcterms:W3CDTF">2025-10-14T14:22:44Z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